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Anuphan" pitchFamily="34" charset="0"/>
      <p:regular r:id="rId34"/>
      <p:bold r:id="rId35"/>
    </p:embeddedFont>
    <p:embeddedFont>
      <p:font typeface="Prompt" panose="00000500000000000000" pitchFamily="34" charset="0"/>
      <p:regular r:id="rId36"/>
      <p:bold r:id="rId3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สวัสดีครับ วันนี้จะเล่าโครงงาน Manufacturing Defect Prediction Pipeline ซึ่งมีสองส่วนใหญ่ ๆ คือ (1) เราสร้างระบบ Data Pipelineที่รับข้อมูลดิบจากโรงงานมาทำความสะอาดและจัดระเบียบให้พร้อมใช้แบบอัตโนมัติ และ (2) เราใช้ข้อมูลที่สะอาดแล้วไปตอบคำถามทางธุรกิจว่าอะไรสัมพันธ์กับการเกิด High defect และควรทำอะไรต่อ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การนำเสนอแบ่งเป็น 4 ช่วง ช่วงแรกเล่าว่าโรงงานมีข้อมูลอะไรและติดปัญหาอะไร ช่วงที่สองคือระบบที่เราสร้างขึ้นเพื่อทำความสะอาดข้อมูลให้เชื่อถือได้ ช่วงที่สามคือสิ่งที่ข้อมูลบอกเราในเชิงธุรกิจ และช่วงสุดท้ายคือข้อเสนอว่าควรทำอะไรต่อ พร้อมข้อจำกัดที่ต้องระวัง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สถานการณ์ตั้งต้น: โรงงานมีข้อมูลอยู่แล้ว แต่ทุกอย่างอยู่ในไฟล์เดียว เหมือนเอกสารทุกแผนกยัดรวมในแฟ้มเดียว ปัญหาคือ ชื่อคอลัมน์และหน่วยไม่มาตรฐาน ไม่มีใครตรวจว่าข้อมูลถูกหรือซ้ำ และไม่มีรหัสที่ใช้เชื่อมข้อมูลระหว่างแผนก จึงเอาไปทำฐานข้อมูลหรือวิเคราะห์ต่อได้ยาก ทางแก้ของเราคือสร้าง “ Data Pipeline” ที่ทำทุกขั้นตอนนี้ให้อัตโนมัติ ตั้งแต่รับไฟล์ จนถึงออกมาเป็น Dashboard และ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ข้อมูลที่ใช้คือ Manufacturing Defect Dataset มี 3,240 แถว 17 คอลัมน์ แต่ละแถวคือการผลิตหนึ่งรอบหรือ batch มีตัวเลข 16 ตัวจาก 8 กลุ่มธุรกิจ เช่น จำนวนผลิต ต้นทุน คุณภาพ supplier ชั่วโมงซ่อมบำรุง และอีกหนึ่งคอลัมน์คือคำตอบที่เราอยากรู้ ว่า batch นั้นเป็น High defect หรือ Low defect สังเกตว่า 84% ของ batch เป็น High defect แปลว่าข้อมูลไม่สมดุล ต้องระวังตอนวิเคราะห์ เพราะถ้าเดาว่า “เสียทุก batch” ก็ถูกไปแล้ว 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ระบบที่เราสร้างใช้สถาปัตยกรรมที่เรียกว่า Medallion มี 3 ชั้น ชั้น Bronze เก็บ raw data ตามที่รับมาโดยไม่แก้ไข เพื่อให้ย้อนกลับมาตรวจได้ ชั้น Silver ทำความสะอาด ตรวจ Data Quality และแยกแถวที่ไม่ผ่านไป Quarantine ชั้น Gold จัดข้อมูลให้พร้อมใช้ทางธุรกิจ แยกตาม domain ให้แต่ละทีมใช้ได้ทันที จากนั้นข้อมูล Gold ถูกส่งเข้าฐานข้อมูล PostgreSQL ใช้ทำ Dashboard และโมเดลทำนาย ทุกขั้นทำงานต่อกันเองอัตโนมัติ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ชั้น Bronze มีหลักเดียวคือ เก็บให้เหมือนต้นฉบับที่สุด เราอ่านทุกคอลัมน์เป็นข้อความก่อน ยังไม่แปลงเป็นตัวเลข เพราะถ้าแปลงผิดตั้งแต่ต้น จะย้อนกลับไปดูของจริงไม่ได้ ทุกแถวมี metadata บอกว่ามาจากไฟล์ไหน เวลาไหน และมีการนับว่าจำนวนแถวในไฟล์เท่ากับในตาราง ผลคือ 3,240 เท่ากัน ไม่มีแถวเสียหาย ไม่มีค่าว่าง นอกจากนี้ยังใช้ Auto Loader ที่จำได้ว่าไฟล์ไหนอ่านไปแล้ว จึงอ่านเฉพาะไฟล์ใหม่ เวลามี batch ใหม่เข้ามา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ชั้น Silver คือหัวใจของการทำความสะอาด มี 7 ขั้น ขั้นแรกตั้งชื่อคอลัมน์ให้เป็นมาตรฐาน ขั้นสองจับค่าที่ดูเหมือนมีแต่จริง ๆ คือว่าง เช่น N/A ขั้นสามบังคับให้ตัวเลขเป็นตัวเลขจริง ขั้นสี่สร้าง record_id (hash)ของแต่ละแถวเพื่อจับแถวซ้ำ ขั้นห้าตรวจกฎคุณภาพกว่า 30 ข้อ ขั้นหกส่งแถวที่ผิดไป Quarantineพร้อมเหตุผล และขั้นเจ็ดติดข้อมูล lineageว่ามาจากไหน ก่อนเขียนตารางจริงต้องผ่าน Quality Gateอีกชั้น ข้อมูลชุดนี้สะอาดอยู่แล้ว ไม่มีแถวไหนโดน Quarantine เราจึงไปพิสูจน์กลไกด้วยข้อมูลสกปรกที่จงใจทำขึ้น ซึ่งจะเล่าในหน้าการทดสอบ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เรื่อง Missing Value หรือค่าที่หายไป เราตรวจตามหลักที่เรียนมาแล้ว ผลคือข้อมูลชุดนี้ไม่มีค่าหายเลย ในชั้น Bronze ไม่พบค่าว่างทุกคอลัมน์ ในชั้น Silver เราตรวจ placeholder 10 แบบ เช่น N/A หรือขีด ก็ไม่พบ ดังนั้นเราไม่ต้องลบแถวหรือเติมค่าใด ๆ ใช้ข้อมูลครบทั้ง 3,240 แถว ข้อดีคือไม่มีความเอียงจากการลบ และไม่มีปัญหาความแปรปรวนลดลงจากการเติมค่าเฉลี่ย อย่างไรก็ตาม ระบบเตรียมรับไว้แล้วถ้า batch ใหม่มีค่าหาย ถ้าหายในคอลัมน์บังคับ แถวจะถูก Quarantine ถ้าหายในคอลัมน์อื่น เก็บเป็นค่าว่างไว้ไม่เดาเอง เราทดสอบกลไกนี้ด้วยข้อมูลสกปรกแล้วผ่าน และตามหลักการ ก่อนเลือกวิธีแก้ต้องดูสาเหตุก่อน ถ้าหายแบบสุ่ม ลบหรือเติมค่ากลางได้ แต่ถ้าหายเพราะมีเหตุแฝง การลบจะทำให้ผลเอียง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ชั้น Gold แยกตารางเดียวจาก Silver ออกเป็น 6 ตารางตาม business domain ตารางแม่คือ production มี Primary Key คือ production_id เป็น surrogate key ชนิด BIGINT ที่สร้างจาก row_number เรียงตาม record_id และมี record_id ซึ่งเป็น hash SHA-256 ของค่าธุรกิจทั้งหมดเป็น Unique Key อีก 5 ตารางเป็นตารางลูก แต่ละตารางมี Primary Key ของตัวเอง คือ supply_chain_id, quality_id, maintenance_id, inventory_id และ operations_id และมี Foreign Key คือ production_id ที่อ้างไปยัง production.production_id ใน PostgreSQL กำหนดเป็น NOT NULL UNIQUE REFERENCES และ ON DELETE CASCADE การที่ FK เป็น UNIQUE ทำให้ความสัมพันธ์เป็น 1 ต่อ 1 เพราะข้อมูลหนึ่งแถวคือหนึ่ง batch ถ้าในอนาคตมีหลายรายการต่อ batch ก็เอา UNIQUE ออกแล้วเป็น 1 ต่อหลายได้ ตาราง quality เป็นที่เก็บ label is_high_defect ฐานข้อมูลบังคับความถูกต้องจริง เราทดสอบใส่ FK ที่ไม่มีอยู่จริงและ PK ซ้ำ ระบบปฏิเสธทั้งหมด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ถ้าอาจารย์ถามว่า Data Model เป็นแบบไหน คำตอบคือ ชั้น Gold มีสามระดับ ระดับแรกคือ RDBMS core เป็น relational model แบบ normalized แยกตาม business domain มีตารางแม่คือ production และตารางลูก 5 ตาราง เชื่อมกันด้วย production_id แบบ 1 ต่อ 1 ระดับที่สองคือ batch_360 เป็นตาราง denormalized ที่ join ทั้ง 6 ตารางกลับมาเป็นแถวเดียวต่อ batch ใช้กับ ML และ ad-hoc query ระดับที่สามคือ marts และ views ที่สรุปไว้ล่วงหน้าสำหรับ Dashboard เหตุผลที่เลือกแบบนี้ หนึ่ง โจทย์ต้องการ RDBMS จริงที่มี PK FK สอง ข้อมูลหนึ่งแถวคือหนึ่ง batch และไม่มี key อื่น ความสัมพันธ์จึงเป็น 1 ต่อ 1 สาม แยกตาม domain ให้แต่ละทีมดูแลตารางของตัวเอง และขยายเป็น 1 ต่อหลายได้ในอนาคต สี่ Dashboard ต้อง join บ่อย จึงทำตารางสรุปไว้ล่วงหน้า ส่วน key production_id เป็น surrogate key ที่สร้างจาก row_number เรียงตาม record_id ซึ่งเป็น hash จึงได้ค่าเดิมทุกครั้งที่รันกับข้อมูลชุดเดิม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ทุกขั้นที่เล่ามาถูกร้อยเป็นงานอัตโนมัติชื่อ Manufacturing_Defect_Pipeline มี 9 task เริ่มทำงานเองทันทีที่มีไฟล์ใหม่วางเข้ามา ไม่ต้องมีคนกด ระบบจะทดสอบกลไกตรวจคุณภาพก่อนเสมอ ถ้าไม่มีข้อมูลใหม่ก็หยุด ไม่เปลืองทรัพยากร ถ้ามีก็ทำความสะอาด โหลดเข้าฐานข้อมูล ส่งอีเมลเตือนเมื่อเจอปัญหา แล้วรีเฟรช Dashboard และเทรนโมเดลใหม่ ตอนทดลองจริง เราวางไฟล์ใหม่ 308 แถว ที่แอบใส่แถวซ้ำ 5 แถวและค่าผิด 3 แถว ระบบรันครบใน 22 นาทีครึ่ง รับแถวดี 300 แถว Quarantineแถวผิด 8 แถวถูกต้องทั้งหมด และส่งอีเมลแจ้งเตือนเอง ตัว Job เองก็สร้างด้วยโค้ด จึงสร้างซ้ำได้เหมือนเดิมทุกครั้ง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ก่อนจะไปดูผลทางธุรกิจ ต้องพิสูจน์ก่อนว่าข้อมูลเชื่อถือได้ เราทดสอบ 5 ด่าน หนึ่ง จำนวนแถวต้องเท่ากันทุกชั้น 3,240 แถวทุกชั้น สอง เอาข้อมูลจริง 200 แถวมาจงใจทำให้สกปรก 15 แบบ เช่น ใส่คะแนน 150 ทั้งที่เต็ม 100 หรือใส่ตัวอักษรในช่องตัวเลข ระบบจับได้ครบ 19 จาก 19 ข้อ สาม ลองใส่ข้อมูลผิดเข้าฐานข้อมูลตรง ๆ ฐานข้อมูลปฏิเสธทั้งหมด 14 จาก 14 สี่ ทดลองอัตโนมัติด้วยไฟล์ใหม่ได้ผลตามคาดทุกจุด และห้า ล้างกลับเป็นชุดตั้งต้นได้ สรุปคือตัวเลขที่จะเห็นต่อจากนี้มาจากข้อมูลที่ผ่านการตรวจแล้ว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หน้านี้เป็นแผนที่โค้ด ใช้ตอนอาจารย์สุ่มถามบรรทัด ให้ระบุก่อนว่าบรรทัดนั้นอยู่ notebook ไหนและอยู่ขั้นไหนของ pipeline Bronze อ่านทุกคอลัมน์เป็น string และเก็บแถวเสียไว้ใน _corrupt_record Auto Loader ใช้ readStream แบบ cloudFiles จำไฟล์ที่อ่านแล้วใน checkpoint และส่งจำนวนแถวใหม่ให้ Job ผ่าน taskValues Silver แปลง placeholder เป็น null ใช้ try_cast สร้าง record_id ด้วย sha2 และตัดแถวซ้ำด้วย row_number Gold สร้าง production_id ตรวจ orphan ด้วย left_anti join ใส่ PK FK หา threshold ด้วย scan_threshold และโหลดเข้า PostgreSQL ด้วย COPY DQ test สร้างข้อมูลสกปรกแล้วเรียก notebook จริงด้วย dbutils.notebook.run Setup_Workflow สร้าง Job ด้วย Jobs API และ ML_Predictive เทรนโมเดลแล้ว register ใน MLflow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เข้าสู่ส่วนที่สาม คือสิ่งที่ข้อมูลบอกเรา เราตั้งคำถามทางธุรกิจไว้ 9 ข้อ และจะตอบทีละข้อตามลำดับ Q1 ถึง Q9 ทุกหน้าคำตอบจะมีคำถามเขียนไว้ด้านบน และหัวข้อตัวใหญ่คือคำตอบ Q1 คือภาพรวม Q2 ถึง Q7 คือการหาว่าปัจจัยไหนมีผลหรือไม่มีผล Q8 คือการหาช่วงการผลิตที่ปลอดภัย และ Q9 เป็นคำถามที่ไม่มีใครตั้งไว้ตั้งแต่แรก แต่ข้อมูลชี้ให้เห็นเอง ซึ่งเป็นข้อค้นพบที่สำคัญที่สุด ท้ายส่วนนี้มีหน้าสรุปคำตอบทั้ง 9 ข้อ แต่ก่อนเริ่ม ขอปูหลักคิดหนึ่งข้อในหน้าถัดไป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ก่อนดูว่าอะไรสัมพันธ์กับของเสีย มีหลักคิดสำคัญหนึ่งข้อ เราแบ่งตัวแปรเป็นสองบทบาท Controllable คือสิ่งที่ทีมปรับได้ก่อนหรือระหว่างผลิต เช่น ชั่วโมงซ่อมบำรุง ขนาด batch ส่วน Outcome คือ defect rate และ quality score ซึ่งรู้ได้หลังผลิตเสร็จแล้ว ถ้าเอา Outcome มาอธิบายว่าทำไม batch เป็น high-defect คำตอบจะวนอยู่ในตัวเอง และไม่ได้บอกว่าควรแก้อะไร เราจึงใช้ Controllable ทำ risk score ก่อนปล่อย batch และใช้ Outcome เป็น QC alert หลังผลิต ส่วนการหา threshold เราให้ระบบ scan ทุกค่า แล้วเลือกจุดที่สองฝั่งต่างกันมากที่สุด โดยแต่ละฝั่งต้องมีอย่างน้อย 5% ของ batch และนับเป็น key factor เมื่อต่างกันอย่างน้อย 15 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เริ่มจากภาพรวม จาก 3,240 batch มี 2,723 batch หรือ 84% ที่ถูกติด labelว่า High defect และ batch กลุ่มนี้ใช้ต้นทุนการผลิตไป 84.38% ของต้นทุนรวม 40.25 ล้านดอลลาร์ แปลว่าปัญหาไม่ได้อยู่ที่สายการผลิตใดสายหนึ่ง แต่กระจายทั่วทั้งโรงงาน ข้อเสนอแรกจึงง่ายมาก คือให้ตั้งเปอร์เซ็นต์ batch ที่มี High defectเป็น KPI หลัก ตัวเลขด้านขวาเป็นค่าเฉลี่ยอื่น ๆ ที่ใช้อ้างอิง เช่น ต้นทุนเฉลี่ยต่อหน่วย 22.65 ดอลลาร์ ชั่วโมงซ่อมบำรุงเฉลี่ยราว 11.5 ชั่วโมงต่อสัปดาห์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กราฟนี้คือภาพสรุปที่สำคัญที่สุดของส่วน Insight แต่ละแท่งบอกว่า เมื่อแบ่ง batch ด้วย thresholdที่ดีที่สุดของตัวแปรนั้น ฝั่งเสี่ยงกับฝั่งปลอดภัยมีเปอร์เซ็นต์ของเสียต่างกันกี่ pp ยิ่งยาวยิ่งแยกได้ชัด แท่งสีน้ำเงินคือสิ่งที่ทีมปรับได้ แท่งสีส้มคือตัววัดผล เส้นประคือเกณฑ์ 15 pp จะเห็นว่า Controllable factorที่ผ่านเกณฑ์มีแค่ 2 ตัว คือชั่วโมงซ่อมบำรุงเกิน 10 ชั่วโมง ต่างถึง 25.7 pp และขนาด batch เกิน 800 หน่วย ต่าง 16.2 pp ส่วนอีก 6 ปัจจัย เช่น supplier การส่งของช้า ผลิตภาพแรงงาน ต่างกันไม่ถึง 9 pp แปลว่าแทบไม่ช่วยอธิบายของเสียในข้อมูลชุดนี้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คำถามที่ 3 กราฟนี้แสดงเปอร์เซ็นต์ batch ที่มี High defect แยกตามชั่วโมงซ่อมบำรุงต่อสัปดาห์ทีละชั่วโมง จะเห็นชัดว่าตั้งแต่ 0 ถึง 10 ชั่วโมง อยู่ราว 61 ถึง 77% แต่พอถึง 11 ชั่วโมง กระโดดขึ้นเป็น 91% และอยู่ระดับ 94 ถึง 99% ไปตลอด รวมแล้วฝั่งเกิน 10 ชั่วโมงมี High defect 95.6% เทียบกับ 69.9% สิ่งที่ต้องระวังคือ ไม่ได้แปลว่าการซ่อมทำให้เกิดของเสีย แต่น่าจะแปลว่าเครื่องที่ต้องซ่อมบ่อยคือเครื่องที่ไม่เสถียร ชั่วโมงซ่อมเป็นอาการ ดังนั้นการสั่งลดชั่วโมงซ่อมไม่ช่วย สิ่งที่ควรทำคือจัดลำดับเครื่องกลุ่มนี้ให้ทำ predictive maintenance หรือ overhaul ก่อน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คำถามที่ 4 และ 5 เป็นเรื่องตัววัดผล ฝั่งซ้ายคืออัตราของเสียต่อพันหน่วย จะเห็นว่าต่ำกว่า 3 อยู่ราว 72 ถึง 76% แต่เกิน 3 ขึ้นไปถึง 96% ฝั่งขวาคือคะแนนคุณภาพ ถ้าต่ำกว่า 75 เป็น High defect 95.8% ถ้า 75 ขึ้นไปอยู่ราว 77% ทั้งสองตัวนี้วัดได้หลังผลิตเสร็จ จึงไม่ใช่สิ่งที่เราปรับได้ แต่ใช้เป็น QC alertได้ดีมาก ข้อเสนอคือตั้ง SPC alert ที่อัตราของเสีย 3.0 และตั้ง QC gate ที่คะแนนคุณภาพ 75 ข้อสังเกตคือ ถึง batch จะมีอัตราของเสียต่ำสุด 0.5 ถึง 1 ก็ยังถูกติด label High defectถึง 74.6% ซึ่งแปลก และนำไปสู่คำถามข้อ 9 ที่จะเล่าต่อไป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คำถามที่ 6 คือขนาด batch ตั้งแต่ 100 ถึง 800 หน่วย ความเสี่ยงแทบไม่เปลี่ยน อยู่ราว 80% แต่พอเกิน 800 หน่วย ขึ้นเป็น 96.7% ทีนี้ถ้าดูแถบต้นทุนต่อหน่วยด้านล่าง batch ใหญ่คือ batch ที่ต้นทุนต่อหน่วยถูกที่สุด 13.82 ดอลลาร์ เทียบกับ 61.70 ดอลลาร์ของ batch เล็ก นี่คือ trade-off ระหว่างต้นทุนกับคุณภาพ การสั่งลดขนาด batch อาจทำให้ต้นทุนพุ่ง ข้อเสนอจึงเป็นการคงขนาดไว้ แต่เพิ่มการสุ่มตรวจ QC สำหรับ batch ที่เกิน 800 หน่วย อีกเรื่องที่น่าสนใจคือ thresholdที่ได้จากการสแกนคือ 800 ไม่ใช่ 700 อย่างที่ใช้ในฉบับก่อน เพราะช่วง 701 ถึง 800 ยังเสี่ยงเท่าค่าเฉลี่ย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คำถามที่ 7 เป็นการบอกว่าอะไร “ไม่ใช่” คำตอบ ซึ่งมีค่าพอ ๆ กัน 6 ปัจจัยในตารางนี้ เช่น คุณภาพ supplier การส่งวัตถุดิบช้า ผลิตภาพแรงงาน ถึงจะแบ่งด้วยThresholdที่ดีที่สุดแล้ว กลุ่มที่เข้า threshold กับกลุ่มที่ไม่เข้า มี % High defect ต่างกันไม่เกิน 8.4 pp เทียบกับชั่วโมงซ่อมบำรุงที่ต่างกันถึง 25.7 pp แปลว่าถ้าลงทุนปรับปรุงปัจจัยเหล่านี้เพื่อหวังลดของเสีย ผลอาจไม่คุ้ม แต่ต้องระวังว่าไม่ได้แปลว่าปัจจัยเหล่านี้ไม่สำคัญในด้านอื่น เช่น การส่งของช้าอาจกระทบลูกค้า เพียงแต่ไม่ช่วยอธิบายของเสียในข้อมูลชุดนี้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ทีนี้ลองเอา Controllable factorสองตัวมาไขว้กัน แถวคือชั่วโมงซ่อมบำรุง คอลัมน์คือขนาด batch ช่องสีฟ้ามีอยู่มุมเดียว คือเครื่องที่ซ่อมไม่เกิน 10 ชั่วโมง และ batch ไม่เกิน 800 หน่วย ตรงนั้น High defectราว 60% ซึ่งต่ำกว่าค่าเฉลี่ยโรงงานมาก แต่ทันทีที่เกินข้อใดข้อหนึ่ง ทุกช่องกลายเป็น 93 ถึง 97% ข้อสรุปสำคัญคือ มี risk flagหนึ่งข้อก็แย่พอ ๆ กับมีสองข้อ ดังนั้นการคุมแค่ตัวใดตัวหนึ่งไม่พอ ต้องคุมทั้งสองตัวพร้อมกัน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หน้านี้ตอบว่ามี Operating window ที่ปลอดภัยไหม เราตั้งด่านสองด่าน ด่านแรกก่อนผลิต นับ risk flagจาก Controllable factorสองตัว คือซ่อมเกิน 10 ชั่วโมง กับ batch เกิน 800 หน่วย ด่านที่สองหลังผลิต ดูว่า QC เตือนไหม คืออัตราของเสียเกิน 3 หรือคะแนนคุณภาพต่ำกว่า 75 ผลคือ batch ที่ไม่มี flagเลยและผ่าน QC มี 417 batch และเป็น High defectเพียง 3.12% นี่คือ Operating window ที่ปลอดภัยจริง ส่วนช่องอื่นทุกช่องอยู่ที่ 95 ถึง 97% สิ่งที่น่าสนใจคือ batch ที่ไม่มี flagเลยแต่ QC เตือน ยังเสี่ยง 96.5% แปลว่าปัญหาส่วนนี้มาจากสิ่งที่ไม่ได้อยู่ในข้อมูลชุดนี้ ต้องเก็บข้อมูลเพิ่มเพื่อหาสาเหตุ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นี่คือข้อค้นพบที่สำคัญที่สุด และไม่มีใครตั้งคำถามนี้ไว้ตั้งแต่แรก เบาะแสคือ batch ที่อัตราของเสียต่ำที่สุด ก็ยังถูกติด labelว่า High defectถึง 75% ซึ่งไม่สมเหตุสมผล ถ้า labelมาจากการนับของเสียจริง เราจึงตั้งสมมติฐานว่า labelอาจถูกสร้างจากกฎง่าย ๆ คือถ้าเกินเกณฑ์ข้อใดข้อหนึ่งใน 4 ข้อ ก็ติด labelว่าเสียสูง ผลคือกฎนี้ตรงกับ labelถึง 96.11% มีแค่ 13 batch ที่ labelเป็นเสียสูงโดยไม่เกินเกณฑ์ใดเลย ความหมายทางธุรกิจคือ labelนี้น่าจะเป็นข้อมูลที่สร้างจากกฎ ไม่ได้มาจากการนับของเสียจริงในโรงงาน ก่อนจะนำผลวิเคราะห์ทั้งหมดไปใช้ตัดสินใจ ต้องกลับไปถามเจ้าของข้อมูลก่อนว่า labelนี้นิยามอย่างไร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"เราสร้างโมเดล 2 แบบใน notebook ML_Predictive คือ Logistic Regression ที่ใช้เส้นตรงแบ่งกลุ่ม กับ Gradient Boosting ที่ใช้ต้นไม้ตัดสินใจหลายต้น แล้วเทียบกับกฎ 4 ข้อ ผลคือแม้แต่โมเดลที่ซับซ้อนที่สุดก็ยังไม่ชนะกฎ ซึ่งยืนยันว่า label น่าจะสร้างมาจากกฎนี้"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รวบทุกอย่างเป็นแผนปฏิบัติ ด่านแรกก่อนผลิต ใช้ Controllable factorสองตัวทำคะแนนความเสี่ยง เครื่องที่ซ่อมเกิน 10 ชั่วโมงให้ทำ predictive maintenance หรือ overhaul ก่อน batch ที่เกิน 800 หน่วยไม่ต้องลดขนาด เพราะต้นทุนต่อหน่วยถูกที่สุด แต่เพิ่มการสุ่มตรวจ ด่านที่สองหลังผลิต ตั้ง QC alertที่อัตราของเสีย 3 และคะแนนคุณภาพ 75 ถ้าผ่านทั้งสองด่าน ความเสี่ยงเหลือแค่ 3% ระดับบริหาร มีสามเรื่อง ตั้ง KPI หลัก ทบทวนงบกับปัจจัยที่ไม่ช่วย และสำคัญที่สุดคือยืนยันนิยามของ labelของเสียกับเจ้าของข้อมูล ทั้งหมดนี้ทำได้ทันทีบนระบบที่สร้างไว้แล้ว เพราะ alert และ dashboard คำนวณใหม่เองทุกครั้งที่มีข้อมูลเข้า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ขอสรุปในประโยคเดียว ข้อมูลที่เคยกองรวมกันในไฟล์เดียว ตอนนี้ไหลเข้าระบบที่สะอาด ตรวจสอบได้ และอัปเดตเองเมื่อมีข้อมูลใหม่ และผลวิเคราะห์ชี้ว่า Controllable factorที่คุ้มที่สุดคือเครื่องที่ต้องซ่อมบ่อย กับ batch ขนาดใหญ่ โดยมีข้อควรระวังสำคัญคือต้องยืนยันนิยามของ labelของเสียก่อนนำไปใช้ ขอบคุณครับ ยินดีรับคำถาม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96665"/>
            <a:ext cx="10566400" cy="488950"/>
          </a:xfrm>
          <a:prstGeom prst="rect">
            <a:avLst/>
          </a:prstGeom>
          <a:noFill/>
          <a:ln/>
        </p:spPr>
        <p:txBody>
          <a:bodyPr wrap="square" lIns="0" tIns="0" rIns="0" bIns="0" rtlCol="0" anchor="t"/>
          <a:lstStyle>
            <a:lvl1pPr algn="l" indent="0" marL="0">
              <a:lnSpc>
                <a:spcPct val="115000"/>
              </a:lnSpc>
              <a:buNone/>
              <a:defRPr lang="en-US" sz="2800" dirty="0">
                <a:solidFill>
                  <a:srgbClr val="1B2430"/>
                </a:solidFill>
                <a:latin typeface="Prompt" pitchFamily="34" charset="0"/>
                <a:ea typeface="Prompt" pitchFamily="34" charset="-122"/>
                <a:cs typeface="Prompt"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790415"/>
            <a:ext cx="10566400" cy="4254785"/>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Anuphan" pitchFamily="34" charset="0"/>
                <a:ea typeface="Anuphan" pitchFamily="34" charset="-122"/>
                <a:cs typeface="Anuphan"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96665"/>
            <a:ext cx="10566400" cy="488950"/>
          </a:xfrm>
          <a:prstGeom prst="rect">
            <a:avLst/>
          </a:prstGeom>
          <a:noFill/>
          <a:ln/>
        </p:spPr>
        <p:txBody>
          <a:bodyPr wrap="square" lIns="0" tIns="0" rIns="0" bIns="0" rtlCol="0" anchor="t"/>
          <a:lstStyle>
            <a:lvl1pPr algn="l" indent="0" marL="0">
              <a:lnSpc>
                <a:spcPct val="115000"/>
              </a:lnSpc>
              <a:buNone/>
              <a:defRPr lang="en-US" sz="2800" dirty="0">
                <a:solidFill>
                  <a:srgbClr val="1B2430"/>
                </a:solidFill>
                <a:latin typeface="Prompt" pitchFamily="34" charset="0"/>
                <a:ea typeface="Prompt" pitchFamily="34" charset="-122"/>
                <a:cs typeface="Prompt"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790415"/>
            <a:ext cx="10566400" cy="4254785"/>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Anuphan" pitchFamily="34" charset="0"/>
                <a:ea typeface="Anuphan" pitchFamily="34" charset="-122"/>
                <a:cs typeface="Anuphan"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A1F"/>
          </a:solidFill>
          <a:ln/>
        </p:spPr>
      </p:sp>
      <p:sp>
        <p:nvSpPr>
          <p:cNvPr id="3" name="Text 1"/>
          <p:cNvSpPr/>
          <p:nvPr/>
        </p:nvSpPr>
        <p:spPr>
          <a:xfrm>
            <a:off x="812800" y="812800"/>
            <a:ext cx="10883392" cy="299208"/>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F2A65A"/>
                </a:solidFill>
                <a:latin typeface="Anuphan" pitchFamily="34" charset="0"/>
                <a:ea typeface="Anuphan" pitchFamily="34" charset="-122"/>
                <a:cs typeface="Anuphan" pitchFamily="34" charset="-120"/>
              </a:rPr>
              <a:t>KMITL · วิชาสถาปัตยกรรมข้อมูลและวิศวกรรมข้อมูล (05177012)</a:t>
            </a:r>
            <a:endParaRPr lang="en-US" sz="1400" dirty="0"/>
          </a:p>
        </p:txBody>
      </p:sp>
      <p:sp>
        <p:nvSpPr>
          <p:cNvPr id="4" name="Text 2"/>
          <p:cNvSpPr/>
          <p:nvPr>
            <p:ph type="title"/>
          </p:nvPr>
        </p:nvSpPr>
        <p:spPr>
          <a:xfrm>
            <a:off x="812800" y="1765300"/>
            <a:ext cx="10883392" cy="150062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F"/>
                </a:solidFill>
                <a:latin typeface="Prompt" pitchFamily="34" charset="0"/>
                <a:ea typeface="Prompt" pitchFamily="34" charset="-122"/>
                <a:cs typeface="Prompt" pitchFamily="34" charset="-120"/>
              </a:rPr>
              <a:t>Manufacturing Defect</a:t>
            </a:r>
            <a:endParaRPr lang="en-US" sz="4800" dirty="0"/>
          </a:p>
          <a:p>
            <a:pPr algn="l" indent="0" marL="0">
              <a:lnSpc>
                <a:spcPts val="5280"/>
              </a:lnSpc>
              <a:buNone/>
            </a:pPr>
            <a:r>
              <a:rPr lang="en-US" sz="4800" b="1" i="0" dirty="0">
                <a:solidFill>
                  <a:srgbClr val="F6F4EF"/>
                </a:solidFill>
                <a:latin typeface="Prompt" pitchFamily="34" charset="0"/>
                <a:ea typeface="Prompt" pitchFamily="34" charset="-122"/>
                <a:cs typeface="Prompt" pitchFamily="34" charset="-120"/>
              </a:rPr>
              <a:t>Prediction Pipeline</a:t>
            </a:r>
            <a:endParaRPr lang="en-US" sz="4800" dirty="0"/>
          </a:p>
        </p:txBody>
      </p:sp>
      <p:sp>
        <p:nvSpPr>
          <p:cNvPr id="5" name="Text 3"/>
          <p:cNvSpPr/>
          <p:nvPr/>
        </p:nvSpPr>
        <p:spPr>
          <a:xfrm>
            <a:off x="812800" y="4921683"/>
            <a:ext cx="3071248"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4"/>
                </a:solidFill>
                <a:latin typeface="Anuphan" pitchFamily="34" charset="0"/>
                <a:ea typeface="Anuphan" pitchFamily="34" charset="-122"/>
                <a:cs typeface="Anuphan" pitchFamily="34" charset="-120"/>
              </a:rPr>
              <a:t>จัดทำโดย</a:t>
            </a:r>
            <a:endParaRPr lang="en-US" sz="1200" dirty="0"/>
          </a:p>
        </p:txBody>
      </p:sp>
      <p:sp>
        <p:nvSpPr>
          <p:cNvPr id="6" name="Text 4"/>
          <p:cNvSpPr/>
          <p:nvPr/>
        </p:nvSpPr>
        <p:spPr>
          <a:xfrm>
            <a:off x="812800" y="5194445"/>
            <a:ext cx="3071248" cy="876156"/>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6F4EF"/>
                </a:solidFill>
                <a:latin typeface="Anuphan" pitchFamily="34" charset="0"/>
                <a:ea typeface="Anuphan" pitchFamily="34" charset="-122"/>
                <a:cs typeface="Anuphan" pitchFamily="34" charset="-120"/>
              </a:rPr>
              <a:t>69056012 ชมพูนุช สุนทรพจน์</a:t>
            </a:r>
            <a:endParaRPr lang="en-US" sz="1400" dirty="0"/>
          </a:p>
          <a:p>
            <a:pPr algn="l" indent="0" marL="0">
              <a:lnSpc>
                <a:spcPts val="2030"/>
              </a:lnSpc>
              <a:buNone/>
            </a:pPr>
            <a:r>
              <a:rPr lang="en-US" sz="1400" dirty="0">
                <a:solidFill>
                  <a:srgbClr val="F6F4EF"/>
                </a:solidFill>
                <a:latin typeface="Anuphan" pitchFamily="34" charset="0"/>
                <a:ea typeface="Anuphan" pitchFamily="34" charset="-122"/>
                <a:cs typeface="Anuphan" pitchFamily="34" charset="-120"/>
              </a:rPr>
              <a:t>69056015 ชัยชนะ เพียรประเสริฐ</a:t>
            </a:r>
            <a:endParaRPr lang="en-US" sz="1400" dirty="0"/>
          </a:p>
          <a:p>
            <a:pPr algn="l" indent="0" marL="0">
              <a:lnSpc>
                <a:spcPts val="2030"/>
              </a:lnSpc>
              <a:buNone/>
            </a:pPr>
            <a:r>
              <a:rPr lang="en-US" sz="1400" dirty="0">
                <a:solidFill>
                  <a:srgbClr val="F6F4EF"/>
                </a:solidFill>
                <a:latin typeface="Anuphan" pitchFamily="34" charset="0"/>
                <a:ea typeface="Anuphan" pitchFamily="34" charset="-122"/>
                <a:cs typeface="Anuphan" pitchFamily="34" charset="-120"/>
              </a:rPr>
              <a:t>69056060 วิรัลพัชระ วรรธนะคุณาสิน</a:t>
            </a:r>
            <a:endParaRPr lang="en-US" sz="1400" dirty="0"/>
          </a:p>
        </p:txBody>
      </p:sp>
      <p:sp>
        <p:nvSpPr>
          <p:cNvPr id="7" name="Text 5"/>
          <p:cNvSpPr/>
          <p:nvPr/>
        </p:nvSpPr>
        <p:spPr>
          <a:xfrm>
            <a:off x="10964213" y="4921683"/>
            <a:ext cx="414987"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6B4"/>
                </a:solidFill>
                <a:latin typeface="Anuphan" pitchFamily="34" charset="0"/>
                <a:ea typeface="Anuphan" pitchFamily="34" charset="-122"/>
                <a:cs typeface="Anuphan" pitchFamily="34" charset="-120"/>
              </a:rPr>
              <a:t>เสนอ</a:t>
            </a:r>
            <a:endParaRPr lang="en-US" sz="1200" dirty="0"/>
          </a:p>
        </p:txBody>
      </p:sp>
      <p:sp>
        <p:nvSpPr>
          <p:cNvPr id="8" name="Text 6"/>
          <p:cNvSpPr/>
          <p:nvPr/>
        </p:nvSpPr>
        <p:spPr>
          <a:xfrm>
            <a:off x="8732750" y="5194445"/>
            <a:ext cx="2646450" cy="876156"/>
          </a:xfrm>
          <a:prstGeom prst="rect">
            <a:avLst/>
          </a:prstGeom>
          <a:noFill/>
          <a:ln/>
        </p:spPr>
        <p:txBody>
          <a:bodyPr wrap="square" lIns="0" tIns="0" rIns="0" bIns="0" rtlCol="0" anchor="t">
            <a:normAutofit/>
          </a:bodyPr>
          <a:lstStyle/>
          <a:p>
            <a:pPr algn="r" indent="0" marL="0">
              <a:lnSpc>
                <a:spcPts val="2030"/>
              </a:lnSpc>
              <a:buNone/>
            </a:pPr>
            <a:r>
              <a:rPr lang="en-US" sz="1400" dirty="0">
                <a:solidFill>
                  <a:srgbClr val="F6F4EF"/>
                </a:solidFill>
                <a:latin typeface="Anuphan" pitchFamily="34" charset="0"/>
                <a:ea typeface="Anuphan" pitchFamily="34" charset="-122"/>
                <a:cs typeface="Anuphan" pitchFamily="34" charset="-120"/>
              </a:rPr>
              <a:t>Mr. Aekanun Thongtae</a:t>
            </a:r>
            <a:endParaRPr lang="en-US" sz="1400" dirty="0"/>
          </a:p>
          <a:p>
            <a:pPr algn="r" indent="0" marL="0">
              <a:lnSpc>
                <a:spcPts val="2030"/>
              </a:lnSpc>
              <a:buNone/>
            </a:pPr>
            <a:r>
              <a:rPr lang="en-US" sz="1400" dirty="0">
                <a:solidFill>
                  <a:srgbClr val="F6F4EF"/>
                </a:solidFill>
                <a:latin typeface="Anuphan" pitchFamily="34" charset="0"/>
                <a:ea typeface="Anuphan" pitchFamily="34" charset="-122"/>
                <a:cs typeface="Anuphan" pitchFamily="34" charset="-120"/>
              </a:rPr>
              <a:t>AI &amp; Data Science Consultant</a:t>
            </a:r>
            <a:endParaRPr lang="en-US" sz="1400" dirty="0"/>
          </a:p>
          <a:p>
            <a:pPr algn="r" indent="0" marL="0">
              <a:lnSpc>
                <a:spcPts val="2030"/>
              </a:lnSpc>
              <a:buNone/>
            </a:pPr>
            <a:r>
              <a:rPr lang="en-US" sz="1400" dirty="0">
                <a:solidFill>
                  <a:srgbClr val="F6F4EF"/>
                </a:solidFill>
                <a:latin typeface="Anuphan" pitchFamily="34" charset="0"/>
                <a:ea typeface="Anuphan" pitchFamily="34" charset="-122"/>
                <a:cs typeface="Anuphan" pitchFamily="34" charset="-120"/>
              </a:rPr>
              <a:t>ภาคการศึกษา 1/2569</a:t>
            </a:r>
            <a:endParaRPr lang="en-US" sz="1400" dirty="0"/>
          </a:p>
        </p:txBody>
      </p:sp>
      <p:sp>
        <p:nvSpPr>
          <p:cNvPr id="9" name="Text 7"/>
          <p:cNvSpPr/>
          <p:nvPr/>
        </p:nvSpPr>
        <p:spPr>
          <a:xfrm>
            <a:off x="433496" y="3416300"/>
            <a:ext cx="10883392" cy="855157"/>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C9D2DC"/>
                </a:solidFill>
                <a:latin typeface="Anuphan" pitchFamily="34" charset="0"/>
                <a:ea typeface="Anuphan" pitchFamily="34" charset="-122"/>
                <a:cs typeface="Anuphan" pitchFamily="34" charset="-120"/>
              </a:rPr>
              <a:t>จากข้อมูลดิบของโรงงาน สู่คำตอบว่า</a:t>
            </a:r>
            <a:endParaRPr lang="en-US" sz="2200" dirty="0"/>
          </a:p>
          <a:p>
            <a:pPr algn="l" indent="0" marL="0">
              <a:lnSpc>
                <a:spcPts val="2970"/>
              </a:lnSpc>
              <a:buNone/>
            </a:pPr>
            <a:r>
              <a:rPr lang="en-US" sz="2200" dirty="0">
                <a:solidFill>
                  <a:srgbClr val="C9D2DC"/>
                </a:solidFill>
                <a:latin typeface="Anuphan" pitchFamily="34" charset="0"/>
                <a:ea typeface="Anuphan" pitchFamily="34" charset="-122"/>
                <a:cs typeface="Anuphan" pitchFamily="34" charset="-120"/>
              </a:rPr>
              <a:t>อะไรสัมพันธ์กับ High defect และควรทำอะไรต่อ</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ลำดับการนำเสนอ</a:t>
            </a:r>
            <a:endParaRPr lang="en-US" sz="1200" dirty="0"/>
          </a:p>
        </p:txBody>
      </p:sp>
      <p:sp>
        <p:nvSpPr>
          <p:cNvPr id="3" name="Text 1"/>
          <p:cNvSpPr/>
          <p:nvPr>
            <p:ph type="title"/>
          </p:nvPr>
        </p:nvSpPr>
        <p:spPr>
          <a:xfrm>
            <a:off x="812800" y="996662"/>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เรื่องที่จะเล่าวันนี้ แบ่งเป็น 4 ช่วง</a:t>
            </a:r>
            <a:endParaRPr lang="en-US" sz="2800" dirty="0"/>
          </a:p>
        </p:txBody>
      </p:sp>
      <p:sp>
        <p:nvSpPr>
          <p:cNvPr id="4" name="Shape 2"/>
          <p:cNvSpPr/>
          <p:nvPr/>
        </p:nvSpPr>
        <p:spPr>
          <a:xfrm>
            <a:off x="815975" y="1844387"/>
            <a:ext cx="2520950" cy="2281021"/>
          </a:xfrm>
          <a:prstGeom prst="roundRect">
            <a:avLst>
              <a:gd name="adj" fmla="val 3201"/>
            </a:avLst>
          </a:prstGeom>
          <a:solidFill>
            <a:srgbClr val="FDFCFA"/>
          </a:solidFill>
          <a:ln w="6350">
            <a:solidFill>
              <a:srgbClr val="DDD8CE"/>
            </a:solidFill>
            <a:prstDash val="solid"/>
          </a:ln>
        </p:spPr>
      </p:sp>
      <p:sp>
        <p:nvSpPr>
          <p:cNvPr id="5" name="Text 3"/>
          <p:cNvSpPr/>
          <p:nvPr/>
        </p:nvSpPr>
        <p:spPr>
          <a:xfrm>
            <a:off x="1020618" y="2074430"/>
            <a:ext cx="2175014" cy="517128"/>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563A8"/>
                </a:solidFill>
                <a:latin typeface="Prompt" pitchFamily="34" charset="0"/>
                <a:ea typeface="Prompt" pitchFamily="34" charset="-122"/>
                <a:cs typeface="Prompt" pitchFamily="34" charset="-120"/>
              </a:rPr>
              <a:t>01</a:t>
            </a:r>
            <a:endParaRPr lang="en-US" sz="3200" dirty="0"/>
          </a:p>
        </p:txBody>
      </p:sp>
      <p:sp>
        <p:nvSpPr>
          <p:cNvPr id="6" name="Text 4"/>
          <p:cNvSpPr/>
          <p:nvPr/>
        </p:nvSpPr>
        <p:spPr>
          <a:xfrm>
            <a:off x="1020618" y="2667758"/>
            <a:ext cx="2175014" cy="334097"/>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B2430"/>
                </a:solidFill>
                <a:latin typeface="Prompt" pitchFamily="34" charset="0"/>
                <a:ea typeface="Prompt" pitchFamily="34" charset="-122"/>
                <a:cs typeface="Prompt" pitchFamily="34" charset="-120"/>
              </a:rPr>
              <a:t>ปัญหาและข้อมูล</a:t>
            </a:r>
            <a:endParaRPr lang="en-US" sz="1700" dirty="0"/>
          </a:p>
        </p:txBody>
      </p:sp>
      <p:sp>
        <p:nvSpPr>
          <p:cNvPr id="7" name="Text 5"/>
          <p:cNvSpPr/>
          <p:nvPr/>
        </p:nvSpPr>
        <p:spPr>
          <a:xfrm>
            <a:off x="1020618" y="3078055"/>
            <a:ext cx="2175014" cy="57027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F5966"/>
                </a:solidFill>
                <a:latin typeface="Anuphan" pitchFamily="34" charset="0"/>
                <a:ea typeface="Anuphan" pitchFamily="34" charset="-122"/>
                <a:cs typeface="Anuphan" pitchFamily="34" charset="-120"/>
              </a:rPr>
              <a:t>โรงงานมีข้อมูลอะไรอยู่ และทำไมยังเอามาใช้ตัดสินใจไม่ได้</a:t>
            </a:r>
            <a:endParaRPr lang="en-US" sz="1300" dirty="0"/>
          </a:p>
        </p:txBody>
      </p:sp>
      <p:sp>
        <p:nvSpPr>
          <p:cNvPr id="8" name="Shape 6"/>
          <p:cNvSpPr/>
          <p:nvPr/>
        </p:nvSpPr>
        <p:spPr>
          <a:xfrm>
            <a:off x="3495675" y="1844387"/>
            <a:ext cx="2520950" cy="2281021"/>
          </a:xfrm>
          <a:prstGeom prst="roundRect">
            <a:avLst>
              <a:gd name="adj" fmla="val 3201"/>
            </a:avLst>
          </a:prstGeom>
          <a:solidFill>
            <a:srgbClr val="FDFCFA"/>
          </a:solidFill>
          <a:ln w="6350">
            <a:solidFill>
              <a:srgbClr val="DDD8CE"/>
            </a:solidFill>
            <a:prstDash val="solid"/>
          </a:ln>
        </p:spPr>
      </p:sp>
      <p:sp>
        <p:nvSpPr>
          <p:cNvPr id="9" name="Text 7"/>
          <p:cNvSpPr/>
          <p:nvPr/>
        </p:nvSpPr>
        <p:spPr>
          <a:xfrm>
            <a:off x="3700318" y="2074430"/>
            <a:ext cx="2175014" cy="517128"/>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563A8"/>
                </a:solidFill>
                <a:latin typeface="Prompt" pitchFamily="34" charset="0"/>
                <a:ea typeface="Prompt" pitchFamily="34" charset="-122"/>
                <a:cs typeface="Prompt" pitchFamily="34" charset="-120"/>
              </a:rPr>
              <a:t>02</a:t>
            </a:r>
            <a:endParaRPr lang="en-US" sz="3200" dirty="0"/>
          </a:p>
        </p:txBody>
      </p:sp>
      <p:sp>
        <p:nvSpPr>
          <p:cNvPr id="10" name="Text 8"/>
          <p:cNvSpPr/>
          <p:nvPr/>
        </p:nvSpPr>
        <p:spPr>
          <a:xfrm>
            <a:off x="3700318" y="2667758"/>
            <a:ext cx="2175014" cy="334097"/>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B2430"/>
                </a:solidFill>
                <a:latin typeface="Prompt" pitchFamily="34" charset="0"/>
                <a:ea typeface="Prompt" pitchFamily="34" charset="-122"/>
                <a:cs typeface="Prompt" pitchFamily="34" charset="-120"/>
              </a:rPr>
              <a:t>Data Pipeline</a:t>
            </a:r>
            <a:endParaRPr lang="en-US" sz="1700" dirty="0"/>
          </a:p>
        </p:txBody>
      </p:sp>
      <p:sp>
        <p:nvSpPr>
          <p:cNvPr id="11" name="Text 9"/>
          <p:cNvSpPr/>
          <p:nvPr/>
        </p:nvSpPr>
        <p:spPr>
          <a:xfrm>
            <a:off x="3700318" y="3078055"/>
            <a:ext cx="2175014" cy="84271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F5966"/>
                </a:solidFill>
                <a:latin typeface="Anuphan" pitchFamily="34" charset="0"/>
                <a:ea typeface="Anuphan" pitchFamily="34" charset="-122"/>
                <a:cs typeface="Anuphan" pitchFamily="34" charset="-120"/>
              </a:rPr>
              <a:t>Bronze–Silver–Gold, Data Model (Fact/Dim), code และ automation</a:t>
            </a:r>
            <a:endParaRPr lang="en-US" sz="1300" dirty="0"/>
          </a:p>
        </p:txBody>
      </p:sp>
      <p:sp>
        <p:nvSpPr>
          <p:cNvPr id="12" name="Shape 10"/>
          <p:cNvSpPr/>
          <p:nvPr/>
        </p:nvSpPr>
        <p:spPr>
          <a:xfrm>
            <a:off x="6175375" y="1844387"/>
            <a:ext cx="2520950" cy="2281021"/>
          </a:xfrm>
          <a:prstGeom prst="roundRect">
            <a:avLst>
              <a:gd name="adj" fmla="val 3201"/>
            </a:avLst>
          </a:prstGeom>
          <a:solidFill>
            <a:srgbClr val="FDFCFA"/>
          </a:solidFill>
          <a:ln w="6350">
            <a:solidFill>
              <a:srgbClr val="DDD8CE"/>
            </a:solidFill>
            <a:prstDash val="solid"/>
          </a:ln>
        </p:spPr>
      </p:sp>
      <p:sp>
        <p:nvSpPr>
          <p:cNvPr id="13" name="Text 11"/>
          <p:cNvSpPr/>
          <p:nvPr/>
        </p:nvSpPr>
        <p:spPr>
          <a:xfrm>
            <a:off x="6380018" y="2074430"/>
            <a:ext cx="2175014" cy="517128"/>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04E0A"/>
                </a:solidFill>
                <a:latin typeface="Prompt" pitchFamily="34" charset="0"/>
                <a:ea typeface="Prompt" pitchFamily="34" charset="-122"/>
                <a:cs typeface="Prompt" pitchFamily="34" charset="-120"/>
              </a:rPr>
              <a:t>03</a:t>
            </a:r>
            <a:endParaRPr lang="en-US" sz="3200" dirty="0"/>
          </a:p>
        </p:txBody>
      </p:sp>
      <p:sp>
        <p:nvSpPr>
          <p:cNvPr id="14" name="Text 12"/>
          <p:cNvSpPr/>
          <p:nvPr/>
        </p:nvSpPr>
        <p:spPr>
          <a:xfrm>
            <a:off x="6380018" y="2667758"/>
            <a:ext cx="2175014" cy="334097"/>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B2430"/>
                </a:solidFill>
                <a:latin typeface="Prompt" pitchFamily="34" charset="0"/>
                <a:ea typeface="Prompt" pitchFamily="34" charset="-122"/>
                <a:cs typeface="Prompt" pitchFamily="34" charset="-120"/>
              </a:rPr>
              <a:t>Business Insight</a:t>
            </a:r>
            <a:endParaRPr lang="en-US" sz="1700" dirty="0"/>
          </a:p>
        </p:txBody>
      </p:sp>
      <p:sp>
        <p:nvSpPr>
          <p:cNvPr id="15" name="Text 13"/>
          <p:cNvSpPr/>
          <p:nvPr/>
        </p:nvSpPr>
        <p:spPr>
          <a:xfrm>
            <a:off x="6380018" y="3078055"/>
            <a:ext cx="2175014" cy="84271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F5966"/>
                </a:solidFill>
                <a:latin typeface="Anuphan" pitchFamily="34" charset="0"/>
                <a:ea typeface="Anuphan" pitchFamily="34" charset="-122"/>
                <a:cs typeface="Anuphan" pitchFamily="34" charset="-120"/>
              </a:rPr>
              <a:t>ปัจจัยใดสัมพันธ์กับ High defect และมี Operating window ที่ปลอดภัยหรือไม่</a:t>
            </a:r>
            <a:endParaRPr lang="en-US" sz="1300" dirty="0"/>
          </a:p>
        </p:txBody>
      </p:sp>
      <p:sp>
        <p:nvSpPr>
          <p:cNvPr id="16" name="Shape 14"/>
          <p:cNvSpPr/>
          <p:nvPr/>
        </p:nvSpPr>
        <p:spPr>
          <a:xfrm>
            <a:off x="8855075" y="1844387"/>
            <a:ext cx="2520950" cy="2281021"/>
          </a:xfrm>
          <a:prstGeom prst="roundRect">
            <a:avLst>
              <a:gd name="adj" fmla="val 3201"/>
            </a:avLst>
          </a:prstGeom>
          <a:solidFill>
            <a:srgbClr val="FDFCFA"/>
          </a:solidFill>
          <a:ln w="6350">
            <a:solidFill>
              <a:srgbClr val="DDD8CE"/>
            </a:solidFill>
            <a:prstDash val="solid"/>
          </a:ln>
        </p:spPr>
      </p:sp>
      <p:sp>
        <p:nvSpPr>
          <p:cNvPr id="17" name="Text 15"/>
          <p:cNvSpPr/>
          <p:nvPr/>
        </p:nvSpPr>
        <p:spPr>
          <a:xfrm>
            <a:off x="9059718" y="2074430"/>
            <a:ext cx="2175014" cy="517128"/>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04E0A"/>
                </a:solidFill>
                <a:latin typeface="Prompt" pitchFamily="34" charset="0"/>
                <a:ea typeface="Prompt" pitchFamily="34" charset="-122"/>
                <a:cs typeface="Prompt" pitchFamily="34" charset="-120"/>
              </a:rPr>
              <a:t>04</a:t>
            </a:r>
            <a:endParaRPr lang="en-US" sz="3200" dirty="0"/>
          </a:p>
        </p:txBody>
      </p:sp>
      <p:sp>
        <p:nvSpPr>
          <p:cNvPr id="18" name="Text 16"/>
          <p:cNvSpPr/>
          <p:nvPr/>
        </p:nvSpPr>
        <p:spPr>
          <a:xfrm>
            <a:off x="9059718" y="2667758"/>
            <a:ext cx="2175014" cy="334097"/>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B2430"/>
                </a:solidFill>
                <a:latin typeface="Prompt" pitchFamily="34" charset="0"/>
                <a:ea typeface="Prompt" pitchFamily="34" charset="-122"/>
                <a:cs typeface="Prompt" pitchFamily="34" charset="-120"/>
              </a:rPr>
              <a:t>สิ่งที่ควรทำต่อ</a:t>
            </a:r>
            <a:endParaRPr lang="en-US" sz="1700" dirty="0"/>
          </a:p>
        </p:txBody>
      </p:sp>
      <p:sp>
        <p:nvSpPr>
          <p:cNvPr id="19" name="Text 17"/>
          <p:cNvSpPr/>
          <p:nvPr/>
        </p:nvSpPr>
        <p:spPr>
          <a:xfrm>
            <a:off x="9059718" y="3078055"/>
            <a:ext cx="2175014" cy="57027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F5966"/>
                </a:solidFill>
                <a:latin typeface="Anuphan" pitchFamily="34" charset="0"/>
                <a:ea typeface="Anuphan" pitchFamily="34" charset="-122"/>
                <a:cs typeface="Anuphan" pitchFamily="34" charset="-120"/>
              </a:rPr>
              <a:t>ข้อเสนอเชิงปฏิบัติ ข้อจำกัดที่ต้องรู้ และแผนพัฒนาต่อ</a:t>
            </a:r>
            <a:endParaRPr lang="en-US" sz="1300" dirty="0"/>
          </a:p>
        </p:txBody>
      </p:sp>
      <p:sp>
        <p:nvSpPr>
          <p:cNvPr id="20" name="Text 18"/>
          <p:cNvSpPr/>
          <p:nvPr/>
        </p:nvSpPr>
        <p:spPr>
          <a:xfrm>
            <a:off x="812800" y="4484183"/>
            <a:ext cx="10883392" cy="318763"/>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F5966"/>
                </a:solidFill>
                <a:latin typeface="Anuphan" pitchFamily="34" charset="0"/>
                <a:ea typeface="Anuphan" pitchFamily="34" charset="-122"/>
                <a:cs typeface="Anuphan" pitchFamily="34" charset="-120"/>
              </a:rPr>
              <a:t>ช่วง 01–02 ตอบว่า </a:t>
            </a:r>
            <a:r>
              <a:rPr lang="en-US" sz="1400" b="1" dirty="0">
                <a:solidFill>
                  <a:srgbClr val="1B2430"/>
                </a:solidFill>
                <a:latin typeface="Anuphan" pitchFamily="34" charset="0"/>
                <a:ea typeface="Anuphan" pitchFamily="34" charset="-122"/>
                <a:cs typeface="Anuphan" pitchFamily="34" charset="-120"/>
              </a:rPr>
              <a:t>“ข้อมูลเชื่อถือได้ไหม”</a:t>
            </a:r>
            <a:r>
              <a:rPr lang="en-US" sz="1400" dirty="0">
                <a:solidFill>
                  <a:srgbClr val="4F5966"/>
                </a:solidFill>
                <a:latin typeface="Anuphan" pitchFamily="34" charset="0"/>
                <a:ea typeface="Anuphan" pitchFamily="34" charset="-122"/>
                <a:cs typeface="Anuphan" pitchFamily="34" charset="-120"/>
              </a:rPr>
              <a:t> · ช่วง 03–04 ตอบว่า </a:t>
            </a:r>
            <a:r>
              <a:rPr lang="en-US" sz="1400" b="1" dirty="0">
                <a:solidFill>
                  <a:srgbClr val="1B2430"/>
                </a:solidFill>
                <a:latin typeface="Anuphan" pitchFamily="34" charset="0"/>
                <a:ea typeface="Anuphan" pitchFamily="34" charset="-122"/>
                <a:cs typeface="Anuphan" pitchFamily="34" charset="-120"/>
              </a:rPr>
              <a:t>“ข้อมูลบอกอะไร และควรทำอะไร”</a:t>
            </a:r>
            <a:endParaRPr lang="en-US" sz="1400" dirty="0"/>
          </a:p>
        </p:txBody>
      </p:sp>
      <p:sp>
        <p:nvSpPr>
          <p:cNvPr id="21" name="Text 19"/>
          <p:cNvSpPr/>
          <p:nvPr/>
        </p:nvSpPr>
        <p:spPr>
          <a:xfrm>
            <a:off x="812800" y="621693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22" name="Text 20"/>
          <p:cNvSpPr/>
          <p:nvPr/>
        </p:nvSpPr>
        <p:spPr>
          <a:xfrm>
            <a:off x="10058400" y="621693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02 / 27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01 · โจทย์</a:t>
            </a:r>
            <a:endParaRPr lang="en-US" sz="1200" dirty="0"/>
          </a:p>
        </p:txBody>
      </p:sp>
      <p:sp>
        <p:nvSpPr>
          <p:cNvPr id="3" name="Text 1"/>
          <p:cNvSpPr/>
          <p:nvPr>
            <p:ph type="title"/>
          </p:nvPr>
        </p:nvSpPr>
        <p:spPr>
          <a:xfrm>
            <a:off x="812800" y="996662"/>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ข้อมูลมีอยู่แล้ว แต่ยังเอามาใช้ตัดสินใจไม่ได้</a:t>
            </a:r>
            <a:endParaRPr lang="en-US" sz="2800" dirty="0"/>
          </a:p>
        </p:txBody>
      </p:sp>
      <p:sp>
        <p:nvSpPr>
          <p:cNvPr id="4" name="Text 2"/>
          <p:cNvSpPr/>
          <p:nvPr/>
        </p:nvSpPr>
        <p:spPr>
          <a:xfrm>
            <a:off x="812800" y="1765012"/>
            <a:ext cx="10883392" cy="6540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F5966"/>
                </a:solidFill>
                <a:latin typeface="Anuphan" pitchFamily="34" charset="0"/>
                <a:ea typeface="Anuphan" pitchFamily="34" charset="-122"/>
                <a:cs typeface="Anuphan" pitchFamily="34" charset="-120"/>
              </a:rPr>
              <a:t>โรงงานเก็บข้อมูลการผลิตไว้ในไฟล์ CSV ไฟล์เดียว รวมทุกแผนก (การผลิต ซัพพลายเชน คุณภาพ ซ่อมบำรุง คลังสินค้า แรงงาน พลังงาน) ปนกันอยู่ในตารางเดียว</a:t>
            </a:r>
            <a:endParaRPr lang="en-US" sz="1500" dirty="0"/>
          </a:p>
        </p:txBody>
      </p:sp>
      <p:sp>
        <p:nvSpPr>
          <p:cNvPr id="5" name="Shape 3"/>
          <p:cNvSpPr/>
          <p:nvPr/>
        </p:nvSpPr>
        <p:spPr>
          <a:xfrm>
            <a:off x="815975" y="2676237"/>
            <a:ext cx="2254250" cy="1793226"/>
          </a:xfrm>
          <a:prstGeom prst="roundRect">
            <a:avLst>
              <a:gd name="adj" fmla="val 4072"/>
            </a:avLst>
          </a:prstGeom>
          <a:solidFill>
            <a:srgbClr val="FDFCFA"/>
          </a:solidFill>
          <a:ln w="6350">
            <a:solidFill>
              <a:srgbClr val="DDD8CE"/>
            </a:solidFill>
            <a:prstDash val="solid"/>
          </a:ln>
        </p:spPr>
      </p:sp>
      <p:sp>
        <p:nvSpPr>
          <p:cNvPr id="6" name="Text 4"/>
          <p:cNvSpPr/>
          <p:nvPr/>
        </p:nvSpPr>
        <p:spPr>
          <a:xfrm>
            <a:off x="995218" y="2855480"/>
            <a:ext cx="1952637" cy="2600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0"/>
                </a:solidFill>
                <a:latin typeface="Anuphan" pitchFamily="34" charset="0"/>
                <a:ea typeface="Anuphan" pitchFamily="34" charset="-122"/>
                <a:cs typeface="Anuphan" pitchFamily="34" charset="-120"/>
              </a:rPr>
              <a:t>ขั้นที่ 1</a:t>
            </a:r>
            <a:endParaRPr lang="en-US" sz="1200" dirty="0"/>
          </a:p>
        </p:txBody>
      </p:sp>
      <p:sp>
        <p:nvSpPr>
          <p:cNvPr id="7" name="Text 5"/>
          <p:cNvSpPr/>
          <p:nvPr/>
        </p:nvSpPr>
        <p:spPr>
          <a:xfrm>
            <a:off x="995218" y="3166342"/>
            <a:ext cx="1952637"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ข้อมูลดิบ</a:t>
            </a:r>
            <a:endParaRPr lang="en-US" sz="1500" dirty="0"/>
          </a:p>
        </p:txBody>
      </p:sp>
      <p:sp>
        <p:nvSpPr>
          <p:cNvPr id="8" name="Text 6"/>
          <p:cNvSpPr/>
          <p:nvPr/>
        </p:nvSpPr>
        <p:spPr>
          <a:xfrm>
            <a:off x="995218" y="3514942"/>
            <a:ext cx="1952637" cy="5282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F5966"/>
                </a:solidFill>
                <a:latin typeface="Anuphan" pitchFamily="34" charset="0"/>
                <a:ea typeface="Anuphan" pitchFamily="34" charset="-122"/>
                <a:cs typeface="Anuphan" pitchFamily="34" charset="-120"/>
              </a:rPr>
              <a:t>ไฟล์ CSV 1 ไฟล์ แบบแบน ไม่แยกหมวด</a:t>
            </a:r>
            <a:endParaRPr lang="en-US" sz="1200" dirty="0"/>
          </a:p>
        </p:txBody>
      </p:sp>
      <p:pic>
        <p:nvPicPr>
          <p:cNvPr id="9" name="Image 0" descr="arrow-right">    </p:cNvPr>
          <p:cNvPicPr>
            <a:picLocks noChangeAspect="1"/>
          </p:cNvPicPr>
          <p:nvPr/>
        </p:nvPicPr>
        <p:blipFill>
          <a:blip r:embed="rId1"/>
          <a:srcRect l="0" r="0" t="0" b="0"/>
          <a:stretch/>
        </p:blipFill>
        <p:spPr>
          <a:xfrm>
            <a:off x="3175000" y="3496650"/>
            <a:ext cx="304800" cy="152400"/>
          </a:xfrm>
          <a:prstGeom prst="rect">
            <a:avLst/>
          </a:prstGeom>
        </p:spPr>
      </p:pic>
      <p:sp>
        <p:nvSpPr>
          <p:cNvPr id="10" name="Shape 7"/>
          <p:cNvSpPr/>
          <p:nvPr/>
        </p:nvSpPr>
        <p:spPr>
          <a:xfrm>
            <a:off x="3584575" y="2676237"/>
            <a:ext cx="2254250" cy="1793226"/>
          </a:xfrm>
          <a:prstGeom prst="roundRect">
            <a:avLst>
              <a:gd name="adj" fmla="val 4072"/>
            </a:avLst>
          </a:prstGeom>
          <a:solidFill>
            <a:srgbClr val="FDFCFA"/>
          </a:solidFill>
          <a:ln w="6350">
            <a:solidFill>
              <a:srgbClr val="DDD8CE"/>
            </a:solidFill>
            <a:prstDash val="solid"/>
          </a:ln>
        </p:spPr>
      </p:sp>
      <p:sp>
        <p:nvSpPr>
          <p:cNvPr id="11" name="Text 8"/>
          <p:cNvSpPr/>
          <p:nvPr/>
        </p:nvSpPr>
        <p:spPr>
          <a:xfrm>
            <a:off x="3763818" y="2855480"/>
            <a:ext cx="1952637" cy="2600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0"/>
                </a:solidFill>
                <a:latin typeface="Anuphan" pitchFamily="34" charset="0"/>
                <a:ea typeface="Anuphan" pitchFamily="34" charset="-122"/>
                <a:cs typeface="Anuphan" pitchFamily="34" charset="-120"/>
              </a:rPr>
              <a:t>ขั้นที่ 2</a:t>
            </a:r>
            <a:endParaRPr lang="en-US" sz="1200" dirty="0"/>
          </a:p>
        </p:txBody>
      </p:sp>
      <p:sp>
        <p:nvSpPr>
          <p:cNvPr id="12" name="Text 9"/>
          <p:cNvSpPr/>
          <p:nvPr/>
        </p:nvSpPr>
        <p:spPr>
          <a:xfrm>
            <a:off x="3763818" y="3166342"/>
            <a:ext cx="1952637"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รูปแบบไม่มาตรฐาน</a:t>
            </a:r>
            <a:endParaRPr lang="en-US" sz="1500" dirty="0"/>
          </a:p>
        </p:txBody>
      </p:sp>
      <p:sp>
        <p:nvSpPr>
          <p:cNvPr id="13" name="Text 10"/>
          <p:cNvSpPr/>
          <p:nvPr/>
        </p:nvSpPr>
        <p:spPr>
          <a:xfrm>
            <a:off x="3763818" y="3514942"/>
            <a:ext cx="1952637" cy="5282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F5966"/>
                </a:solidFill>
                <a:latin typeface="Anuphan" pitchFamily="34" charset="0"/>
                <a:ea typeface="Anuphan" pitchFamily="34" charset="-122"/>
                <a:cs typeface="Anuphan" pitchFamily="34" charset="-120"/>
              </a:rPr>
              <a:t>ชื่อคอลัมน์ หน่วย และชนิดข้อมูล ไม่ได้กำหนดชัด</a:t>
            </a:r>
            <a:endParaRPr lang="en-US" sz="1200" dirty="0"/>
          </a:p>
        </p:txBody>
      </p:sp>
      <p:pic>
        <p:nvPicPr>
          <p:cNvPr id="14" name="Image 1" descr="arrow-right">    </p:cNvPr>
          <p:cNvPicPr>
            <a:picLocks noChangeAspect="1"/>
          </p:cNvPicPr>
          <p:nvPr/>
        </p:nvPicPr>
        <p:blipFill>
          <a:blip r:embed="rId2"/>
          <a:srcRect l="0" r="0" t="0" b="0"/>
          <a:stretch/>
        </p:blipFill>
        <p:spPr>
          <a:xfrm>
            <a:off x="5943600" y="3496650"/>
            <a:ext cx="304800" cy="152400"/>
          </a:xfrm>
          <a:prstGeom prst="rect">
            <a:avLst/>
          </a:prstGeom>
        </p:spPr>
      </p:pic>
      <p:sp>
        <p:nvSpPr>
          <p:cNvPr id="15" name="Shape 11"/>
          <p:cNvSpPr/>
          <p:nvPr/>
        </p:nvSpPr>
        <p:spPr>
          <a:xfrm>
            <a:off x="6353175" y="2676237"/>
            <a:ext cx="2254250" cy="1793226"/>
          </a:xfrm>
          <a:prstGeom prst="roundRect">
            <a:avLst>
              <a:gd name="adj" fmla="val 4072"/>
            </a:avLst>
          </a:prstGeom>
          <a:solidFill>
            <a:srgbClr val="FDFCFA"/>
          </a:solidFill>
          <a:ln w="6350">
            <a:solidFill>
              <a:srgbClr val="DDD8CE"/>
            </a:solidFill>
            <a:prstDash val="solid"/>
          </a:ln>
        </p:spPr>
      </p:sp>
      <p:sp>
        <p:nvSpPr>
          <p:cNvPr id="16" name="Text 12"/>
          <p:cNvSpPr/>
          <p:nvPr/>
        </p:nvSpPr>
        <p:spPr>
          <a:xfrm>
            <a:off x="6532418" y="2855480"/>
            <a:ext cx="1952637" cy="2600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0"/>
                </a:solidFill>
                <a:latin typeface="Anuphan" pitchFamily="34" charset="0"/>
                <a:ea typeface="Anuphan" pitchFamily="34" charset="-122"/>
                <a:cs typeface="Anuphan" pitchFamily="34" charset="-120"/>
              </a:rPr>
              <a:t>ขั้นที่ 3</a:t>
            </a:r>
            <a:endParaRPr lang="en-US" sz="1200" dirty="0"/>
          </a:p>
        </p:txBody>
      </p:sp>
      <p:sp>
        <p:nvSpPr>
          <p:cNvPr id="17" name="Text 13"/>
          <p:cNvSpPr/>
          <p:nvPr/>
        </p:nvSpPr>
        <p:spPr>
          <a:xfrm>
            <a:off x="6532418" y="3166342"/>
            <a:ext cx="1952637"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ไม่มีการตรวจสอบ</a:t>
            </a:r>
            <a:endParaRPr lang="en-US" sz="1500" dirty="0"/>
          </a:p>
        </p:txBody>
      </p:sp>
      <p:sp>
        <p:nvSpPr>
          <p:cNvPr id="18" name="Text 14"/>
          <p:cNvSpPr/>
          <p:nvPr/>
        </p:nvSpPr>
        <p:spPr>
          <a:xfrm>
            <a:off x="6532418" y="3514942"/>
            <a:ext cx="1952637" cy="5282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F5966"/>
                </a:solidFill>
                <a:latin typeface="Anuphan" pitchFamily="34" charset="0"/>
                <a:ea typeface="Anuphan" pitchFamily="34" charset="-122"/>
                <a:cs typeface="Anuphan" pitchFamily="34" charset="-120"/>
              </a:rPr>
              <a:t>ไม่ตรวจค่าผิด แถวซ้ำ คุณภาพ หรือที่มาของข้อมูล</a:t>
            </a:r>
            <a:endParaRPr lang="en-US" sz="1200" dirty="0"/>
          </a:p>
        </p:txBody>
      </p:sp>
      <p:pic>
        <p:nvPicPr>
          <p:cNvPr id="19" name="Image 2" descr="arrow-right">    </p:cNvPr>
          <p:cNvPicPr>
            <a:picLocks noChangeAspect="1"/>
          </p:cNvPicPr>
          <p:nvPr/>
        </p:nvPicPr>
        <p:blipFill>
          <a:blip r:embed="rId3"/>
          <a:srcRect l="0" r="0" t="0" b="0"/>
          <a:stretch/>
        </p:blipFill>
        <p:spPr>
          <a:xfrm>
            <a:off x="8712200" y="3496650"/>
            <a:ext cx="304800" cy="152400"/>
          </a:xfrm>
          <a:prstGeom prst="rect">
            <a:avLst/>
          </a:prstGeom>
        </p:spPr>
      </p:pic>
      <p:sp>
        <p:nvSpPr>
          <p:cNvPr id="20" name="Shape 15"/>
          <p:cNvSpPr/>
          <p:nvPr/>
        </p:nvSpPr>
        <p:spPr>
          <a:xfrm>
            <a:off x="9121775" y="2676237"/>
            <a:ext cx="2254250" cy="1793226"/>
          </a:xfrm>
          <a:prstGeom prst="roundRect">
            <a:avLst>
              <a:gd name="adj" fmla="val 4072"/>
            </a:avLst>
          </a:prstGeom>
          <a:solidFill>
            <a:srgbClr val="FDFCFA"/>
          </a:solidFill>
          <a:ln w="6350">
            <a:solidFill>
              <a:srgbClr val="DDD8CE"/>
            </a:solidFill>
            <a:prstDash val="solid"/>
          </a:ln>
        </p:spPr>
      </p:sp>
      <p:sp>
        <p:nvSpPr>
          <p:cNvPr id="21" name="Text 16"/>
          <p:cNvSpPr/>
          <p:nvPr/>
        </p:nvSpPr>
        <p:spPr>
          <a:xfrm>
            <a:off x="9301018" y="2855480"/>
            <a:ext cx="1952637" cy="2600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0"/>
                </a:solidFill>
                <a:latin typeface="Anuphan" pitchFamily="34" charset="0"/>
                <a:ea typeface="Anuphan" pitchFamily="34" charset="-122"/>
                <a:cs typeface="Anuphan" pitchFamily="34" charset="-120"/>
              </a:rPr>
              <a:t>ขั้นที่ 4</a:t>
            </a:r>
            <a:endParaRPr lang="en-US" sz="1200" dirty="0"/>
          </a:p>
        </p:txBody>
      </p:sp>
      <p:sp>
        <p:nvSpPr>
          <p:cNvPr id="22" name="Text 17"/>
          <p:cNvSpPr/>
          <p:nvPr/>
        </p:nvSpPr>
        <p:spPr>
          <a:xfrm>
            <a:off x="9301018" y="3166342"/>
            <a:ext cx="1952637" cy="5702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ไม่มี Key เชื่อมตาราง</a:t>
            </a:r>
            <a:endParaRPr lang="en-US" sz="1500" dirty="0"/>
          </a:p>
        </p:txBody>
      </p:sp>
      <p:sp>
        <p:nvSpPr>
          <p:cNvPr id="23" name="Text 18"/>
          <p:cNvSpPr/>
          <p:nvPr/>
        </p:nvSpPr>
        <p:spPr>
          <a:xfrm>
            <a:off x="9301018" y="3787342"/>
            <a:ext cx="1952637" cy="5282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F5966"/>
                </a:solidFill>
                <a:latin typeface="Anuphan" pitchFamily="34" charset="0"/>
                <a:ea typeface="Anuphan" pitchFamily="34" charset="-122"/>
                <a:cs typeface="Anuphan" pitchFamily="34" charset="-120"/>
              </a:rPr>
              <a:t>วิเคราะห์ยาก ใส่ฐานข้อมูลเชิงสัมพันธ์ไม่ได้</a:t>
            </a:r>
            <a:endParaRPr lang="en-US" sz="1200" dirty="0"/>
          </a:p>
        </p:txBody>
      </p:sp>
      <p:sp>
        <p:nvSpPr>
          <p:cNvPr id="24" name="Shape 19"/>
          <p:cNvSpPr/>
          <p:nvPr/>
        </p:nvSpPr>
        <p:spPr>
          <a:xfrm>
            <a:off x="812800" y="4752037"/>
            <a:ext cx="10566400" cy="942326"/>
          </a:xfrm>
          <a:prstGeom prst="roundRect">
            <a:avLst>
              <a:gd name="adj" fmla="val 8086"/>
            </a:avLst>
          </a:prstGeom>
          <a:solidFill>
            <a:srgbClr val="E3ECF6"/>
          </a:solidFill>
          <a:ln/>
        </p:spPr>
      </p:sp>
      <p:pic>
        <p:nvPicPr>
          <p:cNvPr id="25" name="Image 3" descr="Lightbulb">    </p:cNvPr>
          <p:cNvPicPr>
            <a:picLocks noChangeAspect="1"/>
          </p:cNvPicPr>
          <p:nvPr/>
        </p:nvPicPr>
        <p:blipFill>
          <a:blip r:embed="rId4"/>
          <a:srcRect l="-278" r="-278" t="0" b="0"/>
          <a:stretch/>
        </p:blipFill>
        <p:spPr>
          <a:xfrm>
            <a:off x="1041400" y="5045401"/>
            <a:ext cx="293724" cy="355600"/>
          </a:xfrm>
          <a:prstGeom prst="rect">
            <a:avLst/>
          </a:prstGeom>
        </p:spPr>
      </p:pic>
      <p:sp>
        <p:nvSpPr>
          <p:cNvPr id="26" name="Text 20"/>
          <p:cNvSpPr/>
          <p:nvPr/>
        </p:nvSpPr>
        <p:spPr>
          <a:xfrm>
            <a:off x="1487524" y="4929837"/>
            <a:ext cx="9952969" cy="612126"/>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B2430"/>
                </a:solidFill>
                <a:latin typeface="Anuphan" pitchFamily="34" charset="0"/>
                <a:ea typeface="Anuphan" pitchFamily="34" charset="-122"/>
                <a:cs typeface="Anuphan" pitchFamily="34" charset="-120"/>
              </a:rPr>
              <a:t>ทางแก้:</a:t>
            </a:r>
            <a:r>
              <a:rPr lang="en-US" sz="1400" dirty="0">
                <a:solidFill>
                  <a:srgbClr val="1B2430"/>
                </a:solidFill>
                <a:latin typeface="Anuphan" pitchFamily="34" charset="0"/>
                <a:ea typeface="Anuphan" pitchFamily="34" charset="-122"/>
                <a:cs typeface="Anuphan" pitchFamily="34" charset="-120"/>
              </a:rPr>
              <a:t> สร้าง Data Pipeline ที่พาข้อมูลดิบผ่านการเก็บ → ทำความสะอาด → ตรวจคุณภาพ → จัดเป็นฐานข้อมูล → Dashboard → Business Insight</a:t>
            </a:r>
            <a:endParaRPr lang="en-US" sz="1400" dirty="0"/>
          </a:p>
        </p:txBody>
      </p:sp>
      <p:sp>
        <p:nvSpPr>
          <p:cNvPr id="27" name="Text 21"/>
          <p:cNvSpPr/>
          <p:nvPr/>
        </p:nvSpPr>
        <p:spPr>
          <a:xfrm>
            <a:off x="812800" y="6216940"/>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28" name="Text 22"/>
          <p:cNvSpPr/>
          <p:nvPr/>
        </p:nvSpPr>
        <p:spPr>
          <a:xfrm>
            <a:off x="10058400" y="6216940"/>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03 / 27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01 · ข้อมูลที่ใช้</a:t>
            </a:r>
            <a:endParaRPr lang="en-US" sz="1200" dirty="0"/>
          </a:p>
        </p:txBody>
      </p:sp>
      <p:sp>
        <p:nvSpPr>
          <p:cNvPr id="3" name="Text 1"/>
          <p:cNvSpPr/>
          <p:nvPr>
            <p:ph type="title"/>
          </p:nvPr>
        </p:nvSpPr>
        <p:spPr>
          <a:xfrm>
            <a:off x="812800" y="996662"/>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1 แถว = การผลิต 1 รอบ (batch) · 3,240 แถว · 8 กลุ่มข้อมูล</a:t>
            </a:r>
            <a:endParaRPr lang="en-US" sz="2800" dirty="0"/>
          </a:p>
        </p:txBody>
      </p:sp>
      <p:sp>
        <p:nvSpPr>
          <p:cNvPr id="4" name="Shape 2"/>
          <p:cNvSpPr/>
          <p:nvPr/>
        </p:nvSpPr>
        <p:spPr>
          <a:xfrm>
            <a:off x="815975" y="1666587"/>
            <a:ext cx="2559050" cy="1035303"/>
          </a:xfrm>
          <a:prstGeom prst="roundRect">
            <a:avLst>
              <a:gd name="adj" fmla="val 7053"/>
            </a:avLst>
          </a:prstGeom>
          <a:solidFill>
            <a:srgbClr val="FDFCFA"/>
          </a:solidFill>
          <a:ln w="6350">
            <a:solidFill>
              <a:srgbClr val="DDD8CE"/>
            </a:solidFill>
            <a:prstDash val="solid"/>
          </a:ln>
        </p:spPr>
      </p:sp>
      <p:sp>
        <p:nvSpPr>
          <p:cNvPr id="5" name="Text 3"/>
          <p:cNvSpPr/>
          <p:nvPr/>
        </p:nvSpPr>
        <p:spPr>
          <a:xfrm>
            <a:off x="969818" y="1795030"/>
            <a:ext cx="2318905" cy="279653"/>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A8"/>
                </a:solidFill>
                <a:latin typeface="Prompt" pitchFamily="34" charset="0"/>
                <a:ea typeface="Prompt" pitchFamily="34" charset="-122"/>
                <a:cs typeface="Prompt" pitchFamily="34" charset="-120"/>
              </a:rPr>
              <a:t>การผลิต</a:t>
            </a:r>
            <a:endParaRPr lang="en-US" sz="1400" dirty="0"/>
          </a:p>
        </p:txBody>
      </p:sp>
      <p:sp>
        <p:nvSpPr>
          <p:cNvPr id="6" name="Text 4"/>
          <p:cNvSpPr/>
          <p:nvPr/>
        </p:nvSpPr>
        <p:spPr>
          <a:xfrm>
            <a:off x="969818" y="2087383"/>
            <a:ext cx="2318905"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จำนวนผลิต 100–999 หน่วย</a:t>
            </a:r>
            <a:endParaRPr lang="en-US" sz="1200" dirty="0"/>
          </a:p>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ต้นทุน $5,000–19,993</a:t>
            </a:r>
            <a:endParaRPr lang="en-US" sz="1200" dirty="0"/>
          </a:p>
        </p:txBody>
      </p:sp>
      <p:sp>
        <p:nvSpPr>
          <p:cNvPr id="7" name="Shape 5"/>
          <p:cNvSpPr/>
          <p:nvPr/>
        </p:nvSpPr>
        <p:spPr>
          <a:xfrm>
            <a:off x="3482975" y="1666587"/>
            <a:ext cx="2559050" cy="1035303"/>
          </a:xfrm>
          <a:prstGeom prst="roundRect">
            <a:avLst>
              <a:gd name="adj" fmla="val 7053"/>
            </a:avLst>
          </a:prstGeom>
          <a:solidFill>
            <a:srgbClr val="FDFCFA"/>
          </a:solidFill>
          <a:ln w="6350">
            <a:solidFill>
              <a:srgbClr val="DDD8CE"/>
            </a:solidFill>
            <a:prstDash val="solid"/>
          </a:ln>
        </p:spPr>
      </p:sp>
      <p:sp>
        <p:nvSpPr>
          <p:cNvPr id="8" name="Text 6"/>
          <p:cNvSpPr/>
          <p:nvPr/>
        </p:nvSpPr>
        <p:spPr>
          <a:xfrm>
            <a:off x="3636818" y="1795030"/>
            <a:ext cx="2318905" cy="279653"/>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A8"/>
                </a:solidFill>
                <a:latin typeface="Prompt" pitchFamily="34" charset="0"/>
                <a:ea typeface="Prompt" pitchFamily="34" charset="-122"/>
                <a:cs typeface="Prompt" pitchFamily="34" charset="-120"/>
              </a:rPr>
              <a:t>ซัพพลายเชน</a:t>
            </a:r>
            <a:endParaRPr lang="en-US" sz="1400" dirty="0"/>
          </a:p>
        </p:txBody>
      </p:sp>
      <p:sp>
        <p:nvSpPr>
          <p:cNvPr id="9" name="Text 7"/>
          <p:cNvSpPr/>
          <p:nvPr/>
        </p:nvSpPr>
        <p:spPr>
          <a:xfrm>
            <a:off x="3636818" y="2087383"/>
            <a:ext cx="2318905"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คุณภาพ supplier 80–100%</a:t>
            </a:r>
            <a:endParaRPr lang="en-US" sz="1200" dirty="0"/>
          </a:p>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ส่งวัตถุดิบช้า 0–5 วัน</a:t>
            </a:r>
            <a:endParaRPr lang="en-US" sz="1200" dirty="0"/>
          </a:p>
        </p:txBody>
      </p:sp>
      <p:sp>
        <p:nvSpPr>
          <p:cNvPr id="10" name="Shape 8"/>
          <p:cNvSpPr/>
          <p:nvPr/>
        </p:nvSpPr>
        <p:spPr>
          <a:xfrm>
            <a:off x="6149975" y="1666587"/>
            <a:ext cx="2559050" cy="1035303"/>
          </a:xfrm>
          <a:prstGeom prst="roundRect">
            <a:avLst>
              <a:gd name="adj" fmla="val 7053"/>
            </a:avLst>
          </a:prstGeom>
          <a:solidFill>
            <a:srgbClr val="FDFCFA"/>
          </a:solidFill>
          <a:ln w="6350">
            <a:solidFill>
              <a:srgbClr val="DDD8CE"/>
            </a:solidFill>
            <a:prstDash val="solid"/>
          </a:ln>
        </p:spPr>
      </p:sp>
      <p:sp>
        <p:nvSpPr>
          <p:cNvPr id="11" name="Text 9"/>
          <p:cNvSpPr/>
          <p:nvPr/>
        </p:nvSpPr>
        <p:spPr>
          <a:xfrm>
            <a:off x="6303818" y="1795030"/>
            <a:ext cx="2318905" cy="279653"/>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04E0A"/>
                </a:solidFill>
                <a:latin typeface="Prompt" pitchFamily="34" charset="0"/>
                <a:ea typeface="Prompt" pitchFamily="34" charset="-122"/>
                <a:cs typeface="Prompt" pitchFamily="34" charset="-120"/>
              </a:rPr>
              <a:t>คุณภาพ</a:t>
            </a:r>
            <a:endParaRPr lang="en-US" sz="1400" dirty="0"/>
          </a:p>
        </p:txBody>
      </p:sp>
      <p:sp>
        <p:nvSpPr>
          <p:cNvPr id="12" name="Text 10"/>
          <p:cNvSpPr/>
          <p:nvPr/>
        </p:nvSpPr>
        <p:spPr>
          <a:xfrm>
            <a:off x="6303818" y="2087383"/>
            <a:ext cx="2318905"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ของเสีย 0.5–5 ต่อ 1,000 หน่วย</a:t>
            </a:r>
            <a:endParaRPr lang="en-US" sz="1200" dirty="0"/>
          </a:p>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คะแนนคุณภาพ 60–100</a:t>
            </a:r>
            <a:endParaRPr lang="en-US" sz="1200" dirty="0"/>
          </a:p>
        </p:txBody>
      </p:sp>
      <p:sp>
        <p:nvSpPr>
          <p:cNvPr id="13" name="Shape 11"/>
          <p:cNvSpPr/>
          <p:nvPr/>
        </p:nvSpPr>
        <p:spPr>
          <a:xfrm>
            <a:off x="8816975" y="1666587"/>
            <a:ext cx="2559050" cy="1035303"/>
          </a:xfrm>
          <a:prstGeom prst="roundRect">
            <a:avLst>
              <a:gd name="adj" fmla="val 7053"/>
            </a:avLst>
          </a:prstGeom>
          <a:solidFill>
            <a:srgbClr val="FDFCFA"/>
          </a:solidFill>
          <a:ln w="6350">
            <a:solidFill>
              <a:srgbClr val="DDD8CE"/>
            </a:solidFill>
            <a:prstDash val="solid"/>
          </a:ln>
        </p:spPr>
      </p:sp>
      <p:sp>
        <p:nvSpPr>
          <p:cNvPr id="14" name="Text 12"/>
          <p:cNvSpPr/>
          <p:nvPr/>
        </p:nvSpPr>
        <p:spPr>
          <a:xfrm>
            <a:off x="8970818" y="1795030"/>
            <a:ext cx="2318905" cy="279653"/>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A8"/>
                </a:solidFill>
                <a:latin typeface="Prompt" pitchFamily="34" charset="0"/>
                <a:ea typeface="Prompt" pitchFamily="34" charset="-122"/>
                <a:cs typeface="Prompt" pitchFamily="34" charset="-120"/>
              </a:rPr>
              <a:t>ซ่อมบำรุง</a:t>
            </a:r>
            <a:endParaRPr lang="en-US" sz="1400" dirty="0"/>
          </a:p>
        </p:txBody>
      </p:sp>
      <p:sp>
        <p:nvSpPr>
          <p:cNvPr id="15" name="Text 13"/>
          <p:cNvSpPr/>
          <p:nvPr/>
        </p:nvSpPr>
        <p:spPr>
          <a:xfrm>
            <a:off x="8970818" y="2087383"/>
            <a:ext cx="2318905"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ชั่วโมงซ่อม 0–23 ชม./สัปดาห์</a:t>
            </a:r>
            <a:endParaRPr lang="en-US" sz="1200" dirty="0"/>
          </a:p>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เครื่องหยุด 0–5% ของเวลา</a:t>
            </a:r>
            <a:endParaRPr lang="en-US" sz="1200" dirty="0"/>
          </a:p>
        </p:txBody>
      </p:sp>
      <p:sp>
        <p:nvSpPr>
          <p:cNvPr id="16" name="Shape 14"/>
          <p:cNvSpPr/>
          <p:nvPr/>
        </p:nvSpPr>
        <p:spPr>
          <a:xfrm>
            <a:off x="815975" y="2809839"/>
            <a:ext cx="2559050" cy="1035303"/>
          </a:xfrm>
          <a:prstGeom prst="roundRect">
            <a:avLst>
              <a:gd name="adj" fmla="val 7053"/>
            </a:avLst>
          </a:prstGeom>
          <a:solidFill>
            <a:srgbClr val="FDFCFA"/>
          </a:solidFill>
          <a:ln w="6350">
            <a:solidFill>
              <a:srgbClr val="DDD8CE"/>
            </a:solidFill>
            <a:prstDash val="solid"/>
          </a:ln>
        </p:spPr>
      </p:sp>
      <p:sp>
        <p:nvSpPr>
          <p:cNvPr id="17" name="Text 15"/>
          <p:cNvSpPr/>
          <p:nvPr/>
        </p:nvSpPr>
        <p:spPr>
          <a:xfrm>
            <a:off x="969818" y="2938283"/>
            <a:ext cx="2318905" cy="279653"/>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A8"/>
                </a:solidFill>
                <a:latin typeface="Prompt" pitchFamily="34" charset="0"/>
                <a:ea typeface="Prompt" pitchFamily="34" charset="-122"/>
                <a:cs typeface="Prompt" pitchFamily="34" charset="-120"/>
              </a:rPr>
              <a:t>คลังสินค้า</a:t>
            </a:r>
            <a:endParaRPr lang="en-US" sz="1400" dirty="0"/>
          </a:p>
        </p:txBody>
      </p:sp>
      <p:sp>
        <p:nvSpPr>
          <p:cNvPr id="18" name="Text 16"/>
          <p:cNvSpPr/>
          <p:nvPr/>
        </p:nvSpPr>
        <p:spPr>
          <a:xfrm>
            <a:off x="969818" y="3230635"/>
            <a:ext cx="2318905"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อัตราหมุนเวียน 2–10 รอบ</a:t>
            </a:r>
            <a:endParaRPr lang="en-US" sz="1200" dirty="0"/>
          </a:p>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สินค้าขาดสต็อก 0–10%</a:t>
            </a:r>
            <a:endParaRPr lang="en-US" sz="1200" dirty="0"/>
          </a:p>
        </p:txBody>
      </p:sp>
      <p:sp>
        <p:nvSpPr>
          <p:cNvPr id="19" name="Shape 17"/>
          <p:cNvSpPr/>
          <p:nvPr/>
        </p:nvSpPr>
        <p:spPr>
          <a:xfrm>
            <a:off x="3482975" y="2809839"/>
            <a:ext cx="2559050" cy="1035303"/>
          </a:xfrm>
          <a:prstGeom prst="roundRect">
            <a:avLst>
              <a:gd name="adj" fmla="val 7053"/>
            </a:avLst>
          </a:prstGeom>
          <a:solidFill>
            <a:srgbClr val="FDFCFA"/>
          </a:solidFill>
          <a:ln w="6350">
            <a:solidFill>
              <a:srgbClr val="DDD8CE"/>
            </a:solidFill>
            <a:prstDash val="solid"/>
          </a:ln>
        </p:spPr>
      </p:sp>
      <p:sp>
        <p:nvSpPr>
          <p:cNvPr id="20" name="Text 18"/>
          <p:cNvSpPr/>
          <p:nvPr/>
        </p:nvSpPr>
        <p:spPr>
          <a:xfrm>
            <a:off x="3636818" y="2938283"/>
            <a:ext cx="2318905" cy="279653"/>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A8"/>
                </a:solidFill>
                <a:latin typeface="Prompt" pitchFamily="34" charset="0"/>
                <a:ea typeface="Prompt" pitchFamily="34" charset="-122"/>
                <a:cs typeface="Prompt" pitchFamily="34" charset="-120"/>
              </a:rPr>
              <a:t>แรงงาน/ความปลอดภัย</a:t>
            </a:r>
            <a:endParaRPr lang="en-US" sz="1400" dirty="0"/>
          </a:p>
        </p:txBody>
      </p:sp>
      <p:sp>
        <p:nvSpPr>
          <p:cNvPr id="21" name="Text 19"/>
          <p:cNvSpPr/>
          <p:nvPr/>
        </p:nvSpPr>
        <p:spPr>
          <a:xfrm>
            <a:off x="3636818" y="3230635"/>
            <a:ext cx="2318905"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ผลิตภาพแรงงาน 80–100%</a:t>
            </a:r>
            <a:endParaRPr lang="en-US" sz="1200" dirty="0"/>
          </a:p>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อุบัติเหตุ 0–9 ครั้ง</a:t>
            </a:r>
            <a:endParaRPr lang="en-US" sz="1200" dirty="0"/>
          </a:p>
        </p:txBody>
      </p:sp>
      <p:sp>
        <p:nvSpPr>
          <p:cNvPr id="22" name="Shape 20"/>
          <p:cNvSpPr/>
          <p:nvPr/>
        </p:nvSpPr>
        <p:spPr>
          <a:xfrm>
            <a:off x="6149975" y="2809839"/>
            <a:ext cx="2559050" cy="1035303"/>
          </a:xfrm>
          <a:prstGeom prst="roundRect">
            <a:avLst>
              <a:gd name="adj" fmla="val 7053"/>
            </a:avLst>
          </a:prstGeom>
          <a:solidFill>
            <a:srgbClr val="FDFCFA"/>
          </a:solidFill>
          <a:ln w="6350">
            <a:solidFill>
              <a:srgbClr val="DDD8CE"/>
            </a:solidFill>
            <a:prstDash val="solid"/>
          </a:ln>
        </p:spPr>
      </p:sp>
      <p:sp>
        <p:nvSpPr>
          <p:cNvPr id="23" name="Text 21"/>
          <p:cNvSpPr/>
          <p:nvPr/>
        </p:nvSpPr>
        <p:spPr>
          <a:xfrm>
            <a:off x="6303818" y="2938283"/>
            <a:ext cx="2318905" cy="279653"/>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A8"/>
                </a:solidFill>
                <a:latin typeface="Prompt" pitchFamily="34" charset="0"/>
                <a:ea typeface="Prompt" pitchFamily="34" charset="-122"/>
                <a:cs typeface="Prompt" pitchFamily="34" charset="-120"/>
              </a:rPr>
              <a:t>พลังงาน</a:t>
            </a:r>
            <a:endParaRPr lang="en-US" sz="1400" dirty="0"/>
          </a:p>
        </p:txBody>
      </p:sp>
      <p:sp>
        <p:nvSpPr>
          <p:cNvPr id="24" name="Text 22"/>
          <p:cNvSpPr/>
          <p:nvPr/>
        </p:nvSpPr>
        <p:spPr>
          <a:xfrm>
            <a:off x="6303818" y="3230635"/>
            <a:ext cx="2318905"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ใช้ไฟ 1,001–4,997 kWh</a:t>
            </a:r>
            <a:endParaRPr lang="en-US" sz="1200" dirty="0"/>
          </a:p>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ประสิทธิภาพ 0.1–0.5</a:t>
            </a:r>
            <a:endParaRPr lang="en-US" sz="1200" dirty="0"/>
          </a:p>
        </p:txBody>
      </p:sp>
      <p:sp>
        <p:nvSpPr>
          <p:cNvPr id="25" name="Shape 23"/>
          <p:cNvSpPr/>
          <p:nvPr/>
        </p:nvSpPr>
        <p:spPr>
          <a:xfrm>
            <a:off x="8816975" y="2809839"/>
            <a:ext cx="2559050" cy="1035303"/>
          </a:xfrm>
          <a:prstGeom prst="roundRect">
            <a:avLst>
              <a:gd name="adj" fmla="val 7053"/>
            </a:avLst>
          </a:prstGeom>
          <a:solidFill>
            <a:srgbClr val="FDFCFA"/>
          </a:solidFill>
          <a:ln w="6350">
            <a:solidFill>
              <a:srgbClr val="DDD8CE"/>
            </a:solidFill>
            <a:prstDash val="solid"/>
          </a:ln>
        </p:spPr>
      </p:sp>
      <p:sp>
        <p:nvSpPr>
          <p:cNvPr id="26" name="Text 24"/>
          <p:cNvSpPr/>
          <p:nvPr/>
        </p:nvSpPr>
        <p:spPr>
          <a:xfrm>
            <a:off x="8970818" y="2938283"/>
            <a:ext cx="2318905" cy="279653"/>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A8"/>
                </a:solidFill>
                <a:latin typeface="Prompt" pitchFamily="34" charset="0"/>
                <a:ea typeface="Prompt" pitchFamily="34" charset="-122"/>
                <a:cs typeface="Prompt" pitchFamily="34" charset="-120"/>
              </a:rPr>
              <a:t>Additive (พิมพ์ 3 มิติ)</a:t>
            </a:r>
            <a:endParaRPr lang="en-US" sz="1400" dirty="0"/>
          </a:p>
        </p:txBody>
      </p:sp>
      <p:sp>
        <p:nvSpPr>
          <p:cNvPr id="27" name="Text 25"/>
          <p:cNvSpPr/>
          <p:nvPr/>
        </p:nvSpPr>
        <p:spPr>
          <a:xfrm>
            <a:off x="8970818" y="3230635"/>
            <a:ext cx="2318905"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เวลาผลิต 1–10 ชม.</a:t>
            </a:r>
            <a:endParaRPr lang="en-US" sz="1200" dirty="0"/>
          </a:p>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ค่าวัสดุ $100–500</a:t>
            </a:r>
            <a:endParaRPr lang="en-US" sz="1200" dirty="0"/>
          </a:p>
        </p:txBody>
      </p:sp>
      <p:sp>
        <p:nvSpPr>
          <p:cNvPr id="28" name="Shape 26"/>
          <p:cNvSpPr/>
          <p:nvPr/>
        </p:nvSpPr>
        <p:spPr>
          <a:xfrm>
            <a:off x="812800" y="4026117"/>
            <a:ext cx="10566400" cy="568145"/>
          </a:xfrm>
          <a:prstGeom prst="roundRect">
            <a:avLst>
              <a:gd name="adj" fmla="val 13412"/>
            </a:avLst>
          </a:prstGeom>
          <a:solidFill>
            <a:srgbClr val="1B2430"/>
          </a:solidFill>
          <a:ln/>
        </p:spPr>
      </p:sp>
      <p:sp>
        <p:nvSpPr>
          <p:cNvPr id="29" name="Text 27"/>
          <p:cNvSpPr/>
          <p:nvPr/>
        </p:nvSpPr>
        <p:spPr>
          <a:xfrm>
            <a:off x="1016000" y="4183063"/>
            <a:ext cx="1739106"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nuphan" pitchFamily="34" charset="0"/>
                <a:ea typeface="Anuphan" pitchFamily="34" charset="-122"/>
                <a:cs typeface="Anuphan" pitchFamily="34" charset="-120"/>
              </a:rPr>
              <a:t>สิ่งที่อยากรู้ (Target)</a:t>
            </a:r>
            <a:endParaRPr lang="en-US" sz="1300" dirty="0"/>
          </a:p>
        </p:txBody>
      </p:sp>
      <p:sp>
        <p:nvSpPr>
          <p:cNvPr id="30" name="Text 28"/>
          <p:cNvSpPr/>
          <p:nvPr/>
        </p:nvSpPr>
        <p:spPr>
          <a:xfrm>
            <a:off x="2755106" y="4178517"/>
            <a:ext cx="8624094" cy="2887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4EF"/>
                </a:solidFill>
                <a:latin typeface="Anuphan" pitchFamily="34" charset="0"/>
                <a:ea typeface="Anuphan" pitchFamily="34" charset="-122"/>
                <a:cs typeface="Anuphan" pitchFamily="34" charset="-120"/>
              </a:rPr>
              <a:t>Defect Status: </a:t>
            </a:r>
            <a:r>
              <a:rPr lang="en-US" sz="1300" b="1" dirty="0">
                <a:solidFill>
                  <a:srgbClr val="F6F4EF"/>
                </a:solidFill>
                <a:latin typeface="Anuphan" pitchFamily="34" charset="0"/>
                <a:ea typeface="Anuphan" pitchFamily="34" charset="-122"/>
                <a:cs typeface="Anuphan" pitchFamily="34" charset="-120"/>
              </a:rPr>
              <a:t>1 = High defect</a:t>
            </a:r>
            <a:r>
              <a:rPr lang="en-US" sz="1300" dirty="0">
                <a:solidFill>
                  <a:srgbClr val="F6F4EF"/>
                </a:solidFill>
                <a:latin typeface="Anuphan" pitchFamily="34" charset="0"/>
                <a:ea typeface="Anuphan" pitchFamily="34" charset="-122"/>
                <a:cs typeface="Anuphan" pitchFamily="34" charset="-120"/>
              </a:rPr>
              <a:t> 2,723 batch (84.04%) · </a:t>
            </a:r>
            <a:r>
              <a:rPr lang="en-US" sz="1300" b="1" dirty="0">
                <a:solidFill>
                  <a:srgbClr val="F6F4EF"/>
                </a:solidFill>
                <a:latin typeface="Anuphan" pitchFamily="34" charset="0"/>
                <a:ea typeface="Anuphan" pitchFamily="34" charset="-122"/>
                <a:cs typeface="Anuphan" pitchFamily="34" charset="-120"/>
              </a:rPr>
              <a:t>0 = Low defect</a:t>
            </a:r>
            <a:r>
              <a:rPr lang="en-US" sz="1300" dirty="0">
                <a:solidFill>
                  <a:srgbClr val="F6F4EF"/>
                </a:solidFill>
                <a:latin typeface="Anuphan" pitchFamily="34" charset="0"/>
                <a:ea typeface="Anuphan" pitchFamily="34" charset="-122"/>
                <a:cs typeface="Anuphan" pitchFamily="34" charset="-120"/>
              </a:rPr>
              <a:t> 517 batch (15.96%)</a:t>
            </a:r>
            <a:endParaRPr lang="en-US" sz="1300" dirty="0"/>
          </a:p>
        </p:txBody>
      </p:sp>
      <p:sp>
        <p:nvSpPr>
          <p:cNvPr id="31" name="Text 29"/>
          <p:cNvSpPr/>
          <p:nvPr/>
        </p:nvSpPr>
        <p:spPr>
          <a:xfrm>
            <a:off x="812800" y="4772062"/>
            <a:ext cx="10883392" cy="26843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ตรวจแล้วไม่พบค่าว่างและไม่พบแถวซ้ำ · ข้อสังเกต: ข้อมูลไม่สมดุล เพราะเกือบทุก batch เป็น High defect</a:t>
            </a:r>
            <a:endParaRPr lang="en-US" sz="1200" dirty="0"/>
          </a:p>
        </p:txBody>
      </p:sp>
      <p:sp>
        <p:nvSpPr>
          <p:cNvPr id="32" name="Text 30"/>
          <p:cNvSpPr/>
          <p:nvPr/>
        </p:nvSpPr>
        <p:spPr>
          <a:xfrm>
            <a:off x="812800" y="621693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3" name="Text 31"/>
          <p:cNvSpPr/>
          <p:nvPr/>
        </p:nvSpPr>
        <p:spPr>
          <a:xfrm>
            <a:off x="10058400" y="621693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04 / 27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02 · DATA PIPELINE</a:t>
            </a:r>
            <a:endParaRPr lang="en-US" sz="1200" dirty="0"/>
          </a:p>
        </p:txBody>
      </p:sp>
      <p:sp>
        <p:nvSpPr>
          <p:cNvPr id="3" name="Text 1"/>
          <p:cNvSpPr/>
          <p:nvPr>
            <p:ph type="title"/>
          </p:nvPr>
        </p:nvSpPr>
        <p:spPr>
          <a:xfrm>
            <a:off x="812800" y="996662"/>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Medallion Architecture: Bronze → Silver → Gold</a:t>
            </a:r>
            <a:endParaRPr lang="en-US" sz="2800" dirty="0"/>
          </a:p>
        </p:txBody>
      </p:sp>
      <p:sp>
        <p:nvSpPr>
          <p:cNvPr id="4" name="Shape 2"/>
          <p:cNvSpPr/>
          <p:nvPr/>
        </p:nvSpPr>
        <p:spPr>
          <a:xfrm>
            <a:off x="815975" y="1742787"/>
            <a:ext cx="1783629" cy="1905505"/>
          </a:xfrm>
          <a:prstGeom prst="roundRect">
            <a:avLst>
              <a:gd name="adj" fmla="val 4094"/>
            </a:avLst>
          </a:prstGeom>
          <a:solidFill>
            <a:srgbClr val="FDFCFA"/>
          </a:solidFill>
          <a:ln w="6350">
            <a:solidFill>
              <a:srgbClr val="DDD8CE"/>
            </a:solidFill>
            <a:prstDash val="solid"/>
          </a:ln>
        </p:spPr>
      </p:sp>
      <p:sp>
        <p:nvSpPr>
          <p:cNvPr id="5" name="Text 3"/>
          <p:cNvSpPr/>
          <p:nvPr/>
        </p:nvSpPr>
        <p:spPr>
          <a:xfrm>
            <a:off x="969818" y="1896632"/>
            <a:ext cx="1526742"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ไฟล์ CSV</a:t>
            </a:r>
            <a:endParaRPr lang="en-US" sz="1500" dirty="0"/>
          </a:p>
        </p:txBody>
      </p:sp>
      <p:sp>
        <p:nvSpPr>
          <p:cNvPr id="6" name="Text 4"/>
          <p:cNvSpPr/>
          <p:nvPr/>
        </p:nvSpPr>
        <p:spPr>
          <a:xfrm>
            <a:off x="969818" y="2232530"/>
            <a:ext cx="1526742"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ไฟล์ใหม่ถูกวางในโฟลเดอร์รับข้อมูล (landing)</a:t>
            </a:r>
            <a:endParaRPr lang="en-US" sz="1200" dirty="0"/>
          </a:p>
        </p:txBody>
      </p:sp>
      <p:pic>
        <p:nvPicPr>
          <p:cNvPr id="7" name="Image 0" descr="arrow-right">    </p:cNvPr>
          <p:cNvPicPr>
            <a:picLocks noChangeAspect="1"/>
          </p:cNvPicPr>
          <p:nvPr/>
        </p:nvPicPr>
        <p:blipFill>
          <a:blip r:embed="rId1"/>
          <a:srcRect l="0" r="0" t="0" b="0"/>
          <a:stretch/>
        </p:blipFill>
        <p:spPr>
          <a:xfrm>
            <a:off x="2678979" y="2632041"/>
            <a:ext cx="254000" cy="127000"/>
          </a:xfrm>
          <a:prstGeom prst="rect">
            <a:avLst/>
          </a:prstGeom>
        </p:spPr>
      </p:pic>
      <p:sp>
        <p:nvSpPr>
          <p:cNvPr id="8" name="Shape 5"/>
          <p:cNvSpPr/>
          <p:nvPr/>
        </p:nvSpPr>
        <p:spPr>
          <a:xfrm>
            <a:off x="3012354" y="1742787"/>
            <a:ext cx="1783665" cy="1905505"/>
          </a:xfrm>
          <a:prstGeom prst="roundRect">
            <a:avLst>
              <a:gd name="adj" fmla="val 4094"/>
            </a:avLst>
          </a:prstGeom>
          <a:solidFill>
            <a:srgbClr val="FDFCFA"/>
          </a:solidFill>
          <a:ln w="6350">
            <a:solidFill>
              <a:srgbClr val="DDD8CE"/>
            </a:solidFill>
            <a:prstDash val="solid"/>
          </a:ln>
        </p:spPr>
      </p:sp>
      <p:sp>
        <p:nvSpPr>
          <p:cNvPr id="9" name="Text 6"/>
          <p:cNvSpPr/>
          <p:nvPr/>
        </p:nvSpPr>
        <p:spPr>
          <a:xfrm>
            <a:off x="3166197" y="1896632"/>
            <a:ext cx="1526778"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Bronze</a:t>
            </a:r>
            <a:endParaRPr lang="en-US" sz="1500" dirty="0"/>
          </a:p>
        </p:txBody>
      </p:sp>
      <p:sp>
        <p:nvSpPr>
          <p:cNvPr id="10" name="Text 7"/>
          <p:cNvSpPr/>
          <p:nvPr/>
        </p:nvSpPr>
        <p:spPr>
          <a:xfrm>
            <a:off x="3166197" y="2232530"/>
            <a:ext cx="1526778" cy="2600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4F2A"/>
                </a:solidFill>
                <a:latin typeface="Anuphan" pitchFamily="34" charset="0"/>
                <a:ea typeface="Anuphan" pitchFamily="34" charset="-122"/>
                <a:cs typeface="Anuphan" pitchFamily="34" charset="-120"/>
              </a:rPr>
              <a:t>Raw data</a:t>
            </a:r>
            <a:endParaRPr lang="en-US" sz="1200" dirty="0"/>
          </a:p>
        </p:txBody>
      </p:sp>
      <p:sp>
        <p:nvSpPr>
          <p:cNvPr id="11" name="Text 8"/>
          <p:cNvSpPr/>
          <p:nvPr/>
        </p:nvSpPr>
        <p:spPr>
          <a:xfrm>
            <a:off x="3166197" y="2530692"/>
            <a:ext cx="1526778"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เก็บของดิบตามต้นฉบับ ไว้ย้อนตรวจได้เสมอ</a:t>
            </a:r>
            <a:endParaRPr lang="en-US" sz="1200" dirty="0"/>
          </a:p>
        </p:txBody>
      </p:sp>
      <p:pic>
        <p:nvPicPr>
          <p:cNvPr id="12" name="Image 1" descr="arrow-right">    </p:cNvPr>
          <p:cNvPicPr>
            <a:picLocks noChangeAspect="1"/>
          </p:cNvPicPr>
          <p:nvPr/>
        </p:nvPicPr>
        <p:blipFill>
          <a:blip r:embed="rId2"/>
          <a:srcRect l="0" r="0" t="0" b="0"/>
          <a:stretch/>
        </p:blipFill>
        <p:spPr>
          <a:xfrm>
            <a:off x="4875393" y="2632041"/>
            <a:ext cx="254000" cy="127000"/>
          </a:xfrm>
          <a:prstGeom prst="rect">
            <a:avLst/>
          </a:prstGeom>
        </p:spPr>
      </p:pic>
      <p:sp>
        <p:nvSpPr>
          <p:cNvPr id="13" name="Shape 9"/>
          <p:cNvSpPr/>
          <p:nvPr/>
        </p:nvSpPr>
        <p:spPr>
          <a:xfrm>
            <a:off x="5208768" y="1742787"/>
            <a:ext cx="1783665" cy="1905505"/>
          </a:xfrm>
          <a:prstGeom prst="roundRect">
            <a:avLst>
              <a:gd name="adj" fmla="val 4094"/>
            </a:avLst>
          </a:prstGeom>
          <a:solidFill>
            <a:srgbClr val="FDFCFA"/>
          </a:solidFill>
          <a:ln w="6350">
            <a:solidFill>
              <a:srgbClr val="DDD8CE"/>
            </a:solidFill>
            <a:prstDash val="solid"/>
          </a:ln>
        </p:spPr>
      </p:sp>
      <p:sp>
        <p:nvSpPr>
          <p:cNvPr id="14" name="Text 10"/>
          <p:cNvSpPr/>
          <p:nvPr/>
        </p:nvSpPr>
        <p:spPr>
          <a:xfrm>
            <a:off x="5362611" y="1896632"/>
            <a:ext cx="1526778"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Silver</a:t>
            </a:r>
            <a:endParaRPr lang="en-US" sz="1500" dirty="0"/>
          </a:p>
        </p:txBody>
      </p:sp>
      <p:sp>
        <p:nvSpPr>
          <p:cNvPr id="15" name="Text 11"/>
          <p:cNvSpPr/>
          <p:nvPr/>
        </p:nvSpPr>
        <p:spPr>
          <a:xfrm>
            <a:off x="5362611" y="2232530"/>
            <a:ext cx="1526778" cy="494723"/>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5966"/>
                </a:solidFill>
                <a:latin typeface="Anuphan" pitchFamily="34" charset="0"/>
                <a:ea typeface="Anuphan" pitchFamily="34" charset="-122"/>
                <a:cs typeface="Anuphan" pitchFamily="34" charset="-120"/>
              </a:rPr>
              <a:t>Cleansed &amp; validated</a:t>
            </a:r>
            <a:endParaRPr lang="en-US" sz="1200" dirty="0"/>
          </a:p>
        </p:txBody>
      </p:sp>
      <p:sp>
        <p:nvSpPr>
          <p:cNvPr id="16" name="Text 12"/>
          <p:cNvSpPr/>
          <p:nvPr/>
        </p:nvSpPr>
        <p:spPr>
          <a:xfrm>
            <a:off x="5362611" y="2765354"/>
            <a:ext cx="1526778"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ทำความสะอาด ตรวจคุณภาพ แยกของเสียออก</a:t>
            </a:r>
            <a:endParaRPr lang="en-US" sz="1200" dirty="0"/>
          </a:p>
        </p:txBody>
      </p:sp>
      <p:pic>
        <p:nvPicPr>
          <p:cNvPr id="17" name="Image 2" descr="arrow-right">    </p:cNvPr>
          <p:cNvPicPr>
            <a:picLocks noChangeAspect="1"/>
          </p:cNvPicPr>
          <p:nvPr/>
        </p:nvPicPr>
        <p:blipFill>
          <a:blip r:embed="rId3"/>
          <a:srcRect l="0" r="0" t="0" b="0"/>
          <a:stretch/>
        </p:blipFill>
        <p:spPr>
          <a:xfrm>
            <a:off x="7071808" y="2632041"/>
            <a:ext cx="254000" cy="127000"/>
          </a:xfrm>
          <a:prstGeom prst="rect">
            <a:avLst/>
          </a:prstGeom>
        </p:spPr>
      </p:pic>
      <p:sp>
        <p:nvSpPr>
          <p:cNvPr id="18" name="Shape 13"/>
          <p:cNvSpPr/>
          <p:nvPr/>
        </p:nvSpPr>
        <p:spPr>
          <a:xfrm>
            <a:off x="7405183" y="1742787"/>
            <a:ext cx="1783665" cy="1905505"/>
          </a:xfrm>
          <a:prstGeom prst="roundRect">
            <a:avLst>
              <a:gd name="adj" fmla="val 4094"/>
            </a:avLst>
          </a:prstGeom>
          <a:solidFill>
            <a:srgbClr val="FDFCFA"/>
          </a:solidFill>
          <a:ln w="6350">
            <a:solidFill>
              <a:srgbClr val="DDD8CE"/>
            </a:solidFill>
            <a:prstDash val="solid"/>
          </a:ln>
        </p:spPr>
      </p:sp>
      <p:sp>
        <p:nvSpPr>
          <p:cNvPr id="19" name="Text 14"/>
          <p:cNvSpPr/>
          <p:nvPr/>
        </p:nvSpPr>
        <p:spPr>
          <a:xfrm>
            <a:off x="7559025" y="1896632"/>
            <a:ext cx="1526778"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Gold</a:t>
            </a:r>
            <a:endParaRPr lang="en-US" sz="1500" dirty="0"/>
          </a:p>
        </p:txBody>
      </p:sp>
      <p:sp>
        <p:nvSpPr>
          <p:cNvPr id="20" name="Text 15"/>
          <p:cNvSpPr/>
          <p:nvPr/>
        </p:nvSpPr>
        <p:spPr>
          <a:xfrm>
            <a:off x="7559025" y="2232530"/>
            <a:ext cx="1526778" cy="2600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D6414"/>
                </a:solidFill>
                <a:latin typeface="Anuphan" pitchFamily="34" charset="0"/>
                <a:ea typeface="Anuphan" pitchFamily="34" charset="-122"/>
                <a:cs typeface="Anuphan" pitchFamily="34" charset="-120"/>
              </a:rPr>
              <a:t>Business-ready</a:t>
            </a:r>
            <a:endParaRPr lang="en-US" sz="1200" dirty="0"/>
          </a:p>
        </p:txBody>
      </p:sp>
      <p:sp>
        <p:nvSpPr>
          <p:cNvPr id="21" name="Text 16"/>
          <p:cNvSpPr/>
          <p:nvPr/>
        </p:nvSpPr>
        <p:spPr>
          <a:xfrm>
            <a:off x="7559025" y="2530692"/>
            <a:ext cx="1526778"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แยก 6 ตารางตามแผนก พร้อมตารางสรุป</a:t>
            </a:r>
            <a:endParaRPr lang="en-US" sz="1200" dirty="0"/>
          </a:p>
        </p:txBody>
      </p:sp>
      <p:pic>
        <p:nvPicPr>
          <p:cNvPr id="22" name="Image 3" descr="arrow-right">    </p:cNvPr>
          <p:cNvPicPr>
            <a:picLocks noChangeAspect="1"/>
          </p:cNvPicPr>
          <p:nvPr/>
        </p:nvPicPr>
        <p:blipFill>
          <a:blip r:embed="rId4"/>
          <a:srcRect l="0" r="0" t="0" b="0"/>
          <a:stretch/>
        </p:blipFill>
        <p:spPr>
          <a:xfrm>
            <a:off x="9268222" y="2632041"/>
            <a:ext cx="254000" cy="127000"/>
          </a:xfrm>
          <a:prstGeom prst="rect">
            <a:avLst/>
          </a:prstGeom>
        </p:spPr>
      </p:pic>
      <p:sp>
        <p:nvSpPr>
          <p:cNvPr id="23" name="Shape 17"/>
          <p:cNvSpPr/>
          <p:nvPr/>
        </p:nvSpPr>
        <p:spPr>
          <a:xfrm>
            <a:off x="9598422" y="1739612"/>
            <a:ext cx="1780778" cy="1911855"/>
          </a:xfrm>
          <a:prstGeom prst="roundRect">
            <a:avLst>
              <a:gd name="adj" fmla="val 4279"/>
            </a:avLst>
          </a:prstGeom>
          <a:solidFill>
            <a:srgbClr val="1B2430"/>
          </a:solidFill>
          <a:ln/>
        </p:spPr>
      </p:sp>
      <p:sp>
        <p:nvSpPr>
          <p:cNvPr id="24" name="Text 18"/>
          <p:cNvSpPr/>
          <p:nvPr/>
        </p:nvSpPr>
        <p:spPr>
          <a:xfrm>
            <a:off x="9750822" y="1892012"/>
            <a:ext cx="1526778"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Prompt" pitchFamily="34" charset="0"/>
                <a:ea typeface="Prompt" pitchFamily="34" charset="-122"/>
                <a:cs typeface="Prompt" pitchFamily="34" charset="-120"/>
              </a:rPr>
              <a:t>ผู้ใช้งาน</a:t>
            </a:r>
            <a:endParaRPr lang="en-US" sz="1500" dirty="0"/>
          </a:p>
        </p:txBody>
      </p:sp>
      <p:sp>
        <p:nvSpPr>
          <p:cNvPr id="25" name="Text 19"/>
          <p:cNvSpPr/>
          <p:nvPr/>
        </p:nvSpPr>
        <p:spPr>
          <a:xfrm>
            <a:off x="9750822" y="2227914"/>
            <a:ext cx="1526778" cy="9975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D2DC"/>
                </a:solidFill>
                <a:latin typeface="Anuphan" pitchFamily="34" charset="0"/>
                <a:ea typeface="Anuphan" pitchFamily="34" charset="-122"/>
                <a:cs typeface="Anuphan" pitchFamily="34" charset="-120"/>
              </a:rPr>
              <a:t>ฐานข้อมูล PostgreSQL · Dashboard · โมเดล ML → Insight</a:t>
            </a:r>
            <a:endParaRPr lang="en-US" sz="1200" dirty="0"/>
          </a:p>
        </p:txBody>
      </p:sp>
      <p:sp>
        <p:nvSpPr>
          <p:cNvPr id="26" name="Shape 20"/>
          <p:cNvSpPr/>
          <p:nvPr/>
        </p:nvSpPr>
        <p:spPr>
          <a:xfrm>
            <a:off x="812800" y="3905467"/>
            <a:ext cx="10566400" cy="989301"/>
          </a:xfrm>
          <a:prstGeom prst="roundRect">
            <a:avLst>
              <a:gd name="adj" fmla="val 7702"/>
            </a:avLst>
          </a:prstGeom>
          <a:solidFill>
            <a:srgbClr val="E3ECF6"/>
          </a:solidFill>
          <a:ln/>
        </p:spPr>
      </p:sp>
      <p:sp>
        <p:nvSpPr>
          <p:cNvPr id="27" name="Text 21"/>
          <p:cNvSpPr/>
          <p:nvPr/>
        </p:nvSpPr>
        <p:spPr>
          <a:xfrm>
            <a:off x="1041400" y="4083267"/>
            <a:ext cx="10412476" cy="318763"/>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B2430"/>
                </a:solidFill>
                <a:latin typeface="Anuphan" pitchFamily="34" charset="0"/>
                <a:ea typeface="Anuphan" pitchFamily="34" charset="-122"/>
                <a:cs typeface="Anuphan" pitchFamily="34" charset="-120"/>
              </a:rPr>
              <a:t>ทุกขั้นร้อยต่อกันเป็นงานอัตโนมัติ</a:t>
            </a:r>
            <a:r>
              <a:rPr lang="en-US" sz="1400" dirty="0">
                <a:solidFill>
                  <a:srgbClr val="1B2430"/>
                </a:solidFill>
                <a:latin typeface="Anuphan" pitchFamily="34" charset="0"/>
                <a:ea typeface="Anuphan" pitchFamily="34" charset="-122"/>
                <a:cs typeface="Anuphan" pitchFamily="34" charset="-120"/>
              </a:rPr>
              <a:t> (Databricks Workflow) เริ่มทำงานเองเมื่อมีไฟล์ใหม่เข้ามา</a:t>
            </a:r>
            <a:endParaRPr lang="en-US" sz="1400" dirty="0"/>
          </a:p>
        </p:txBody>
      </p:sp>
      <p:sp>
        <p:nvSpPr>
          <p:cNvPr id="28" name="Text 22"/>
          <p:cNvSpPr/>
          <p:nvPr/>
        </p:nvSpPr>
        <p:spPr>
          <a:xfrm>
            <a:off x="1041400" y="4465529"/>
            <a:ext cx="10412476" cy="276838"/>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F5966"/>
                </a:solidFill>
                <a:latin typeface="Anuphan" pitchFamily="34" charset="0"/>
                <a:ea typeface="Anuphan" pitchFamily="34" charset="-122"/>
                <a:cs typeface="Anuphan" pitchFamily="34" charset="-120"/>
              </a:rPr>
              <a:t>เครื่องมือ: Databricks · PySpark · Delta Lake · Auto Loader · PostgreSQL 17 (Lakebase) · AI/BI Dashboard · MLflow</a:t>
            </a:r>
            <a:endParaRPr lang="en-US" sz="1200" dirty="0"/>
          </a:p>
        </p:txBody>
      </p:sp>
      <p:sp>
        <p:nvSpPr>
          <p:cNvPr id="29" name="Text 23"/>
          <p:cNvSpPr/>
          <p:nvPr/>
        </p:nvSpPr>
        <p:spPr>
          <a:xfrm>
            <a:off x="812800" y="621693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0" name="Text 24"/>
          <p:cNvSpPr/>
          <p:nvPr/>
        </p:nvSpPr>
        <p:spPr>
          <a:xfrm>
            <a:off x="10058400" y="621693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05 / 27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56886"/>
          </a:xfrm>
          <a:prstGeom prst="rect">
            <a:avLst/>
          </a:prstGeom>
          <a:noFill/>
          <a:ln/>
        </p:spPr>
        <p:txBody>
          <a:bodyPr wrap="square" lIns="0" tIns="0" rIns="0" bIns="0" rtlCol="0" anchor="t">
            <a:normAutofit/>
          </a:bodyPr>
          <a:lstStyle/>
          <a:p>
            <a:pPr algn="l" indent="0" marL="0">
              <a:lnSpc>
                <a:spcPts val="1659"/>
              </a:lnSpc>
              <a:buNone/>
            </a:pPr>
            <a:r>
              <a:rPr lang="en-US" sz="1185" b="1" spc="50" kern="0" dirty="0">
                <a:solidFill>
                  <a:srgbClr val="9C6B3F"/>
                </a:solidFill>
                <a:latin typeface="Anuphan" pitchFamily="34" charset="0"/>
                <a:ea typeface="Anuphan" pitchFamily="34" charset="-122"/>
                <a:cs typeface="Anuphan" pitchFamily="34" charset="-120"/>
              </a:rPr>
              <a:t>02 · ชั้น BRONZE</a:t>
            </a:r>
            <a:endParaRPr lang="en-US" sz="1185" dirty="0"/>
          </a:p>
        </p:txBody>
      </p:sp>
      <p:sp>
        <p:nvSpPr>
          <p:cNvPr id="3" name="Text 1"/>
          <p:cNvSpPr/>
          <p:nvPr>
            <p:ph type="title"/>
          </p:nvPr>
        </p:nvSpPr>
        <p:spPr>
          <a:xfrm>
            <a:off x="812800" y="993487"/>
            <a:ext cx="10883392" cy="990239"/>
          </a:xfrm>
          <a:prstGeom prst="rect">
            <a:avLst/>
          </a:prstGeom>
          <a:noFill/>
          <a:ln/>
        </p:spPr>
        <p:txBody>
          <a:bodyPr wrap="square" lIns="0" tIns="0" rIns="0" bIns="0" rtlCol="0" anchor="t">
            <a:normAutofit/>
          </a:bodyPr>
          <a:lstStyle/>
          <a:p>
            <a:pPr algn="l" indent="0" marL="0">
              <a:lnSpc>
                <a:spcPts val="3456"/>
              </a:lnSpc>
              <a:buNone/>
            </a:pPr>
            <a:r>
              <a:rPr lang="en-US" sz="2765" b="1" i="0" dirty="0">
                <a:solidFill>
                  <a:srgbClr val="1B2430"/>
                </a:solidFill>
                <a:latin typeface="Prompt" pitchFamily="34" charset="0"/>
                <a:ea typeface="Prompt" pitchFamily="34" charset="-122"/>
                <a:cs typeface="Prompt" pitchFamily="34" charset="-120"/>
              </a:rPr>
              <a:t>Bronze: เก็บข้อมูลดิบให้เหมือนต้นฉบับ พร้อม ingestion metadata</a:t>
            </a:r>
            <a:endParaRPr lang="en-US" sz="2765" dirty="0"/>
          </a:p>
        </p:txBody>
      </p:sp>
      <p:sp>
        <p:nvSpPr>
          <p:cNvPr id="4" name="Text 2"/>
          <p:cNvSpPr/>
          <p:nvPr/>
        </p:nvSpPr>
        <p:spPr>
          <a:xfrm>
            <a:off x="812800" y="2212327"/>
            <a:ext cx="5831265" cy="612126"/>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F5966"/>
                </a:solidFill>
                <a:latin typeface="Anuphan" pitchFamily="34" charset="0"/>
                <a:ea typeface="Anuphan" pitchFamily="34" charset="-122"/>
                <a:cs typeface="Anuphan" pitchFamily="34" charset="-120"/>
              </a:rPr>
              <a:t>เก็บ </a:t>
            </a:r>
            <a:r>
              <a:rPr lang="en-US" sz="1400" b="1" dirty="0">
                <a:solidFill>
                  <a:srgbClr val="1B2430"/>
                </a:solidFill>
                <a:latin typeface="Anuphan" pitchFamily="34" charset="0"/>
                <a:ea typeface="Anuphan" pitchFamily="34" charset="-122"/>
                <a:cs typeface="Anuphan" pitchFamily="34" charset="-120"/>
              </a:rPr>
              <a:t>raw data ตามต้นฉบับ</a:t>
            </a:r>
            <a:r>
              <a:rPr lang="en-US" sz="1400" dirty="0">
                <a:solidFill>
                  <a:srgbClr val="4F5966"/>
                </a:solidFill>
                <a:latin typeface="Anuphan" pitchFamily="34" charset="0"/>
                <a:ea typeface="Anuphan" pitchFamily="34" charset="-122"/>
                <a:cs typeface="Anuphan" pitchFamily="34" charset="-120"/>
              </a:rPr>
              <a:t> ถ้าสงสัยตัวเลขในชั้นถัดไป ก็ย้อนกลับมาตรวจ (audit) หรือประมวลผลใหม่ (reprocess) ได้เสมอ</a:t>
            </a:r>
            <a:endParaRPr lang="en-US" sz="1400" dirty="0"/>
          </a:p>
        </p:txBody>
      </p:sp>
      <p:pic>
        <p:nvPicPr>
          <p:cNvPr id="5" name="Image 0" descr="Check">    </p:cNvPr>
          <p:cNvPicPr>
            <a:picLocks noChangeAspect="1"/>
          </p:cNvPicPr>
          <p:nvPr/>
        </p:nvPicPr>
        <p:blipFill>
          <a:blip r:embed="rId1"/>
          <a:srcRect l="0" r="0" t="0" b="0"/>
          <a:stretch/>
        </p:blipFill>
        <p:spPr>
          <a:xfrm>
            <a:off x="812800" y="2951451"/>
            <a:ext cx="228600" cy="228600"/>
          </a:xfrm>
          <a:prstGeom prst="rect">
            <a:avLst/>
          </a:prstGeom>
        </p:spPr>
      </p:pic>
      <p:sp>
        <p:nvSpPr>
          <p:cNvPr id="6" name="Text 3"/>
          <p:cNvSpPr/>
          <p:nvPr/>
        </p:nvSpPr>
        <p:spPr>
          <a:xfrm>
            <a:off x="1143000" y="2951451"/>
            <a:ext cx="5636022" cy="2887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B2430"/>
                </a:solidFill>
                <a:latin typeface="Anuphan" pitchFamily="34" charset="0"/>
                <a:ea typeface="Anuphan" pitchFamily="34" charset="-122"/>
                <a:cs typeface="Anuphan" pitchFamily="34" charset="-120"/>
              </a:rPr>
              <a:t>อ่านทุกคอลัมน์เป็นข้อความ ไม่ตีความเอง (การแปลงชนิดไปทำที่ Silver)</a:t>
            </a:r>
            <a:endParaRPr lang="en-US" sz="1300" dirty="0"/>
          </a:p>
        </p:txBody>
      </p:sp>
      <p:pic>
        <p:nvPicPr>
          <p:cNvPr id="7" name="Image 1" descr="Check">    </p:cNvPr>
          <p:cNvPicPr>
            <a:picLocks noChangeAspect="1"/>
          </p:cNvPicPr>
          <p:nvPr/>
        </p:nvPicPr>
        <p:blipFill>
          <a:blip r:embed="rId2"/>
          <a:srcRect l="0" r="0" t="0" b="0"/>
          <a:stretch/>
        </p:blipFill>
        <p:spPr>
          <a:xfrm>
            <a:off x="812800" y="3316396"/>
            <a:ext cx="228600" cy="228600"/>
          </a:xfrm>
          <a:prstGeom prst="rect">
            <a:avLst/>
          </a:prstGeom>
        </p:spPr>
      </p:pic>
      <p:sp>
        <p:nvSpPr>
          <p:cNvPr id="8" name="Text 4"/>
          <p:cNvSpPr/>
          <p:nvPr/>
        </p:nvSpPr>
        <p:spPr>
          <a:xfrm>
            <a:off x="1143000" y="3316396"/>
            <a:ext cx="5636022" cy="2887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B2430"/>
                </a:solidFill>
                <a:latin typeface="Anuphan" pitchFamily="34" charset="0"/>
                <a:ea typeface="Anuphan" pitchFamily="34" charset="-122"/>
                <a:cs typeface="Anuphan" pitchFamily="34" charset="-120"/>
              </a:rPr>
              <a:t>ใส่ ingestion metadata ทุกแถว: มาจากไฟล์ไหน เข้ามาเมื่อไร รอบไหน</a:t>
            </a:r>
            <a:endParaRPr lang="en-US" sz="1300" dirty="0"/>
          </a:p>
        </p:txBody>
      </p:sp>
      <p:pic>
        <p:nvPicPr>
          <p:cNvPr id="9" name="Image 2" descr="Check">    </p:cNvPr>
          <p:cNvPicPr>
            <a:picLocks noChangeAspect="1"/>
          </p:cNvPicPr>
          <p:nvPr/>
        </p:nvPicPr>
        <p:blipFill>
          <a:blip r:embed="rId3"/>
          <a:srcRect l="0" r="0" t="0" b="0"/>
          <a:stretch/>
        </p:blipFill>
        <p:spPr>
          <a:xfrm>
            <a:off x="812800" y="3681341"/>
            <a:ext cx="228600" cy="228600"/>
          </a:xfrm>
          <a:prstGeom prst="rect">
            <a:avLst/>
          </a:prstGeom>
        </p:spPr>
      </p:pic>
      <p:sp>
        <p:nvSpPr>
          <p:cNvPr id="10" name="Text 5"/>
          <p:cNvSpPr/>
          <p:nvPr/>
        </p:nvSpPr>
        <p:spPr>
          <a:xfrm>
            <a:off x="1143000" y="3681341"/>
            <a:ext cx="5636022" cy="2887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B2430"/>
                </a:solidFill>
                <a:latin typeface="Anuphan" pitchFamily="34" charset="0"/>
                <a:ea typeface="Anuphan" pitchFamily="34" charset="-122"/>
                <a:cs typeface="Anuphan" pitchFamily="34" charset="-120"/>
              </a:rPr>
              <a:t>ตรวจหัวคอลัมน์ตรงตามที่คาด กันไฟล์เปลี่ยนรูปแบบ (schema drift)</a:t>
            </a:r>
            <a:endParaRPr lang="en-US" sz="1300" dirty="0"/>
          </a:p>
        </p:txBody>
      </p:sp>
      <p:pic>
        <p:nvPicPr>
          <p:cNvPr id="11" name="Image 3" descr="Check">    </p:cNvPr>
          <p:cNvPicPr>
            <a:picLocks noChangeAspect="1"/>
          </p:cNvPicPr>
          <p:nvPr/>
        </p:nvPicPr>
        <p:blipFill>
          <a:blip r:embed="rId4"/>
          <a:srcRect l="0" r="0" t="0" b="0"/>
          <a:stretch/>
        </p:blipFill>
        <p:spPr>
          <a:xfrm>
            <a:off x="812800" y="4046286"/>
            <a:ext cx="228600" cy="228600"/>
          </a:xfrm>
          <a:prstGeom prst="rect">
            <a:avLst/>
          </a:prstGeom>
        </p:spPr>
      </p:pic>
      <p:sp>
        <p:nvSpPr>
          <p:cNvPr id="12" name="Text 6"/>
          <p:cNvSpPr/>
          <p:nvPr/>
        </p:nvSpPr>
        <p:spPr>
          <a:xfrm>
            <a:off x="1143000" y="4046286"/>
            <a:ext cx="5636022" cy="2887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B2430"/>
                </a:solidFill>
                <a:latin typeface="Anuphan" pitchFamily="34" charset="0"/>
                <a:ea typeface="Anuphan" pitchFamily="34" charset="-122"/>
                <a:cs typeface="Anuphan" pitchFamily="34" charset="-120"/>
              </a:rPr>
              <a:t>นับแถวในไฟล์เทียบกับในตาราง (reconciliation) และบันทึก log ทุกรอบ</a:t>
            </a:r>
            <a:endParaRPr lang="en-US" sz="1300" dirty="0"/>
          </a:p>
        </p:txBody>
      </p:sp>
      <p:pic>
        <p:nvPicPr>
          <p:cNvPr id="13" name="Image 4" descr="Check">    </p:cNvPr>
          <p:cNvPicPr>
            <a:picLocks noChangeAspect="1"/>
          </p:cNvPicPr>
          <p:nvPr/>
        </p:nvPicPr>
        <p:blipFill>
          <a:blip r:embed="rId5"/>
          <a:srcRect l="0" r="0" t="0" b="0"/>
          <a:stretch/>
        </p:blipFill>
        <p:spPr>
          <a:xfrm>
            <a:off x="812800" y="4411232"/>
            <a:ext cx="228600" cy="228600"/>
          </a:xfrm>
          <a:prstGeom prst="rect">
            <a:avLst/>
          </a:prstGeom>
        </p:spPr>
      </p:pic>
      <p:sp>
        <p:nvSpPr>
          <p:cNvPr id="14" name="Text 7"/>
          <p:cNvSpPr/>
          <p:nvPr/>
        </p:nvSpPr>
        <p:spPr>
          <a:xfrm>
            <a:off x="1143000" y="4411232"/>
            <a:ext cx="4561220" cy="2887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B2430"/>
                </a:solidFill>
                <a:latin typeface="Anuphan" pitchFamily="34" charset="0"/>
                <a:ea typeface="Anuphan" pitchFamily="34" charset="-122"/>
                <a:cs typeface="Anuphan" pitchFamily="34" charset="-120"/>
              </a:rPr>
              <a:t>Auto Loader อ่านเฉพาะไฟล์ใหม่ ไฟล์เดิมไม่ถูกอ่านซ้ำ</a:t>
            </a:r>
            <a:endParaRPr lang="en-US" sz="1300" dirty="0"/>
          </a:p>
        </p:txBody>
      </p:sp>
      <p:sp>
        <p:nvSpPr>
          <p:cNvPr id="15" name="Shape 8"/>
          <p:cNvSpPr/>
          <p:nvPr/>
        </p:nvSpPr>
        <p:spPr>
          <a:xfrm>
            <a:off x="6782197" y="2215502"/>
            <a:ext cx="4593828" cy="3670445"/>
          </a:xfrm>
          <a:prstGeom prst="roundRect">
            <a:avLst>
              <a:gd name="adj" fmla="val 1990"/>
            </a:avLst>
          </a:prstGeom>
          <a:solidFill>
            <a:srgbClr val="FDFCFA"/>
          </a:solidFill>
          <a:ln w="6350">
            <a:solidFill>
              <a:srgbClr val="DDD8CE"/>
            </a:solidFill>
            <a:prstDash val="solid"/>
          </a:ln>
        </p:spPr>
      </p:sp>
      <p:sp>
        <p:nvSpPr>
          <p:cNvPr id="16" name="Text 9"/>
          <p:cNvSpPr/>
          <p:nvPr/>
        </p:nvSpPr>
        <p:spPr>
          <a:xfrm>
            <a:off x="6986840" y="2420144"/>
            <a:ext cx="4310078"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ผลตรวจจริง</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998386" y="2805691"/>
          <a:ext cx="4172996" cy="2287948"/>
        </p:xfrm>
        <a:graphic>
          <a:graphicData uri="http://schemas.openxmlformats.org/drawingml/2006/table">
            <a:tbl>
              <a:tblPr/>
              <a:tblGrid>
                <a:gridCol w="2587258"/>
                <a:gridCol w="1585739"/>
              </a:tblGrid>
              <a:tr h="381325">
                <a:tc>
                  <a:txBody>
                    <a:bodyPr/>
                    <a:lstStyle/>
                    <a:p>
                      <a:pPr indent="0" marL="0">
                        <a:lnSpc>
                          <a:spcPts val="1820"/>
                        </a:lnSpc>
                        <a:buNone/>
                      </a:pPr>
                      <a:r>
                        <a:rPr lang="en-US" sz="1300" b="1" dirty="0">
                          <a:solidFill>
                            <a:srgbClr val="1B2430"/>
                          </a:solidFill>
                          <a:latin typeface="Anuphan" pitchFamily="34" charset="0"/>
                          <a:ea typeface="Anuphan" pitchFamily="34" charset="-122"/>
                          <a:cs typeface="Anuphan" pitchFamily="34" charset="-120"/>
                        </a:rPr>
                        <a:t>รายการ</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algn="r" indent="0" marL="0">
                        <a:lnSpc>
                          <a:spcPts val="1820"/>
                        </a:lnSpc>
                        <a:buNone/>
                      </a:pPr>
                      <a:r>
                        <a:rPr lang="en-US" sz="1300" b="1" dirty="0">
                          <a:solidFill>
                            <a:srgbClr val="1B2430"/>
                          </a:solidFill>
                          <a:latin typeface="Anuphan" pitchFamily="34" charset="0"/>
                          <a:ea typeface="Anuphan" pitchFamily="34" charset="-122"/>
                          <a:cs typeface="Anuphan" pitchFamily="34" charset="-120"/>
                        </a:rPr>
                        <a:t>ผล</a:t>
                      </a:r>
                      <a:endParaRPr lang="en-US" sz="1300" dirty="0">
                        <a:latin typeface="Anuphan" charset="0"/>
                        <a:ea typeface="Anuphan" charset="0"/>
                        <a:cs typeface="Anuphan" charset="0"/>
                      </a:endParaRPr>
                    </a:p>
                  </a:txBody>
                  <a:tcPr marL="57785" marR="57785" marT="57785" marB="57785" anchor="t">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บรรทัดข้อมูลในไฟล์</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3,240</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แถวใน Bronze</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3,240 ตรงกัน</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คอลัมน์</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17 ครบ</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แถวที่อ่านไม่ได้</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ค่าว่าง (ทุกคอลัมน์)</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bl>
          </a:graphicData>
        </a:graphic>
      </p:graphicFrame>
      <p:sp>
        <p:nvSpPr>
          <p:cNvPr id="18" name="Text 10"/>
          <p:cNvSpPr/>
          <p:nvPr/>
        </p:nvSpPr>
        <p:spPr>
          <a:xfrm>
            <a:off x="6986840" y="5195239"/>
            <a:ext cx="4310078"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ปรับจาก notebook เดิม 9 จุด เช่น เดิมให้ระบบเดาชนิดข้อมูลเอง และไม่มีการนับแถวเทียบ</a:t>
            </a:r>
            <a:endParaRPr lang="en-US" sz="1200" dirty="0"/>
          </a:p>
        </p:txBody>
      </p:sp>
      <p:sp>
        <p:nvSpPr>
          <p:cNvPr id="19" name="Text 11"/>
          <p:cNvSpPr/>
          <p:nvPr/>
        </p:nvSpPr>
        <p:spPr>
          <a:xfrm>
            <a:off x="812800" y="621693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20" name="Text 12"/>
          <p:cNvSpPr/>
          <p:nvPr/>
        </p:nvSpPr>
        <p:spPr>
          <a:xfrm>
            <a:off x="10058400" y="621693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06 / 27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0"/>
                </a:solidFill>
                <a:latin typeface="Anuphan" pitchFamily="34" charset="0"/>
                <a:ea typeface="Anuphan" pitchFamily="34" charset="-122"/>
                <a:cs typeface="Anuphan" pitchFamily="34" charset="-120"/>
              </a:rPr>
              <a:t>02 · ชั้น SILVER</a:t>
            </a:r>
            <a:endParaRPr lang="en-US" sz="1200" dirty="0"/>
          </a:p>
        </p:txBody>
      </p:sp>
      <p:sp>
        <p:nvSpPr>
          <p:cNvPr id="3" name="Text 1"/>
          <p:cNvSpPr/>
          <p:nvPr>
            <p:ph type="title"/>
          </p:nvPr>
        </p:nvSpPr>
        <p:spPr>
          <a:xfrm>
            <a:off x="812800" y="996662"/>
            <a:ext cx="11379200"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Silver: ล้าง ตรวจ และคัดแยกข้อมูล ใน 7 ขั้น + Quality Gate</a:t>
            </a:r>
            <a:endParaRPr lang="en-US" sz="2800" dirty="0"/>
          </a:p>
        </p:txBody>
      </p:sp>
      <p:sp>
        <p:nvSpPr>
          <p:cNvPr id="4" name="Shape 2"/>
          <p:cNvSpPr/>
          <p:nvPr/>
        </p:nvSpPr>
        <p:spPr>
          <a:xfrm>
            <a:off x="815975" y="1717387"/>
            <a:ext cx="2540000" cy="1361390"/>
          </a:xfrm>
          <a:prstGeom prst="roundRect">
            <a:avLst>
              <a:gd name="adj" fmla="val 5364"/>
            </a:avLst>
          </a:prstGeom>
          <a:solidFill>
            <a:srgbClr val="FDFCFA"/>
          </a:solidFill>
          <a:ln w="6350">
            <a:solidFill>
              <a:srgbClr val="DDD8CE"/>
            </a:solidFill>
            <a:prstDash val="solid"/>
          </a:ln>
        </p:spPr>
      </p:sp>
      <p:sp>
        <p:nvSpPr>
          <p:cNvPr id="5" name="Text 3"/>
          <p:cNvSpPr/>
          <p:nvPr/>
        </p:nvSpPr>
        <p:spPr>
          <a:xfrm>
            <a:off x="969818" y="1871232"/>
            <a:ext cx="2299283"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Prompt" pitchFamily="34" charset="0"/>
                <a:ea typeface="Prompt" pitchFamily="34" charset="-122"/>
                <a:cs typeface="Prompt" pitchFamily="34" charset="-120"/>
              </a:rPr>
              <a:t>1 · ตั้งชื่อมาตรฐาน</a:t>
            </a:r>
            <a:endParaRPr lang="en-US" sz="1400" dirty="0"/>
          </a:p>
        </p:txBody>
      </p:sp>
      <p:sp>
        <p:nvSpPr>
          <p:cNvPr id="6" name="Text 4"/>
          <p:cNvSpPr/>
          <p:nvPr/>
        </p:nvSpPr>
        <p:spPr>
          <a:xfrm>
            <a:off x="969818" y="2195838"/>
            <a:ext cx="2299283"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ProductionVolume → production_volume พร้อมหน่วยในชื่อ</a:t>
            </a:r>
            <a:endParaRPr lang="en-US" sz="1200" dirty="0"/>
          </a:p>
        </p:txBody>
      </p:sp>
      <p:sp>
        <p:nvSpPr>
          <p:cNvPr id="7" name="Shape 5"/>
          <p:cNvSpPr/>
          <p:nvPr/>
        </p:nvSpPr>
        <p:spPr>
          <a:xfrm>
            <a:off x="3489325" y="1717387"/>
            <a:ext cx="2540000" cy="1361390"/>
          </a:xfrm>
          <a:prstGeom prst="roundRect">
            <a:avLst>
              <a:gd name="adj" fmla="val 5364"/>
            </a:avLst>
          </a:prstGeom>
          <a:solidFill>
            <a:srgbClr val="FDFCFA"/>
          </a:solidFill>
          <a:ln w="6350">
            <a:solidFill>
              <a:srgbClr val="DDD8CE"/>
            </a:solidFill>
            <a:prstDash val="solid"/>
          </a:ln>
        </p:spPr>
      </p:sp>
      <p:sp>
        <p:nvSpPr>
          <p:cNvPr id="8" name="Text 6"/>
          <p:cNvSpPr/>
          <p:nvPr/>
        </p:nvSpPr>
        <p:spPr>
          <a:xfrm>
            <a:off x="3643168" y="1871232"/>
            <a:ext cx="2299283"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Prompt" pitchFamily="34" charset="0"/>
                <a:ea typeface="Prompt" pitchFamily="34" charset="-122"/>
                <a:cs typeface="Prompt" pitchFamily="34" charset="-120"/>
              </a:rPr>
              <a:t>2 · จับ placeholder</a:t>
            </a:r>
            <a:endParaRPr lang="en-US" sz="1400" dirty="0"/>
          </a:p>
        </p:txBody>
      </p:sp>
      <p:sp>
        <p:nvSpPr>
          <p:cNvPr id="9" name="Text 7"/>
          <p:cNvSpPr/>
          <p:nvPr/>
        </p:nvSpPr>
        <p:spPr>
          <a:xfrm>
            <a:off x="3643168" y="2195838"/>
            <a:ext cx="2299283"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10 แบบ เช่น 'N/A' '-' '?' 'missing' → ค่าว่างจริง</a:t>
            </a:r>
            <a:endParaRPr lang="en-US" sz="1200" dirty="0"/>
          </a:p>
        </p:txBody>
      </p:sp>
      <p:sp>
        <p:nvSpPr>
          <p:cNvPr id="10" name="Shape 8"/>
          <p:cNvSpPr/>
          <p:nvPr/>
        </p:nvSpPr>
        <p:spPr>
          <a:xfrm>
            <a:off x="6162675" y="1717387"/>
            <a:ext cx="2540000" cy="1361390"/>
          </a:xfrm>
          <a:prstGeom prst="roundRect">
            <a:avLst>
              <a:gd name="adj" fmla="val 5364"/>
            </a:avLst>
          </a:prstGeom>
          <a:solidFill>
            <a:srgbClr val="FDFCFA"/>
          </a:solidFill>
          <a:ln w="6350">
            <a:solidFill>
              <a:srgbClr val="DDD8CE"/>
            </a:solidFill>
            <a:prstDash val="solid"/>
          </a:ln>
        </p:spPr>
      </p:sp>
      <p:sp>
        <p:nvSpPr>
          <p:cNvPr id="11" name="Text 9"/>
          <p:cNvSpPr/>
          <p:nvPr/>
        </p:nvSpPr>
        <p:spPr>
          <a:xfrm>
            <a:off x="6316518" y="1871232"/>
            <a:ext cx="2299283"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Prompt" pitchFamily="34" charset="0"/>
                <a:ea typeface="Prompt" pitchFamily="34" charset="-122"/>
                <a:cs typeface="Prompt" pitchFamily="34" charset="-120"/>
              </a:rPr>
              <a:t>3 · บังคับชนิดข้อมูล</a:t>
            </a:r>
            <a:endParaRPr lang="en-US" sz="1400" dirty="0"/>
          </a:p>
        </p:txBody>
      </p:sp>
      <p:sp>
        <p:nvSpPr>
          <p:cNvPr id="12" name="Text 10"/>
          <p:cNvSpPr/>
          <p:nvPr/>
        </p:nvSpPr>
        <p:spPr>
          <a:xfrm>
            <a:off x="6316518" y="2195838"/>
            <a:ext cx="2299283"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ตัวเลขต้องเป็นตัวเลข จำนวนเต็มต้องไม่มีทศนิยม</a:t>
            </a:r>
            <a:endParaRPr lang="en-US" sz="1200" dirty="0"/>
          </a:p>
        </p:txBody>
      </p:sp>
      <p:sp>
        <p:nvSpPr>
          <p:cNvPr id="13" name="Shape 11"/>
          <p:cNvSpPr/>
          <p:nvPr/>
        </p:nvSpPr>
        <p:spPr>
          <a:xfrm>
            <a:off x="8836025" y="1717387"/>
            <a:ext cx="2540000" cy="1361390"/>
          </a:xfrm>
          <a:prstGeom prst="roundRect">
            <a:avLst>
              <a:gd name="adj" fmla="val 5364"/>
            </a:avLst>
          </a:prstGeom>
          <a:solidFill>
            <a:srgbClr val="FDFCFA"/>
          </a:solidFill>
          <a:ln w="6350">
            <a:solidFill>
              <a:srgbClr val="DDD8CE"/>
            </a:solidFill>
            <a:prstDash val="solid"/>
          </a:ln>
        </p:spPr>
      </p:sp>
      <p:sp>
        <p:nvSpPr>
          <p:cNvPr id="14" name="Text 12"/>
          <p:cNvSpPr/>
          <p:nvPr/>
        </p:nvSpPr>
        <p:spPr>
          <a:xfrm>
            <a:off x="8989868" y="1871232"/>
            <a:ext cx="2299283"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Prompt" pitchFamily="34" charset="0"/>
                <a:ea typeface="Prompt" pitchFamily="34" charset="-122"/>
                <a:cs typeface="Prompt" pitchFamily="34" charset="-120"/>
              </a:rPr>
              <a:t>4 · ตัดแถวซ้ำ</a:t>
            </a:r>
            <a:endParaRPr lang="en-US" sz="1400" dirty="0"/>
          </a:p>
        </p:txBody>
      </p:sp>
      <p:sp>
        <p:nvSpPr>
          <p:cNvPr id="15" name="Text 13"/>
          <p:cNvSpPr/>
          <p:nvPr/>
        </p:nvSpPr>
        <p:spPr>
          <a:xfrm>
            <a:off x="8989868" y="2195838"/>
            <a:ext cx="2299283"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สร้าง record_id (SHA-256 hash) แถวที่ซ้ำถูกแยกออก</a:t>
            </a:r>
            <a:endParaRPr lang="en-US" sz="1200" dirty="0"/>
          </a:p>
        </p:txBody>
      </p:sp>
      <p:sp>
        <p:nvSpPr>
          <p:cNvPr id="16" name="Shape 14"/>
          <p:cNvSpPr/>
          <p:nvPr/>
        </p:nvSpPr>
        <p:spPr>
          <a:xfrm>
            <a:off x="815975" y="3212126"/>
            <a:ext cx="2540000" cy="1361390"/>
          </a:xfrm>
          <a:prstGeom prst="roundRect">
            <a:avLst>
              <a:gd name="adj" fmla="val 5364"/>
            </a:avLst>
          </a:prstGeom>
          <a:solidFill>
            <a:srgbClr val="FDFCFA"/>
          </a:solidFill>
          <a:ln w="6350">
            <a:solidFill>
              <a:srgbClr val="DDD8CE"/>
            </a:solidFill>
            <a:prstDash val="solid"/>
          </a:ln>
        </p:spPr>
      </p:sp>
      <p:sp>
        <p:nvSpPr>
          <p:cNvPr id="17" name="Text 15"/>
          <p:cNvSpPr/>
          <p:nvPr/>
        </p:nvSpPr>
        <p:spPr>
          <a:xfrm>
            <a:off x="969818" y="3365971"/>
            <a:ext cx="2299283"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Prompt" pitchFamily="34" charset="0"/>
                <a:ea typeface="Prompt" pitchFamily="34" charset="-122"/>
                <a:cs typeface="Prompt" pitchFamily="34" charset="-120"/>
              </a:rPr>
              <a:t>5 · กฎคุณภาพ 30+ ข้อ</a:t>
            </a:r>
            <a:endParaRPr lang="en-US" sz="1400" dirty="0"/>
          </a:p>
        </p:txBody>
      </p:sp>
      <p:sp>
        <p:nvSpPr>
          <p:cNvPr id="18" name="Text 16"/>
          <p:cNvSpPr/>
          <p:nvPr/>
        </p:nvSpPr>
        <p:spPr>
          <a:xfrm>
            <a:off x="969818" y="3690578"/>
            <a:ext cx="2299283"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เช่น % ต้องอยู่ 0–100 · ชั่วโมงซ่อม ≤ 168 · ค่าต้องไม่ติดลบ</a:t>
            </a:r>
            <a:endParaRPr lang="en-US" sz="1200" dirty="0"/>
          </a:p>
        </p:txBody>
      </p:sp>
      <p:sp>
        <p:nvSpPr>
          <p:cNvPr id="19" name="Shape 17"/>
          <p:cNvSpPr/>
          <p:nvPr/>
        </p:nvSpPr>
        <p:spPr>
          <a:xfrm>
            <a:off x="3489325" y="3212126"/>
            <a:ext cx="2540000" cy="1361390"/>
          </a:xfrm>
          <a:prstGeom prst="roundRect">
            <a:avLst>
              <a:gd name="adj" fmla="val 5364"/>
            </a:avLst>
          </a:prstGeom>
          <a:solidFill>
            <a:srgbClr val="FDFCFA"/>
          </a:solidFill>
          <a:ln w="6350">
            <a:solidFill>
              <a:srgbClr val="DDD8CE"/>
            </a:solidFill>
            <a:prstDash val="solid"/>
          </a:ln>
        </p:spPr>
      </p:sp>
      <p:sp>
        <p:nvSpPr>
          <p:cNvPr id="20" name="Text 18"/>
          <p:cNvSpPr/>
          <p:nvPr/>
        </p:nvSpPr>
        <p:spPr>
          <a:xfrm>
            <a:off x="3643168" y="3365971"/>
            <a:ext cx="2299283"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Prompt" pitchFamily="34" charset="0"/>
                <a:ea typeface="Prompt" pitchFamily="34" charset="-122"/>
                <a:cs typeface="Prompt" pitchFamily="34" charset="-120"/>
              </a:rPr>
              <a:t>6 · Quarantine</a:t>
            </a:r>
            <a:endParaRPr lang="en-US" sz="1400" dirty="0"/>
          </a:p>
        </p:txBody>
      </p:sp>
      <p:sp>
        <p:nvSpPr>
          <p:cNvPr id="21" name="Text 19"/>
          <p:cNvSpPr/>
          <p:nvPr/>
        </p:nvSpPr>
        <p:spPr>
          <a:xfrm>
            <a:off x="3643168" y="3690578"/>
            <a:ext cx="2299283"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แถวผิดไป Quarantine พร้อมเหตุผล · ตรวจว่า valid + quarantine = ทั้งหมด</a:t>
            </a:r>
            <a:endParaRPr lang="en-US" sz="1200" dirty="0"/>
          </a:p>
        </p:txBody>
      </p:sp>
      <p:sp>
        <p:nvSpPr>
          <p:cNvPr id="22" name="Shape 20"/>
          <p:cNvSpPr/>
          <p:nvPr/>
        </p:nvSpPr>
        <p:spPr>
          <a:xfrm>
            <a:off x="6162675" y="3212126"/>
            <a:ext cx="2540000" cy="1361390"/>
          </a:xfrm>
          <a:prstGeom prst="roundRect">
            <a:avLst>
              <a:gd name="adj" fmla="val 5364"/>
            </a:avLst>
          </a:prstGeom>
          <a:solidFill>
            <a:srgbClr val="FDFCFA"/>
          </a:solidFill>
          <a:ln w="6350">
            <a:solidFill>
              <a:srgbClr val="DDD8CE"/>
            </a:solidFill>
            <a:prstDash val="solid"/>
          </a:ln>
        </p:spPr>
      </p:sp>
      <p:sp>
        <p:nvSpPr>
          <p:cNvPr id="23" name="Text 21"/>
          <p:cNvSpPr/>
          <p:nvPr/>
        </p:nvSpPr>
        <p:spPr>
          <a:xfrm>
            <a:off x="6316518" y="3365971"/>
            <a:ext cx="2299283"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Prompt" pitchFamily="34" charset="0"/>
                <a:ea typeface="Prompt" pitchFamily="34" charset="-122"/>
                <a:cs typeface="Prompt" pitchFamily="34" charset="-120"/>
              </a:rPr>
              <a:t>7 · Lineage</a:t>
            </a:r>
            <a:endParaRPr lang="en-US" sz="1400" dirty="0"/>
          </a:p>
        </p:txBody>
      </p:sp>
      <p:sp>
        <p:nvSpPr>
          <p:cNvPr id="24" name="Text 22"/>
          <p:cNvSpPr/>
          <p:nvPr/>
        </p:nvSpPr>
        <p:spPr>
          <a:xfrm>
            <a:off x="6316518" y="3690578"/>
            <a:ext cx="2299283"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ทุกแถวบอกได้ว่ามาจากไฟล์ไหน รอบโหลดไหน (lineage)</a:t>
            </a:r>
            <a:endParaRPr lang="en-US" sz="1200" dirty="0"/>
          </a:p>
        </p:txBody>
      </p:sp>
      <p:sp>
        <p:nvSpPr>
          <p:cNvPr id="25" name="Shape 23"/>
          <p:cNvSpPr/>
          <p:nvPr/>
        </p:nvSpPr>
        <p:spPr>
          <a:xfrm>
            <a:off x="8832850" y="3208951"/>
            <a:ext cx="2546350" cy="1367740"/>
          </a:xfrm>
          <a:prstGeom prst="roundRect">
            <a:avLst>
              <a:gd name="adj" fmla="val 5571"/>
            </a:avLst>
          </a:prstGeom>
          <a:solidFill>
            <a:srgbClr val="1B2430"/>
          </a:solidFill>
          <a:ln/>
        </p:spPr>
      </p:sp>
      <p:sp>
        <p:nvSpPr>
          <p:cNvPr id="26" name="Text 24"/>
          <p:cNvSpPr/>
          <p:nvPr/>
        </p:nvSpPr>
        <p:spPr>
          <a:xfrm>
            <a:off x="8985250" y="3361351"/>
            <a:ext cx="2308796"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A65A"/>
                </a:solidFill>
                <a:latin typeface="Prompt" pitchFamily="34" charset="0"/>
                <a:ea typeface="Prompt" pitchFamily="34" charset="-122"/>
                <a:cs typeface="Prompt" pitchFamily="34" charset="-120"/>
              </a:rPr>
              <a:t>Quality Gate</a:t>
            </a:r>
            <a:endParaRPr lang="en-US" sz="1400" dirty="0"/>
          </a:p>
        </p:txBody>
      </p:sp>
      <p:sp>
        <p:nvSpPr>
          <p:cNvPr id="27" name="Text 25"/>
          <p:cNvSpPr/>
          <p:nvPr/>
        </p:nvSpPr>
        <p:spPr>
          <a:xfrm>
            <a:off x="8985250" y="3685961"/>
            <a:ext cx="2308796"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D2DC"/>
                </a:solidFill>
                <a:latin typeface="Anuphan" pitchFamily="34" charset="0"/>
                <a:ea typeface="Anuphan" pitchFamily="34" charset="-122"/>
                <a:cs typeface="Anuphan" pitchFamily="34" charset="-120"/>
              </a:rPr>
              <a:t>ต้องมีข้อมูล · คอลัมน์ครบ · labelเป็น 0/1 · รหัสไม่ซ้ำ → ผ่าน</a:t>
            </a:r>
            <a:endParaRPr lang="en-US" sz="1200" dirty="0"/>
          </a:p>
        </p:txBody>
      </p:sp>
      <p:sp>
        <p:nvSpPr>
          <p:cNvPr id="28" name="Shape 26"/>
          <p:cNvSpPr/>
          <p:nvPr/>
        </p:nvSpPr>
        <p:spPr>
          <a:xfrm>
            <a:off x="812800" y="4805291"/>
            <a:ext cx="10566400" cy="849673"/>
          </a:xfrm>
          <a:prstGeom prst="roundRect">
            <a:avLst>
              <a:gd name="adj" fmla="val 8968"/>
            </a:avLst>
          </a:prstGeom>
          <a:solidFill>
            <a:srgbClr val="E3ECF6"/>
          </a:solidFill>
          <a:ln/>
        </p:spPr>
      </p:sp>
      <p:pic>
        <p:nvPicPr>
          <p:cNvPr id="29" name="Image 0" descr="CheckCircle">    </p:cNvPr>
          <p:cNvPicPr>
            <a:picLocks noChangeAspect="1"/>
          </p:cNvPicPr>
          <p:nvPr/>
        </p:nvPicPr>
        <p:blipFill>
          <a:blip r:embed="rId1"/>
          <a:srcRect l="-641" r="-641" t="0" b="0"/>
          <a:stretch/>
        </p:blipFill>
        <p:spPr>
          <a:xfrm>
            <a:off x="1016000" y="5077727"/>
            <a:ext cx="225100" cy="304800"/>
          </a:xfrm>
          <a:prstGeom prst="rect">
            <a:avLst/>
          </a:prstGeom>
        </p:spPr>
      </p:pic>
      <p:sp>
        <p:nvSpPr>
          <p:cNvPr id="30" name="Text 27"/>
          <p:cNvSpPr/>
          <p:nvPr/>
        </p:nvSpPr>
        <p:spPr>
          <a:xfrm>
            <a:off x="1393500" y="4957691"/>
            <a:ext cx="10075975" cy="570273"/>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ผลจริง: 3,240 แถวผ่านทั้งหมด Quarantine 0 แถว</a:t>
            </a:r>
            <a:r>
              <a:rPr lang="en-US" sz="1300" dirty="0">
                <a:solidFill>
                  <a:srgbClr val="1B2430"/>
                </a:solidFill>
                <a:latin typeface="Anuphan" pitchFamily="34" charset="0"/>
                <a:ea typeface="Anuphan" pitchFamily="34" charset="-122"/>
                <a:cs typeface="Anuphan" pitchFamily="34" charset="-120"/>
              </a:rPr>
              <a:t> ข้อมูลต้นทางสะอาด จึงต้องพิสูจน์ว่ากลไกทำงานจริงด้วย “ข้อมูลสกปรก” ที่จงใจสร้างขึ้น (หน้า 12) · เรื่อง Missing Value ดูหน้า 8</a:t>
            </a:r>
            <a:endParaRPr lang="en-US" sz="1300" dirty="0"/>
          </a:p>
        </p:txBody>
      </p:sp>
      <p:sp>
        <p:nvSpPr>
          <p:cNvPr id="31" name="Text 28"/>
          <p:cNvSpPr/>
          <p:nvPr/>
        </p:nvSpPr>
        <p:spPr>
          <a:xfrm>
            <a:off x="812800" y="6216941"/>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2" name="Text 29"/>
          <p:cNvSpPr/>
          <p:nvPr/>
        </p:nvSpPr>
        <p:spPr>
          <a:xfrm>
            <a:off x="10058400" y="6216941"/>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07 / 27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DF1"/>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02 · MISSING VALUE</a:t>
            </a:r>
            <a:endParaRPr lang="en-US" sz="1200" dirty="0"/>
          </a:p>
        </p:txBody>
      </p:sp>
      <p:sp>
        <p:nvSpPr>
          <p:cNvPr id="3" name="Text 1"/>
          <p:cNvSpPr/>
          <p:nvPr>
            <p:ph type="title"/>
          </p:nvPr>
        </p:nvSpPr>
        <p:spPr>
          <a:xfrm>
            <a:off x="812800" y="996662"/>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ตรวจค่าที่หายไปตามหลักแล้ว: ข้อมูลชุดนี้ไม่มี Missing Value</a:t>
            </a:r>
            <a:endParaRPr lang="en-US" sz="2800" dirty="0"/>
          </a:p>
        </p:txBody>
      </p:sp>
      <p:sp>
        <p:nvSpPr>
          <p:cNvPr id="4" name="Shape 2"/>
          <p:cNvSpPr/>
          <p:nvPr/>
        </p:nvSpPr>
        <p:spPr>
          <a:xfrm>
            <a:off x="812800" y="1688812"/>
            <a:ext cx="5181600" cy="3423624"/>
          </a:xfrm>
          <a:prstGeom prst="roundRect">
            <a:avLst>
              <a:gd name="adj" fmla="val 2226"/>
            </a:avLst>
          </a:prstGeom>
          <a:solidFill>
            <a:srgbClr val="FDFCFA"/>
          </a:solidFill>
          <a:ln/>
        </p:spPr>
      </p:sp>
      <p:sp>
        <p:nvSpPr>
          <p:cNvPr id="5" name="Text 3"/>
          <p:cNvSpPr/>
          <p:nvPr/>
        </p:nvSpPr>
        <p:spPr>
          <a:xfrm>
            <a:off x="1016000" y="1892012"/>
            <a:ext cx="4918456" cy="31594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563A8"/>
                </a:solidFill>
                <a:latin typeface="Prompt" pitchFamily="34" charset="0"/>
                <a:ea typeface="Prompt" pitchFamily="34" charset="-122"/>
                <a:cs typeface="Prompt" pitchFamily="34" charset="-120"/>
              </a:rPr>
              <a:t>ผลตรวจจริง</a:t>
            </a:r>
            <a:endParaRPr lang="en-US" sz="1600" dirty="0"/>
          </a:p>
        </p:txBody>
      </p:sp>
      <p:sp>
        <p:nvSpPr>
          <p:cNvPr id="6" name="Text 4"/>
          <p:cNvSpPr/>
          <p:nvPr/>
        </p:nvSpPr>
        <p:spPr>
          <a:xfrm>
            <a:off x="1016000" y="2296861"/>
            <a:ext cx="553619" cy="729492"/>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2563A8"/>
                </a:solidFill>
                <a:latin typeface="Prompt" pitchFamily="34" charset="0"/>
                <a:ea typeface="Prompt" pitchFamily="34" charset="-122"/>
                <a:cs typeface="Prompt" pitchFamily="34" charset="-120"/>
              </a:rPr>
              <a:t>0</a:t>
            </a:r>
            <a:endParaRPr lang="en-US" sz="4800" dirty="0"/>
          </a:p>
        </p:txBody>
      </p:sp>
      <p:sp>
        <p:nvSpPr>
          <p:cNvPr id="7" name="Text 5"/>
          <p:cNvSpPr/>
          <p:nvPr/>
        </p:nvSpPr>
        <p:spPr>
          <a:xfrm>
            <a:off x="1629749" y="2474264"/>
            <a:ext cx="1536772" cy="55208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F5966"/>
                </a:solidFill>
                <a:latin typeface="Anuphan" pitchFamily="34" charset="0"/>
                <a:ea typeface="Anuphan" pitchFamily="34" charset="-122"/>
                <a:cs typeface="Anuphan" pitchFamily="34" charset="-120"/>
              </a:rPr>
              <a:t>ค่าว่างใน 17 คอลัมน์</a:t>
            </a:r>
            <a:endParaRPr lang="en-US" sz="1300" dirty="0"/>
          </a:p>
          <a:p>
            <a:pPr algn="l" indent="0" marL="0">
              <a:lnSpc>
                <a:spcPts val="1885"/>
              </a:lnSpc>
              <a:buNone/>
            </a:pPr>
            <a:r>
              <a:rPr lang="en-US" sz="1300" dirty="0">
                <a:solidFill>
                  <a:srgbClr val="4F5966"/>
                </a:solidFill>
                <a:latin typeface="Anuphan" pitchFamily="34" charset="0"/>
                <a:ea typeface="Anuphan" pitchFamily="34" charset="-122"/>
                <a:cs typeface="Anuphan" pitchFamily="34" charset="-120"/>
              </a:rPr>
              <a:t>จาก 3,240 แถว</a:t>
            </a:r>
            <a:endParaRPr lang="en-US" sz="1300" dirty="0"/>
          </a:p>
        </p:txBody>
      </p:sp>
      <p:sp>
        <p:nvSpPr>
          <p:cNvPr id="8" name="Text 6"/>
          <p:cNvSpPr/>
          <p:nvPr/>
        </p:nvSpPr>
        <p:spPr>
          <a:xfrm>
            <a:off x="1016000" y="3115255"/>
            <a:ext cx="4918456" cy="2978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 Bronze: ค่า NULL / ช่องว่าง = 0 ทุกคอลัมน์</a:t>
            </a:r>
            <a:endParaRPr lang="en-US" sz="1300" dirty="0"/>
          </a:p>
        </p:txBody>
      </p:sp>
      <p:sp>
        <p:nvSpPr>
          <p:cNvPr id="9" name="Text 7"/>
          <p:cNvSpPr/>
          <p:nvPr/>
        </p:nvSpPr>
        <p:spPr>
          <a:xfrm>
            <a:off x="1016000" y="3501991"/>
            <a:ext cx="4918456" cy="57027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 Silver: placeholder 10 แบบ ('N/A', 'none', '-', '?', 'missing' …) พบ 0 ค่า</a:t>
            </a:r>
            <a:endParaRPr lang="en-US" sz="1300" dirty="0"/>
          </a:p>
        </p:txBody>
      </p:sp>
      <p:sp>
        <p:nvSpPr>
          <p:cNvPr id="10" name="Text 8"/>
          <p:cNvSpPr/>
          <p:nvPr/>
        </p:nvSpPr>
        <p:spPr>
          <a:xfrm>
            <a:off x="1016000" y="4161166"/>
            <a:ext cx="4775200" cy="748073"/>
          </a:xfrm>
          <a:prstGeom prst="roundRect">
            <a:avLst>
              <a:gd name="adj" fmla="val 8488"/>
            </a:avLst>
          </a:prstGeom>
          <a:solidFill>
            <a:srgbClr val="E3ECF6"/>
          </a:solidFill>
          <a:ln/>
        </p:spPr>
        <p:txBody>
          <a:bodyPr wrap="square" lIns="108401" tIns="83001" rIns="0" bIns="57601"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จึงไม่ต้องลบแถวหรือเติมค่า</a:t>
            </a:r>
            <a:r>
              <a:rPr lang="en-US" sz="1300" dirty="0">
                <a:solidFill>
                  <a:srgbClr val="1B2430"/>
                </a:solidFill>
                <a:latin typeface="Anuphan" pitchFamily="34" charset="0"/>
                <a:ea typeface="Anuphan" pitchFamily="34" charset="-122"/>
                <a:cs typeface="Anuphan" pitchFamily="34" charset="-120"/>
              </a:rPr>
              <a:t> → ใช้ครบ 3,240 แถว ไม่มีความเอียง (bias) หรือความแปรปรวนลดลงจากการเติมค่า</a:t>
            </a:r>
            <a:endParaRPr lang="en-US" sz="1300" dirty="0"/>
          </a:p>
        </p:txBody>
      </p:sp>
      <p:sp>
        <p:nvSpPr>
          <p:cNvPr id="11" name="Shape 9"/>
          <p:cNvSpPr/>
          <p:nvPr/>
        </p:nvSpPr>
        <p:spPr>
          <a:xfrm>
            <a:off x="6197600" y="1688812"/>
            <a:ext cx="5181600" cy="3423624"/>
          </a:xfrm>
          <a:prstGeom prst="roundRect">
            <a:avLst>
              <a:gd name="adj" fmla="val 2226"/>
            </a:avLst>
          </a:prstGeom>
          <a:solidFill>
            <a:srgbClr val="FDFCFA"/>
          </a:solidFill>
          <a:ln/>
        </p:spPr>
      </p:sp>
      <p:sp>
        <p:nvSpPr>
          <p:cNvPr id="12" name="Text 10"/>
          <p:cNvSpPr/>
          <p:nvPr/>
        </p:nvSpPr>
        <p:spPr>
          <a:xfrm>
            <a:off x="6400800" y="1892012"/>
            <a:ext cx="4918456" cy="31594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B04E0A"/>
                </a:solidFill>
                <a:latin typeface="Prompt" pitchFamily="34" charset="0"/>
                <a:ea typeface="Prompt" pitchFamily="34" charset="-122"/>
                <a:cs typeface="Prompt" pitchFamily="34" charset="-120"/>
              </a:rPr>
              <a:t>ถ้า batch ใหม่มีค่าหาย ระบบพร้อมแล้ว</a:t>
            </a:r>
            <a:endParaRPr lang="en-US" sz="1600" dirty="0"/>
          </a:p>
        </p:txBody>
      </p:sp>
      <p:sp>
        <p:nvSpPr>
          <p:cNvPr id="13" name="Text 11"/>
          <p:cNvSpPr/>
          <p:nvPr/>
        </p:nvSpPr>
        <p:spPr>
          <a:xfrm>
            <a:off x="6400800" y="2284161"/>
            <a:ext cx="4918456" cy="57027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 คอลัมน์บังคับ ( label, จำนวนผลิต, อัตราของเสีย) ว่าง →</a:t>
            </a:r>
            <a:r>
              <a:rPr lang="en-US" sz="1300" b="1" dirty="0">
                <a:solidFill>
                  <a:srgbClr val="1B2430"/>
                </a:solidFill>
                <a:latin typeface="Anuphan" pitchFamily="34" charset="0"/>
                <a:ea typeface="Anuphan" pitchFamily="34" charset="-122"/>
                <a:cs typeface="Anuphan" pitchFamily="34" charset="-120"/>
              </a:rPr>
              <a:t> Quarantine</a:t>
            </a:r>
            <a:r>
              <a:rPr lang="en-US" sz="1300" dirty="0">
                <a:solidFill>
                  <a:srgbClr val="1B2430"/>
                </a:solidFill>
                <a:latin typeface="Anuphan" pitchFamily="34" charset="0"/>
                <a:ea typeface="Anuphan" pitchFamily="34" charset="-122"/>
                <a:cs typeface="Anuphan" pitchFamily="34" charset="-120"/>
              </a:rPr>
              <a:t> พร้อมเหตุผล (ทดสอบ T01–T02 ผ่าน)</a:t>
            </a:r>
            <a:endParaRPr lang="en-US" sz="1300" dirty="0"/>
          </a:p>
        </p:txBody>
      </p:sp>
      <p:sp>
        <p:nvSpPr>
          <p:cNvPr id="14" name="Text 12"/>
          <p:cNvSpPr/>
          <p:nvPr/>
        </p:nvSpPr>
        <p:spPr>
          <a:xfrm>
            <a:off x="6400800" y="2930634"/>
            <a:ext cx="4918456" cy="57027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 คอลัมน์อื่นว่าง → เก็บแถว ค่าเป็น NULL </a:t>
            </a:r>
            <a:r>
              <a:rPr lang="en-US" sz="1300" b="1" dirty="0">
                <a:solidFill>
                  <a:srgbClr val="1B2430"/>
                </a:solidFill>
                <a:latin typeface="Anuphan" pitchFamily="34" charset="0"/>
                <a:ea typeface="Anuphan" pitchFamily="34" charset="-122"/>
                <a:cs typeface="Anuphan" pitchFamily="34" charset="-120"/>
              </a:rPr>
              <a:t>ไม่เดาค่าเอง</a:t>
            </a:r>
            <a:r>
              <a:rPr lang="en-US" sz="1300" dirty="0">
                <a:solidFill>
                  <a:srgbClr val="1B2430"/>
                </a:solidFill>
                <a:latin typeface="Anuphan" pitchFamily="34" charset="0"/>
                <a:ea typeface="Anuphan" pitchFamily="34" charset="-122"/>
                <a:cs typeface="Anuphan" pitchFamily="34" charset="-120"/>
              </a:rPr>
              <a:t> (ทดสอบ T11 ผ่าน)</a:t>
            </a:r>
            <a:endParaRPr lang="en-US" sz="1300" dirty="0"/>
          </a:p>
        </p:txBody>
      </p:sp>
      <p:sp>
        <p:nvSpPr>
          <p:cNvPr id="15" name="Text 13"/>
          <p:cNvSpPr/>
          <p:nvPr/>
        </p:nvSpPr>
        <p:spPr>
          <a:xfrm>
            <a:off x="6400800" y="3577109"/>
            <a:ext cx="4918456" cy="84271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 จากนั้นดูสาเหตุก่อนเลือกวิธี: หายแบบสุ่ม (MCAR/MAR) → ลบหรือเติมค่ากลางรายกลุ่มได้ · หายมีเหตุแฝง (MNAR/Structural) → ห้ามลบ จะทำให้ผลเอียง</a:t>
            </a:r>
            <a:endParaRPr lang="en-US" sz="1300" dirty="0"/>
          </a:p>
        </p:txBody>
      </p:sp>
      <p:sp>
        <p:nvSpPr>
          <p:cNvPr id="16" name="Text 14"/>
          <p:cNvSpPr/>
          <p:nvPr/>
        </p:nvSpPr>
        <p:spPr>
          <a:xfrm>
            <a:off x="812800" y="6216941"/>
            <a:ext cx="719455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หลักการจาก: Dealing with Missing Values (Lewinson, Python for Finance Cookbook, 2020)</a:t>
            </a:r>
            <a:endParaRPr lang="en-US" sz="1200" dirty="0"/>
          </a:p>
        </p:txBody>
      </p:sp>
      <p:sp>
        <p:nvSpPr>
          <p:cNvPr id="17" name="Text 15"/>
          <p:cNvSpPr/>
          <p:nvPr/>
        </p:nvSpPr>
        <p:spPr>
          <a:xfrm>
            <a:off x="10058400" y="6216941"/>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08 / 27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07241"/>
          </a:xfrm>
          <a:prstGeom prst="rect">
            <a:avLst/>
          </a:prstGeom>
          <a:noFill/>
          <a:ln/>
        </p:spPr>
        <p:txBody>
          <a:bodyPr wrap="square" lIns="0" tIns="0" rIns="0" bIns="0" rtlCol="0" anchor="t">
            <a:normAutofit/>
          </a:bodyPr>
          <a:lstStyle/>
          <a:p>
            <a:pPr algn="l" indent="0" marL="0">
              <a:lnSpc>
                <a:spcPts val="1339"/>
              </a:lnSpc>
              <a:buNone/>
            </a:pPr>
            <a:r>
              <a:rPr lang="en-US" sz="956" b="1" spc="50" kern="0" dirty="0">
                <a:solidFill>
                  <a:srgbClr val="7D6414"/>
                </a:solidFill>
                <a:latin typeface="Anuphan" pitchFamily="34" charset="0"/>
                <a:ea typeface="Anuphan" pitchFamily="34" charset="-122"/>
                <a:cs typeface="Anuphan" pitchFamily="34" charset="-120"/>
              </a:rPr>
              <a:t>02 · ชั้น GOLD</a:t>
            </a:r>
            <a:endParaRPr lang="en-US" sz="956" dirty="0"/>
          </a:p>
        </p:txBody>
      </p:sp>
      <p:sp>
        <p:nvSpPr>
          <p:cNvPr id="3" name="Text 1"/>
          <p:cNvSpPr/>
          <p:nvPr>
            <p:ph type="title"/>
          </p:nvPr>
        </p:nvSpPr>
        <p:spPr>
          <a:xfrm>
            <a:off x="812800" y="943843"/>
            <a:ext cx="11379200" cy="783359"/>
          </a:xfrm>
          <a:prstGeom prst="rect">
            <a:avLst/>
          </a:prstGeom>
          <a:noFill/>
          <a:ln/>
        </p:spPr>
        <p:txBody>
          <a:bodyPr wrap="square" lIns="0" tIns="0" rIns="0" bIns="0" rtlCol="0" anchor="t">
            <a:normAutofit/>
          </a:bodyPr>
          <a:lstStyle/>
          <a:p>
            <a:pPr algn="l" indent="0" marL="0">
              <a:lnSpc>
                <a:spcPts val="3467"/>
              </a:lnSpc>
              <a:buNone/>
            </a:pPr>
            <a:r>
              <a:rPr lang="en-US" sz="2774" b="1" i="0" dirty="0">
                <a:solidFill>
                  <a:srgbClr val="1B2430"/>
                </a:solidFill>
                <a:latin typeface="Prompt" pitchFamily="34" charset="0"/>
                <a:ea typeface="Prompt" pitchFamily="34" charset="-122"/>
                <a:cs typeface="Prompt" pitchFamily="34" charset="-120"/>
              </a:rPr>
              <a:t>Gold: 6 ตาราง เชื่อมด้วย PK / FK (production_id) แบบ 1 : 1</a:t>
            </a:r>
            <a:endParaRPr lang="en-US" sz="2774" dirty="0"/>
          </a:p>
        </p:txBody>
      </p:sp>
      <p:pic>
        <p:nvPicPr>
          <p:cNvPr id="4" name="Image 0" descr="connector">    </p:cNvPr>
          <p:cNvPicPr>
            <a:picLocks noChangeAspect="1"/>
          </p:cNvPicPr>
          <p:nvPr/>
        </p:nvPicPr>
        <p:blipFill>
          <a:blip r:embed="rId1"/>
          <a:srcRect l="0" r="0" t="0" b="0"/>
          <a:stretch/>
        </p:blipFill>
        <p:spPr>
          <a:xfrm>
            <a:off x="3683000" y="2222500"/>
            <a:ext cx="1244600" cy="1752600"/>
          </a:xfrm>
          <a:prstGeom prst="rect">
            <a:avLst/>
          </a:prstGeom>
        </p:spPr>
      </p:pic>
      <p:pic>
        <p:nvPicPr>
          <p:cNvPr id="5" name="Image 1" descr="connector">    </p:cNvPr>
          <p:cNvPicPr>
            <a:picLocks noChangeAspect="1"/>
          </p:cNvPicPr>
          <p:nvPr/>
        </p:nvPicPr>
        <p:blipFill>
          <a:blip r:embed="rId2"/>
          <a:srcRect l="0" r="0" t="0" b="0"/>
          <a:stretch/>
        </p:blipFill>
        <p:spPr>
          <a:xfrm>
            <a:off x="3683000" y="3035300"/>
            <a:ext cx="1244600" cy="939800"/>
          </a:xfrm>
          <a:prstGeom prst="rect">
            <a:avLst/>
          </a:prstGeom>
        </p:spPr>
      </p:pic>
      <p:pic>
        <p:nvPicPr>
          <p:cNvPr id="6" name="Image 2" descr="connector">    </p:cNvPr>
          <p:cNvPicPr>
            <a:picLocks noChangeAspect="1"/>
          </p:cNvPicPr>
          <p:nvPr/>
        </p:nvPicPr>
        <p:blipFill>
          <a:blip r:embed="rId3"/>
          <a:srcRect l="0" r="0" t="0" b="0"/>
          <a:stretch/>
        </p:blipFill>
        <p:spPr>
          <a:xfrm>
            <a:off x="3683000" y="3848100"/>
            <a:ext cx="1244600" cy="127000"/>
          </a:xfrm>
          <a:prstGeom prst="rect">
            <a:avLst/>
          </a:prstGeom>
        </p:spPr>
      </p:pic>
      <p:pic>
        <p:nvPicPr>
          <p:cNvPr id="7" name="Image 3" descr="connector">    </p:cNvPr>
          <p:cNvPicPr>
            <a:picLocks noChangeAspect="1"/>
          </p:cNvPicPr>
          <p:nvPr/>
        </p:nvPicPr>
        <p:blipFill>
          <a:blip r:embed="rId4"/>
          <a:srcRect l="0" r="0" t="0" b="0"/>
          <a:stretch/>
        </p:blipFill>
        <p:spPr>
          <a:xfrm>
            <a:off x="3683000" y="3873500"/>
            <a:ext cx="1244600" cy="889000"/>
          </a:xfrm>
          <a:prstGeom prst="rect">
            <a:avLst/>
          </a:prstGeom>
        </p:spPr>
      </p:pic>
      <p:pic>
        <p:nvPicPr>
          <p:cNvPr id="8" name="Image 4" descr="connector">    </p:cNvPr>
          <p:cNvPicPr>
            <a:picLocks noChangeAspect="1"/>
          </p:cNvPicPr>
          <p:nvPr/>
        </p:nvPicPr>
        <p:blipFill>
          <a:blip r:embed="rId5"/>
          <a:srcRect l="0" r="0" t="0" b="0"/>
          <a:stretch/>
        </p:blipFill>
        <p:spPr>
          <a:xfrm>
            <a:off x="3683000" y="3873500"/>
            <a:ext cx="1244600" cy="1701800"/>
          </a:xfrm>
          <a:prstGeom prst="rect">
            <a:avLst/>
          </a:prstGeom>
        </p:spPr>
      </p:pic>
      <p:sp>
        <p:nvSpPr>
          <p:cNvPr id="9" name="Shape 2"/>
          <p:cNvSpPr/>
          <p:nvPr/>
        </p:nvSpPr>
        <p:spPr>
          <a:xfrm>
            <a:off x="812800" y="2908300"/>
            <a:ext cx="2921000" cy="2032000"/>
          </a:xfrm>
          <a:prstGeom prst="roundRect">
            <a:avLst>
              <a:gd name="adj" fmla="val 3750"/>
            </a:avLst>
          </a:prstGeom>
          <a:solidFill>
            <a:srgbClr val="1B2430"/>
          </a:solidFill>
          <a:ln/>
        </p:spPr>
      </p:sp>
      <p:sp>
        <p:nvSpPr>
          <p:cNvPr id="10" name="Text 3"/>
          <p:cNvSpPr/>
          <p:nvPr/>
        </p:nvSpPr>
        <p:spPr>
          <a:xfrm>
            <a:off x="990600" y="3086100"/>
            <a:ext cx="2642362" cy="312377"/>
          </a:xfrm>
          <a:prstGeom prst="rect">
            <a:avLst/>
          </a:prstGeom>
          <a:noFill/>
          <a:ln/>
        </p:spPr>
        <p:txBody>
          <a:bodyPr wrap="square" lIns="0" tIns="0" rIns="0" bIns="0" rtlCol="0" anchor="t">
            <a:normAutofit/>
          </a:bodyPr>
          <a:lstStyle/>
          <a:p>
            <a:pPr algn="l" indent="0" marL="0">
              <a:lnSpc>
                <a:spcPts val="2065"/>
              </a:lnSpc>
              <a:buNone/>
            </a:pPr>
            <a:r>
              <a:rPr lang="en-US" sz="1475" b="1" dirty="0">
                <a:solidFill>
                  <a:srgbClr val="F6F4EF"/>
                </a:solidFill>
                <a:latin typeface="Prompt" pitchFamily="34" charset="0"/>
                <a:ea typeface="Prompt" pitchFamily="34" charset="-122"/>
                <a:cs typeface="Prompt" pitchFamily="34" charset="-120"/>
              </a:rPr>
              <a:t>production </a:t>
            </a:r>
            <a:r>
              <a:rPr lang="en-US" sz="1475" b="1" dirty="0">
                <a:solidFill>
                  <a:srgbClr val="9AA6B4"/>
                </a:solidFill>
                <a:latin typeface="Prompt" pitchFamily="34" charset="0"/>
                <a:ea typeface="Prompt" pitchFamily="34" charset="-122"/>
                <a:cs typeface="Prompt" pitchFamily="34" charset="-120"/>
              </a:rPr>
              <a:t>(ตารางแม่)</a:t>
            </a:r>
            <a:endParaRPr lang="en-US" sz="1475" dirty="0"/>
          </a:p>
        </p:txBody>
      </p:sp>
      <p:sp>
        <p:nvSpPr>
          <p:cNvPr id="11" name="Text 4"/>
          <p:cNvSpPr/>
          <p:nvPr/>
        </p:nvSpPr>
        <p:spPr>
          <a:xfrm>
            <a:off x="990600" y="3451225"/>
            <a:ext cx="372666" cy="260061"/>
          </a:xfrm>
          <a:prstGeom prst="roundRect">
            <a:avLst>
              <a:gd name="adj" fmla="val 14650"/>
            </a:avLst>
          </a:prstGeom>
          <a:solidFill>
            <a:srgbClr val="F2A65A"/>
          </a:solidFill>
          <a:ln/>
        </p:spPr>
        <p:txBody>
          <a:bodyPr wrap="none" lIns="0" tIns="1541"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PK</a:t>
            </a:r>
            <a:endParaRPr lang="en-US" sz="1200" dirty="0"/>
          </a:p>
        </p:txBody>
      </p:sp>
      <p:sp>
        <p:nvSpPr>
          <p:cNvPr id="12" name="Text 5"/>
          <p:cNvSpPr/>
          <p:nvPr/>
        </p:nvSpPr>
        <p:spPr>
          <a:xfrm>
            <a:off x="1439466" y="3463888"/>
            <a:ext cx="2137843"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Anuphan" pitchFamily="34" charset="0"/>
                <a:ea typeface="Anuphan" pitchFamily="34" charset="-122"/>
                <a:cs typeface="Anuphan" pitchFamily="34" charset="-120"/>
              </a:rPr>
              <a:t>production_id (BIGINT)</a:t>
            </a:r>
            <a:endParaRPr lang="en-US" sz="1200" dirty="0"/>
          </a:p>
        </p:txBody>
      </p:sp>
      <p:sp>
        <p:nvSpPr>
          <p:cNvPr id="13" name="Text 6"/>
          <p:cNvSpPr/>
          <p:nvPr/>
        </p:nvSpPr>
        <p:spPr>
          <a:xfrm>
            <a:off x="990600" y="3778647"/>
            <a:ext cx="381072" cy="260061"/>
          </a:xfrm>
          <a:prstGeom prst="roundRect">
            <a:avLst>
              <a:gd name="adj" fmla="val 14650"/>
            </a:avLst>
          </a:prstGeom>
          <a:solidFill>
            <a:srgbClr val="C9D2DC"/>
          </a:solidFill>
          <a:ln/>
        </p:spPr>
        <p:txBody>
          <a:bodyPr wrap="none" lIns="0" tIns="1541"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UK</a:t>
            </a:r>
            <a:endParaRPr lang="en-US" sz="1200" dirty="0"/>
          </a:p>
        </p:txBody>
      </p:sp>
      <p:sp>
        <p:nvSpPr>
          <p:cNvPr id="14" name="Text 7"/>
          <p:cNvSpPr/>
          <p:nvPr/>
        </p:nvSpPr>
        <p:spPr>
          <a:xfrm>
            <a:off x="1447872" y="3791310"/>
            <a:ext cx="1874347"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Anuphan" pitchFamily="34" charset="0"/>
                <a:ea typeface="Anuphan" pitchFamily="34" charset="-122"/>
                <a:cs typeface="Anuphan" pitchFamily="34" charset="-120"/>
              </a:rPr>
              <a:t>record_id (SHA-256)</a:t>
            </a:r>
            <a:endParaRPr lang="en-US" sz="1200" dirty="0"/>
          </a:p>
        </p:txBody>
      </p:sp>
      <p:sp>
        <p:nvSpPr>
          <p:cNvPr id="15" name="Text 8"/>
          <p:cNvSpPr/>
          <p:nvPr/>
        </p:nvSpPr>
        <p:spPr>
          <a:xfrm>
            <a:off x="990600" y="4116822"/>
            <a:ext cx="2642362" cy="671080"/>
          </a:xfrm>
          <a:prstGeom prst="rect">
            <a:avLst/>
          </a:prstGeom>
          <a:noFill/>
          <a:ln/>
        </p:spPr>
        <p:txBody>
          <a:bodyPr wrap="square" lIns="0" tIns="0" rIns="0" bIns="0" rtlCol="0" anchor="t">
            <a:normAutofit/>
          </a:bodyPr>
          <a:lstStyle/>
          <a:p>
            <a:pPr algn="l" indent="0" marL="0">
              <a:lnSpc>
                <a:spcPts val="1549"/>
              </a:lnSpc>
              <a:buNone/>
            </a:pPr>
            <a:r>
              <a:rPr lang="en-US" sz="1106" dirty="0">
                <a:solidFill>
                  <a:srgbClr val="C9D2DC"/>
                </a:solidFill>
                <a:latin typeface="Anuphan" pitchFamily="34" charset="0"/>
                <a:ea typeface="Anuphan" pitchFamily="34" charset="-122"/>
                <a:cs typeface="Anuphan" pitchFamily="34" charset="-120"/>
              </a:rPr>
              <a:t>production_volume, production_cost, cost_per_unit, volume_band</a:t>
            </a:r>
            <a:endParaRPr lang="en-US" sz="1106" dirty="0"/>
          </a:p>
        </p:txBody>
      </p:sp>
      <p:sp>
        <p:nvSpPr>
          <p:cNvPr id="16" name="Text 9"/>
          <p:cNvSpPr/>
          <p:nvPr/>
        </p:nvSpPr>
        <p:spPr>
          <a:xfrm>
            <a:off x="812800" y="5130800"/>
            <a:ext cx="3008630"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เส้นเชื่อม = </a:t>
            </a:r>
            <a:r>
              <a:rPr lang="en-US" sz="1200" b="1" dirty="0">
                <a:solidFill>
                  <a:srgbClr val="1B2430"/>
                </a:solidFill>
                <a:latin typeface="Anuphan" pitchFamily="34" charset="0"/>
                <a:ea typeface="Anuphan" pitchFamily="34" charset="-122"/>
                <a:cs typeface="Anuphan" pitchFamily="34" charset="-120"/>
              </a:rPr>
              <a:t>FK production_id → production.production_id</a:t>
            </a:r>
            <a:r>
              <a:rPr lang="en-US" sz="1200" dirty="0">
                <a:solidFill>
                  <a:srgbClr val="4F5966"/>
                </a:solidFill>
                <a:latin typeface="Anuphan" pitchFamily="34" charset="0"/>
                <a:ea typeface="Anuphan" pitchFamily="34" charset="-122"/>
                <a:cs typeface="Anuphan" pitchFamily="34" charset="-120"/>
              </a:rPr>
              <a:t> · NOT NULL UNIQUE → 1 : 1</a:t>
            </a:r>
            <a:endParaRPr lang="en-US" sz="1200" dirty="0"/>
          </a:p>
        </p:txBody>
      </p:sp>
      <p:sp>
        <p:nvSpPr>
          <p:cNvPr id="17" name="Shape 10"/>
          <p:cNvSpPr/>
          <p:nvPr/>
        </p:nvSpPr>
        <p:spPr>
          <a:xfrm>
            <a:off x="4879975" y="1958975"/>
            <a:ext cx="6496050" cy="628650"/>
          </a:xfrm>
          <a:prstGeom prst="roundRect">
            <a:avLst>
              <a:gd name="adj" fmla="val 9596"/>
            </a:avLst>
          </a:prstGeom>
          <a:solidFill>
            <a:srgbClr val="FDFCFA"/>
          </a:solidFill>
          <a:ln w="6350">
            <a:solidFill>
              <a:srgbClr val="DDD8CE"/>
            </a:solidFill>
            <a:prstDash val="solid"/>
          </a:ln>
        </p:spPr>
      </p:sp>
      <p:sp>
        <p:nvSpPr>
          <p:cNvPr id="18" name="Text 11"/>
          <p:cNvSpPr/>
          <p:nvPr/>
        </p:nvSpPr>
        <p:spPr>
          <a:xfrm>
            <a:off x="5008418" y="2024534"/>
            <a:ext cx="1447800"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nuphan" pitchFamily="34" charset="0"/>
                <a:ea typeface="Anuphan" pitchFamily="34" charset="-122"/>
                <a:cs typeface="Anuphan" pitchFamily="34" charset="-120"/>
              </a:rPr>
              <a:t>supply_chain</a:t>
            </a:r>
            <a:endParaRPr lang="en-US" sz="1300" dirty="0"/>
          </a:p>
        </p:txBody>
      </p:sp>
      <p:sp>
        <p:nvSpPr>
          <p:cNvPr id="19" name="Text 12"/>
          <p:cNvSpPr/>
          <p:nvPr/>
        </p:nvSpPr>
        <p:spPr>
          <a:xfrm>
            <a:off x="6481618" y="2034313"/>
            <a:ext cx="1636929" cy="234661"/>
          </a:xfrm>
          <a:custGeom>
            <a:avLst/>
            <a:gdLst/>
            <a:ahLst/>
            <a:cxnLst/>
            <a:rect l="l" t="t" r="r" b="b"/>
            <a:pathLst>
              <a:path w="1636929" h="234661">
                <a:moveTo>
                  <a:pt x="38100" y="0"/>
                </a:moveTo>
                <a:lnTo>
                  <a:pt x="1598829" y="0"/>
                </a:lnTo>
                <a:arcTo hR="38100" wR="38100" stAng="16200000" swAng="5400000"/>
                <a:lnTo>
                  <a:pt x="1636929" y="196561"/>
                </a:lnTo>
                <a:arcTo hR="38100" wR="38100" stAng="0" swAng="5400000"/>
                <a:lnTo>
                  <a:pt x="38100" y="234661"/>
                </a:lnTo>
                <a:arcTo hR="38100" wR="38100" stAng="5400000" swAng="5400000"/>
                <a:lnTo>
                  <a:pt x="0" y="38100"/>
                </a:lnTo>
                <a:arcTo hR="38100" wR="38100" stAng="10800000" swAng="5400000"/>
                <a:close/>
              </a:path>
            </a:pathLst>
          </a:custGeom>
          <a:solidFill>
            <a:srgbClr val="F3E7C2"/>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PK supply_chain_id</a:t>
            </a:r>
            <a:endParaRPr lang="en-US" sz="1200" dirty="0"/>
          </a:p>
        </p:txBody>
      </p:sp>
      <p:sp>
        <p:nvSpPr>
          <p:cNvPr id="20" name="Text 13"/>
          <p:cNvSpPr/>
          <p:nvPr/>
        </p:nvSpPr>
        <p:spPr>
          <a:xfrm>
            <a:off x="8194747" y="2034313"/>
            <a:ext cx="1461474" cy="234661"/>
          </a:xfrm>
          <a:custGeom>
            <a:avLst/>
            <a:gdLst/>
            <a:ahLst/>
            <a:cxnLst/>
            <a:rect l="l" t="t" r="r" b="b"/>
            <a:pathLst>
              <a:path w="1461474" h="234661">
                <a:moveTo>
                  <a:pt x="38100" y="0"/>
                </a:moveTo>
                <a:lnTo>
                  <a:pt x="1423374" y="0"/>
                </a:lnTo>
                <a:arcTo hR="38100" wR="38100" stAng="16200000" swAng="5400000"/>
                <a:lnTo>
                  <a:pt x="1461474" y="196561"/>
                </a:lnTo>
                <a:arcTo hR="38100" wR="38100" stAng="0" swAng="5400000"/>
                <a:lnTo>
                  <a:pt x="38100" y="234661"/>
                </a:lnTo>
                <a:arcTo hR="38100" wR="38100" stAng="5400000" swAng="5400000"/>
                <a:lnTo>
                  <a:pt x="0" y="38100"/>
                </a:lnTo>
                <a:arcTo hR="38100" wR="38100" stAng="10800000" swAng="5400000"/>
                <a:close/>
              </a:path>
            </a:pathLst>
          </a:custGeom>
          <a:solidFill>
            <a:srgbClr val="E3ECF6"/>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FK production_id</a:t>
            </a:r>
            <a:endParaRPr lang="en-US" sz="1200" dirty="0"/>
          </a:p>
        </p:txBody>
      </p:sp>
      <p:sp>
        <p:nvSpPr>
          <p:cNvPr id="21" name="Text 14"/>
          <p:cNvSpPr/>
          <p:nvPr/>
        </p:nvSpPr>
        <p:spPr>
          <a:xfrm>
            <a:off x="5008418" y="2304188"/>
            <a:ext cx="6426339" cy="24328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F5966"/>
                </a:solidFill>
                <a:latin typeface="Anuphan" pitchFamily="34" charset="0"/>
                <a:ea typeface="Anuphan" pitchFamily="34" charset="-122"/>
                <a:cs typeface="Anuphan" pitchFamily="34" charset="-120"/>
              </a:rPr>
              <a:t>supplier_quality_pct, delivery_delay_days, bands</a:t>
            </a:r>
            <a:endParaRPr lang="en-US" sz="1200" dirty="0"/>
          </a:p>
        </p:txBody>
      </p:sp>
      <p:sp>
        <p:nvSpPr>
          <p:cNvPr id="22" name="Shape 15"/>
          <p:cNvSpPr/>
          <p:nvPr/>
        </p:nvSpPr>
        <p:spPr>
          <a:xfrm>
            <a:off x="4879975" y="2771775"/>
            <a:ext cx="6496050" cy="628650"/>
          </a:xfrm>
          <a:prstGeom prst="roundRect">
            <a:avLst>
              <a:gd name="adj" fmla="val 9596"/>
            </a:avLst>
          </a:prstGeom>
          <a:solidFill>
            <a:srgbClr val="FDFCFA"/>
          </a:solidFill>
          <a:ln w="6350">
            <a:solidFill>
              <a:srgbClr val="DDD8CE"/>
            </a:solidFill>
            <a:prstDash val="solid"/>
          </a:ln>
        </p:spPr>
      </p:sp>
      <p:sp>
        <p:nvSpPr>
          <p:cNvPr id="23" name="Text 16"/>
          <p:cNvSpPr/>
          <p:nvPr/>
        </p:nvSpPr>
        <p:spPr>
          <a:xfrm>
            <a:off x="5008418" y="2837334"/>
            <a:ext cx="1447800"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nuphan" pitchFamily="34" charset="0"/>
                <a:ea typeface="Anuphan" pitchFamily="34" charset="-122"/>
                <a:cs typeface="Anuphan" pitchFamily="34" charset="-120"/>
              </a:rPr>
              <a:t>quality</a:t>
            </a:r>
            <a:endParaRPr lang="en-US" sz="1300" dirty="0"/>
          </a:p>
        </p:txBody>
      </p:sp>
      <p:sp>
        <p:nvSpPr>
          <p:cNvPr id="24" name="Text 17"/>
          <p:cNvSpPr/>
          <p:nvPr/>
        </p:nvSpPr>
        <p:spPr>
          <a:xfrm>
            <a:off x="6481618" y="2847113"/>
            <a:ext cx="1150360" cy="234661"/>
          </a:xfrm>
          <a:custGeom>
            <a:avLst/>
            <a:gdLst/>
            <a:ahLst/>
            <a:cxnLst/>
            <a:rect l="l" t="t" r="r" b="b"/>
            <a:pathLst>
              <a:path w="1150360" h="234661">
                <a:moveTo>
                  <a:pt x="38100" y="0"/>
                </a:moveTo>
                <a:lnTo>
                  <a:pt x="1112260" y="0"/>
                </a:lnTo>
                <a:arcTo hR="38100" wR="38100" stAng="16200000" swAng="5400000"/>
                <a:lnTo>
                  <a:pt x="1150360" y="196561"/>
                </a:lnTo>
                <a:arcTo hR="38100" wR="38100" stAng="0" swAng="5400000"/>
                <a:lnTo>
                  <a:pt x="38100" y="234661"/>
                </a:lnTo>
                <a:arcTo hR="38100" wR="38100" stAng="5400000" swAng="5400000"/>
                <a:lnTo>
                  <a:pt x="0" y="38100"/>
                </a:lnTo>
                <a:arcTo hR="38100" wR="38100" stAng="10800000" swAng="5400000"/>
                <a:close/>
              </a:path>
            </a:pathLst>
          </a:custGeom>
          <a:solidFill>
            <a:srgbClr val="F3E7C2"/>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PK quality_id</a:t>
            </a:r>
            <a:endParaRPr lang="en-US" sz="1200" dirty="0"/>
          </a:p>
        </p:txBody>
      </p:sp>
      <p:sp>
        <p:nvSpPr>
          <p:cNvPr id="25" name="Text 18"/>
          <p:cNvSpPr/>
          <p:nvPr/>
        </p:nvSpPr>
        <p:spPr>
          <a:xfrm>
            <a:off x="7708178" y="2847113"/>
            <a:ext cx="1461474" cy="234661"/>
          </a:xfrm>
          <a:custGeom>
            <a:avLst/>
            <a:gdLst/>
            <a:ahLst/>
            <a:cxnLst/>
            <a:rect l="l" t="t" r="r" b="b"/>
            <a:pathLst>
              <a:path w="1461474" h="234661">
                <a:moveTo>
                  <a:pt x="38100" y="0"/>
                </a:moveTo>
                <a:lnTo>
                  <a:pt x="1423374" y="0"/>
                </a:lnTo>
                <a:arcTo hR="38100" wR="38100" stAng="16200000" swAng="5400000"/>
                <a:lnTo>
                  <a:pt x="1461474" y="196561"/>
                </a:lnTo>
                <a:arcTo hR="38100" wR="38100" stAng="0" swAng="5400000"/>
                <a:lnTo>
                  <a:pt x="38100" y="234661"/>
                </a:lnTo>
                <a:arcTo hR="38100" wR="38100" stAng="5400000" swAng="5400000"/>
                <a:lnTo>
                  <a:pt x="0" y="38100"/>
                </a:lnTo>
                <a:arcTo hR="38100" wR="38100" stAng="10800000" swAng="5400000"/>
                <a:close/>
              </a:path>
            </a:pathLst>
          </a:custGeom>
          <a:solidFill>
            <a:srgbClr val="E3ECF6"/>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FK production_id</a:t>
            </a:r>
            <a:endParaRPr lang="en-US" sz="1200" dirty="0"/>
          </a:p>
        </p:txBody>
      </p:sp>
      <p:sp>
        <p:nvSpPr>
          <p:cNvPr id="26" name="Text 19"/>
          <p:cNvSpPr/>
          <p:nvPr/>
        </p:nvSpPr>
        <p:spPr>
          <a:xfrm>
            <a:off x="5008418" y="3116988"/>
            <a:ext cx="6426339" cy="24328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F5966"/>
                </a:solidFill>
                <a:latin typeface="Anuphan" pitchFamily="34" charset="0"/>
                <a:ea typeface="Anuphan" pitchFamily="34" charset="-122"/>
                <a:cs typeface="Anuphan" pitchFamily="34" charset="-120"/>
              </a:rPr>
              <a:t>defect_rate, quality_score_pct, is_high_defect (label), bands</a:t>
            </a:r>
            <a:endParaRPr lang="en-US" sz="1200" dirty="0"/>
          </a:p>
        </p:txBody>
      </p:sp>
      <p:sp>
        <p:nvSpPr>
          <p:cNvPr id="27" name="Shape 20"/>
          <p:cNvSpPr/>
          <p:nvPr/>
        </p:nvSpPr>
        <p:spPr>
          <a:xfrm>
            <a:off x="4879975" y="3584575"/>
            <a:ext cx="6496050" cy="628650"/>
          </a:xfrm>
          <a:prstGeom prst="roundRect">
            <a:avLst>
              <a:gd name="adj" fmla="val 9596"/>
            </a:avLst>
          </a:prstGeom>
          <a:solidFill>
            <a:srgbClr val="FDFCFA"/>
          </a:solidFill>
          <a:ln w="6350">
            <a:solidFill>
              <a:srgbClr val="DDD8CE"/>
            </a:solidFill>
            <a:prstDash val="solid"/>
          </a:ln>
        </p:spPr>
      </p:sp>
      <p:sp>
        <p:nvSpPr>
          <p:cNvPr id="28" name="Text 21"/>
          <p:cNvSpPr/>
          <p:nvPr/>
        </p:nvSpPr>
        <p:spPr>
          <a:xfrm>
            <a:off x="5008418" y="3650134"/>
            <a:ext cx="1447800"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nuphan" pitchFamily="34" charset="0"/>
                <a:ea typeface="Anuphan" pitchFamily="34" charset="-122"/>
                <a:cs typeface="Anuphan" pitchFamily="34" charset="-120"/>
              </a:rPr>
              <a:t>maintenance</a:t>
            </a:r>
            <a:endParaRPr lang="en-US" sz="1300" dirty="0"/>
          </a:p>
        </p:txBody>
      </p:sp>
      <p:sp>
        <p:nvSpPr>
          <p:cNvPr id="29" name="Text 22"/>
          <p:cNvSpPr/>
          <p:nvPr/>
        </p:nvSpPr>
        <p:spPr>
          <a:xfrm>
            <a:off x="6481618" y="3659913"/>
            <a:ext cx="1627584" cy="234661"/>
          </a:xfrm>
          <a:custGeom>
            <a:avLst/>
            <a:gdLst/>
            <a:ahLst/>
            <a:cxnLst/>
            <a:rect l="l" t="t" r="r" b="b"/>
            <a:pathLst>
              <a:path w="1627584" h="234661">
                <a:moveTo>
                  <a:pt x="38100" y="0"/>
                </a:moveTo>
                <a:lnTo>
                  <a:pt x="1589484" y="0"/>
                </a:lnTo>
                <a:arcTo hR="38100" wR="38100" stAng="16200000" swAng="5400000"/>
                <a:lnTo>
                  <a:pt x="1627584" y="196561"/>
                </a:lnTo>
                <a:arcTo hR="38100" wR="38100" stAng="0" swAng="5400000"/>
                <a:lnTo>
                  <a:pt x="38100" y="234661"/>
                </a:lnTo>
                <a:arcTo hR="38100" wR="38100" stAng="5400000" swAng="5400000"/>
                <a:lnTo>
                  <a:pt x="0" y="38100"/>
                </a:lnTo>
                <a:arcTo hR="38100" wR="38100" stAng="10800000" swAng="5400000"/>
                <a:close/>
              </a:path>
            </a:pathLst>
          </a:custGeom>
          <a:solidFill>
            <a:srgbClr val="F3E7C2"/>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PK maintenance_id</a:t>
            </a:r>
            <a:endParaRPr lang="en-US" sz="1200" dirty="0"/>
          </a:p>
        </p:txBody>
      </p:sp>
      <p:sp>
        <p:nvSpPr>
          <p:cNvPr id="30" name="Text 23"/>
          <p:cNvSpPr/>
          <p:nvPr/>
        </p:nvSpPr>
        <p:spPr>
          <a:xfrm>
            <a:off x="8185403" y="3659913"/>
            <a:ext cx="1461474" cy="234661"/>
          </a:xfrm>
          <a:custGeom>
            <a:avLst/>
            <a:gdLst/>
            <a:ahLst/>
            <a:cxnLst/>
            <a:rect l="l" t="t" r="r" b="b"/>
            <a:pathLst>
              <a:path w="1461474" h="234661">
                <a:moveTo>
                  <a:pt x="38100" y="0"/>
                </a:moveTo>
                <a:lnTo>
                  <a:pt x="1423374" y="0"/>
                </a:lnTo>
                <a:arcTo hR="38100" wR="38100" stAng="16200000" swAng="5400000"/>
                <a:lnTo>
                  <a:pt x="1461474" y="196561"/>
                </a:lnTo>
                <a:arcTo hR="38100" wR="38100" stAng="0" swAng="5400000"/>
                <a:lnTo>
                  <a:pt x="38100" y="234661"/>
                </a:lnTo>
                <a:arcTo hR="38100" wR="38100" stAng="5400000" swAng="5400000"/>
                <a:lnTo>
                  <a:pt x="0" y="38100"/>
                </a:lnTo>
                <a:arcTo hR="38100" wR="38100" stAng="10800000" swAng="5400000"/>
                <a:close/>
              </a:path>
            </a:pathLst>
          </a:custGeom>
          <a:solidFill>
            <a:srgbClr val="E3ECF6"/>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FK production_id</a:t>
            </a:r>
            <a:endParaRPr lang="en-US" sz="1200" dirty="0"/>
          </a:p>
        </p:txBody>
      </p:sp>
      <p:sp>
        <p:nvSpPr>
          <p:cNvPr id="31" name="Text 24"/>
          <p:cNvSpPr/>
          <p:nvPr/>
        </p:nvSpPr>
        <p:spPr>
          <a:xfrm>
            <a:off x="5008418" y="3929788"/>
            <a:ext cx="6426339" cy="24328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F5966"/>
                </a:solidFill>
                <a:latin typeface="Anuphan" pitchFamily="34" charset="0"/>
                <a:ea typeface="Anuphan" pitchFamily="34" charset="-122"/>
                <a:cs typeface="Anuphan" pitchFamily="34" charset="-120"/>
              </a:rPr>
              <a:t>maintenance_hours_per_week, downtime_pct, bands</a:t>
            </a:r>
            <a:endParaRPr lang="en-US" sz="1200" dirty="0"/>
          </a:p>
        </p:txBody>
      </p:sp>
      <p:sp>
        <p:nvSpPr>
          <p:cNvPr id="32" name="Shape 25"/>
          <p:cNvSpPr/>
          <p:nvPr/>
        </p:nvSpPr>
        <p:spPr>
          <a:xfrm>
            <a:off x="4879975" y="4397375"/>
            <a:ext cx="6496050" cy="628650"/>
          </a:xfrm>
          <a:prstGeom prst="roundRect">
            <a:avLst>
              <a:gd name="adj" fmla="val 9596"/>
            </a:avLst>
          </a:prstGeom>
          <a:solidFill>
            <a:srgbClr val="FDFCFA"/>
          </a:solidFill>
          <a:ln w="6350">
            <a:solidFill>
              <a:srgbClr val="DDD8CE"/>
            </a:solidFill>
            <a:prstDash val="solid"/>
          </a:ln>
        </p:spPr>
      </p:sp>
      <p:sp>
        <p:nvSpPr>
          <p:cNvPr id="33" name="Text 26"/>
          <p:cNvSpPr/>
          <p:nvPr/>
        </p:nvSpPr>
        <p:spPr>
          <a:xfrm>
            <a:off x="5008418" y="4462934"/>
            <a:ext cx="1447800"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nuphan" pitchFamily="34" charset="0"/>
                <a:ea typeface="Anuphan" pitchFamily="34" charset="-122"/>
                <a:cs typeface="Anuphan" pitchFamily="34" charset="-120"/>
              </a:rPr>
              <a:t>inventory</a:t>
            </a:r>
            <a:endParaRPr lang="en-US" sz="1300" dirty="0"/>
          </a:p>
        </p:txBody>
      </p:sp>
      <p:sp>
        <p:nvSpPr>
          <p:cNvPr id="34" name="Text 27"/>
          <p:cNvSpPr/>
          <p:nvPr/>
        </p:nvSpPr>
        <p:spPr>
          <a:xfrm>
            <a:off x="6481618" y="4472713"/>
            <a:ext cx="1345334" cy="234661"/>
          </a:xfrm>
          <a:custGeom>
            <a:avLst/>
            <a:gdLst/>
            <a:ahLst/>
            <a:cxnLst/>
            <a:rect l="l" t="t" r="r" b="b"/>
            <a:pathLst>
              <a:path w="1345334" h="234661">
                <a:moveTo>
                  <a:pt x="38100" y="0"/>
                </a:moveTo>
                <a:lnTo>
                  <a:pt x="1307234" y="0"/>
                </a:lnTo>
                <a:arcTo hR="38100" wR="38100" stAng="16200000" swAng="5400000"/>
                <a:lnTo>
                  <a:pt x="1345334" y="196561"/>
                </a:lnTo>
                <a:arcTo hR="38100" wR="38100" stAng="0" swAng="5400000"/>
                <a:lnTo>
                  <a:pt x="38100" y="234661"/>
                </a:lnTo>
                <a:arcTo hR="38100" wR="38100" stAng="5400000" swAng="5400000"/>
                <a:lnTo>
                  <a:pt x="0" y="38100"/>
                </a:lnTo>
                <a:arcTo hR="38100" wR="38100" stAng="10800000" swAng="5400000"/>
                <a:close/>
              </a:path>
            </a:pathLst>
          </a:custGeom>
          <a:solidFill>
            <a:srgbClr val="F3E7C2"/>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PK inventory_id</a:t>
            </a:r>
            <a:endParaRPr lang="en-US" sz="1200" dirty="0"/>
          </a:p>
        </p:txBody>
      </p:sp>
      <p:sp>
        <p:nvSpPr>
          <p:cNvPr id="35" name="Text 28"/>
          <p:cNvSpPr/>
          <p:nvPr/>
        </p:nvSpPr>
        <p:spPr>
          <a:xfrm>
            <a:off x="7903152" y="4472713"/>
            <a:ext cx="1461474" cy="234661"/>
          </a:xfrm>
          <a:custGeom>
            <a:avLst/>
            <a:gdLst/>
            <a:ahLst/>
            <a:cxnLst/>
            <a:rect l="l" t="t" r="r" b="b"/>
            <a:pathLst>
              <a:path w="1461474" h="234661">
                <a:moveTo>
                  <a:pt x="38100" y="0"/>
                </a:moveTo>
                <a:lnTo>
                  <a:pt x="1423374" y="0"/>
                </a:lnTo>
                <a:arcTo hR="38100" wR="38100" stAng="16200000" swAng="5400000"/>
                <a:lnTo>
                  <a:pt x="1461474" y="196561"/>
                </a:lnTo>
                <a:arcTo hR="38100" wR="38100" stAng="0" swAng="5400000"/>
                <a:lnTo>
                  <a:pt x="38100" y="234661"/>
                </a:lnTo>
                <a:arcTo hR="38100" wR="38100" stAng="5400000" swAng="5400000"/>
                <a:lnTo>
                  <a:pt x="0" y="38100"/>
                </a:lnTo>
                <a:arcTo hR="38100" wR="38100" stAng="10800000" swAng="5400000"/>
                <a:close/>
              </a:path>
            </a:pathLst>
          </a:custGeom>
          <a:solidFill>
            <a:srgbClr val="E3ECF6"/>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FK production_id</a:t>
            </a:r>
            <a:endParaRPr lang="en-US" sz="1200" dirty="0"/>
          </a:p>
        </p:txBody>
      </p:sp>
      <p:sp>
        <p:nvSpPr>
          <p:cNvPr id="36" name="Text 29"/>
          <p:cNvSpPr/>
          <p:nvPr/>
        </p:nvSpPr>
        <p:spPr>
          <a:xfrm>
            <a:off x="5008418" y="4742588"/>
            <a:ext cx="6426339" cy="24328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F5966"/>
                </a:solidFill>
                <a:latin typeface="Anuphan" pitchFamily="34" charset="0"/>
                <a:ea typeface="Anuphan" pitchFamily="34" charset="-122"/>
                <a:cs typeface="Anuphan" pitchFamily="34" charset="-120"/>
              </a:rPr>
              <a:t>inventory_turnover_ratio, stockout_rate, stockout_band</a:t>
            </a:r>
            <a:endParaRPr lang="en-US" sz="1200" dirty="0"/>
          </a:p>
        </p:txBody>
      </p:sp>
      <p:sp>
        <p:nvSpPr>
          <p:cNvPr id="37" name="Shape 30"/>
          <p:cNvSpPr/>
          <p:nvPr/>
        </p:nvSpPr>
        <p:spPr>
          <a:xfrm>
            <a:off x="4879975" y="5210175"/>
            <a:ext cx="6496050" cy="628650"/>
          </a:xfrm>
          <a:prstGeom prst="roundRect">
            <a:avLst>
              <a:gd name="adj" fmla="val 9596"/>
            </a:avLst>
          </a:prstGeom>
          <a:solidFill>
            <a:srgbClr val="FDFCFA"/>
          </a:solidFill>
          <a:ln w="6350">
            <a:solidFill>
              <a:srgbClr val="DDD8CE"/>
            </a:solidFill>
            <a:prstDash val="solid"/>
          </a:ln>
        </p:spPr>
      </p:sp>
      <p:sp>
        <p:nvSpPr>
          <p:cNvPr id="38" name="Text 31"/>
          <p:cNvSpPr/>
          <p:nvPr/>
        </p:nvSpPr>
        <p:spPr>
          <a:xfrm>
            <a:off x="5008418" y="5275734"/>
            <a:ext cx="1447800"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nuphan" pitchFamily="34" charset="0"/>
                <a:ea typeface="Anuphan" pitchFamily="34" charset="-122"/>
                <a:cs typeface="Anuphan" pitchFamily="34" charset="-120"/>
              </a:rPr>
              <a:t>operations</a:t>
            </a:r>
            <a:endParaRPr lang="en-US" sz="1300" dirty="0"/>
          </a:p>
        </p:txBody>
      </p:sp>
      <p:sp>
        <p:nvSpPr>
          <p:cNvPr id="39" name="Text 32"/>
          <p:cNvSpPr/>
          <p:nvPr/>
        </p:nvSpPr>
        <p:spPr>
          <a:xfrm>
            <a:off x="6481618" y="5285513"/>
            <a:ext cx="1449640" cy="234661"/>
          </a:xfrm>
          <a:custGeom>
            <a:avLst/>
            <a:gdLst/>
            <a:ahLst/>
            <a:cxnLst/>
            <a:rect l="l" t="t" r="r" b="b"/>
            <a:pathLst>
              <a:path w="1449640" h="234661">
                <a:moveTo>
                  <a:pt x="38100" y="0"/>
                </a:moveTo>
                <a:lnTo>
                  <a:pt x="1411540" y="0"/>
                </a:lnTo>
                <a:arcTo hR="38100" wR="38100" stAng="16200000" swAng="5400000"/>
                <a:lnTo>
                  <a:pt x="1449640" y="196561"/>
                </a:lnTo>
                <a:arcTo hR="38100" wR="38100" stAng="0" swAng="5400000"/>
                <a:lnTo>
                  <a:pt x="38100" y="234661"/>
                </a:lnTo>
                <a:arcTo hR="38100" wR="38100" stAng="5400000" swAng="5400000"/>
                <a:lnTo>
                  <a:pt x="0" y="38100"/>
                </a:lnTo>
                <a:arcTo hR="38100" wR="38100" stAng="10800000" swAng="5400000"/>
                <a:close/>
              </a:path>
            </a:pathLst>
          </a:custGeom>
          <a:solidFill>
            <a:srgbClr val="F3E7C2"/>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PK operations_id</a:t>
            </a:r>
            <a:endParaRPr lang="en-US" sz="1200" dirty="0"/>
          </a:p>
        </p:txBody>
      </p:sp>
      <p:sp>
        <p:nvSpPr>
          <p:cNvPr id="40" name="Text 33"/>
          <p:cNvSpPr/>
          <p:nvPr/>
        </p:nvSpPr>
        <p:spPr>
          <a:xfrm>
            <a:off x="8007459" y="5285513"/>
            <a:ext cx="1461474" cy="234661"/>
          </a:xfrm>
          <a:custGeom>
            <a:avLst/>
            <a:gdLst/>
            <a:ahLst/>
            <a:cxnLst/>
            <a:rect l="l" t="t" r="r" b="b"/>
            <a:pathLst>
              <a:path w="1461474" h="234661">
                <a:moveTo>
                  <a:pt x="38100" y="0"/>
                </a:moveTo>
                <a:lnTo>
                  <a:pt x="1423374" y="0"/>
                </a:lnTo>
                <a:arcTo hR="38100" wR="38100" stAng="16200000" swAng="5400000"/>
                <a:lnTo>
                  <a:pt x="1461474" y="196561"/>
                </a:lnTo>
                <a:arcTo hR="38100" wR="38100" stAng="0" swAng="5400000"/>
                <a:lnTo>
                  <a:pt x="38100" y="234661"/>
                </a:lnTo>
                <a:arcTo hR="38100" wR="38100" stAng="5400000" swAng="5400000"/>
                <a:lnTo>
                  <a:pt x="0" y="38100"/>
                </a:lnTo>
                <a:arcTo hR="38100" wR="38100" stAng="10800000" swAng="5400000"/>
                <a:close/>
              </a:path>
            </a:pathLst>
          </a:custGeom>
          <a:solidFill>
            <a:srgbClr val="E3ECF6"/>
          </a:solidFill>
          <a:ln/>
        </p:spPr>
        <p:txBody>
          <a:bodyPr wrap="non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FK production_id</a:t>
            </a:r>
            <a:endParaRPr lang="en-US" sz="1200" dirty="0"/>
          </a:p>
        </p:txBody>
      </p:sp>
      <p:sp>
        <p:nvSpPr>
          <p:cNvPr id="41" name="Text 34"/>
          <p:cNvSpPr/>
          <p:nvPr/>
        </p:nvSpPr>
        <p:spPr>
          <a:xfrm>
            <a:off x="5008418" y="5555388"/>
            <a:ext cx="6426339" cy="24328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F5966"/>
                </a:solidFill>
                <a:latin typeface="Anuphan" pitchFamily="34" charset="0"/>
                <a:ea typeface="Anuphan" pitchFamily="34" charset="-122"/>
                <a:cs typeface="Anuphan" pitchFamily="34" charset="-120"/>
              </a:rPr>
              <a:t>worker_productivity, safety_incidents, energy_kwh, additive (7 คอลัมน์)</a:t>
            </a:r>
            <a:endParaRPr lang="en-US" sz="1200" dirty="0"/>
          </a:p>
        </p:txBody>
      </p:sp>
      <p:sp>
        <p:nvSpPr>
          <p:cNvPr id="42" name="Text 35"/>
          <p:cNvSpPr/>
          <p:nvPr/>
        </p:nvSpPr>
        <p:spPr>
          <a:xfrm>
            <a:off x="812800" y="6216941"/>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43" name="Text 36"/>
          <p:cNvSpPr/>
          <p:nvPr/>
        </p:nvSpPr>
        <p:spPr>
          <a:xfrm>
            <a:off x="10058400" y="6216941"/>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09 / 27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7D6414"/>
                </a:solidFill>
                <a:latin typeface="Anuphan" pitchFamily="34" charset="0"/>
                <a:ea typeface="Anuphan" pitchFamily="34" charset="-122"/>
                <a:cs typeface="Anuphan" pitchFamily="34" charset="-120"/>
              </a:rPr>
              <a:t>02 · DATA MODEL</a:t>
            </a:r>
            <a:endParaRPr lang="en-US" sz="1200" dirty="0"/>
          </a:p>
        </p:txBody>
      </p:sp>
      <p:sp>
        <p:nvSpPr>
          <p:cNvPr id="3" name="Text 1"/>
          <p:cNvSpPr/>
          <p:nvPr>
            <p:ph type="title"/>
          </p:nvPr>
        </p:nvSpPr>
        <p:spPr>
          <a:xfrm>
            <a:off x="812800" y="996665"/>
            <a:ext cx="10883392" cy="933378"/>
          </a:xfrm>
          <a:prstGeom prst="rect">
            <a:avLst/>
          </a:prstGeom>
          <a:noFill/>
          <a:ln/>
        </p:spPr>
        <p:txBody>
          <a:bodyPr wrap="square" lIns="0" tIns="0" rIns="0" bIns="0" rtlCol="0" anchor="t">
            <a:normAutofit/>
          </a:bodyPr>
          <a:lstStyle/>
          <a:p>
            <a:pPr algn="l" indent="0" marL="0">
              <a:lnSpc>
                <a:spcPts val="3250"/>
              </a:lnSpc>
              <a:buNone/>
            </a:pPr>
            <a:r>
              <a:rPr lang="en-US" sz="2600" b="1" i="0" dirty="0">
                <a:solidFill>
                  <a:srgbClr val="1B2430"/>
                </a:solidFill>
                <a:latin typeface="Prompt" pitchFamily="34" charset="0"/>
                <a:ea typeface="Prompt" pitchFamily="34" charset="-122"/>
                <a:cs typeface="Prompt" pitchFamily="34" charset="-120"/>
              </a:rPr>
              <a:t>Gold ใช้ Relational Model แบบ Normalized ตาม domain + ตาราง Denormalized สำหรับอ่าน</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2119386"/>
          <a:ext cx="5713629" cy="2115416"/>
        </p:xfrm>
        <a:graphic>
          <a:graphicData uri="http://schemas.openxmlformats.org/drawingml/2006/table">
            <a:tbl>
              <a:tblPr/>
              <a:tblGrid>
                <a:gridCol w="1371271"/>
                <a:gridCol w="1714089"/>
                <a:gridCol w="2628269"/>
              </a:tblGrid>
              <a:tr h="352858">
                <a:tc>
                  <a:txBody>
                    <a:bodyPr/>
                    <a:lstStyle/>
                    <a:p>
                      <a:pPr indent="0" marL="0">
                        <a:lnSpc>
                          <a:spcPts val="1680"/>
                        </a:lnSpc>
                        <a:buNone/>
                      </a:pPr>
                      <a:r>
                        <a:rPr lang="en-US" sz="1200" b="1" dirty="0">
                          <a:solidFill>
                            <a:srgbClr val="F6F4EF"/>
                          </a:solidFill>
                          <a:latin typeface="Anuphan" pitchFamily="34" charset="0"/>
                          <a:ea typeface="Anuphan" pitchFamily="34" charset="-122"/>
                          <a:cs typeface="Anuphan" pitchFamily="34" charset="-120"/>
                        </a:rPr>
                        <a:t>ชั้น</a:t>
                      </a:r>
                      <a:endParaRPr lang="en-US" sz="1200" dirty="0">
                        <a:latin typeface="Anuphan" charset="0"/>
                        <a:ea typeface="Anuphan" charset="0"/>
                        <a:cs typeface="Anuphan"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680"/>
                        </a:lnSpc>
                        <a:buNone/>
                      </a:pPr>
                      <a:r>
                        <a:rPr lang="en-US" sz="1200" b="1" dirty="0">
                          <a:solidFill>
                            <a:srgbClr val="F6F4EF"/>
                          </a:solidFill>
                          <a:latin typeface="Anuphan" pitchFamily="34" charset="0"/>
                          <a:ea typeface="Anuphan" pitchFamily="34" charset="-122"/>
                          <a:cs typeface="Anuphan" pitchFamily="34" charset="-120"/>
                        </a:rPr>
                        <a:t>รูปแบบ</a:t>
                      </a:r>
                      <a:endParaRPr lang="en-US" sz="1200" dirty="0">
                        <a:latin typeface="Anuphan" charset="0"/>
                        <a:ea typeface="Anuphan" charset="0"/>
                        <a:cs typeface="Anuphan" charset="0"/>
                      </a:endParaRPr>
                    </a:p>
                  </a:txBody>
                  <a:tcPr marL="53340" marR="53340" marT="53340" marB="53340"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680"/>
                        </a:lnSpc>
                        <a:buNone/>
                      </a:pPr>
                      <a:r>
                        <a:rPr lang="en-US" sz="1200" b="1" dirty="0">
                          <a:solidFill>
                            <a:srgbClr val="F6F4EF"/>
                          </a:solidFill>
                          <a:latin typeface="Anuphan" pitchFamily="34" charset="0"/>
                          <a:ea typeface="Anuphan" pitchFamily="34" charset="-122"/>
                          <a:cs typeface="Anuphan" pitchFamily="34" charset="-120"/>
                        </a:rPr>
                        <a:t>ตาราง → ใช้ทำอะไร</a:t>
                      </a:r>
                      <a:endParaRPr lang="en-US" sz="1200" dirty="0">
                        <a:latin typeface="Anuphan" charset="0"/>
                        <a:ea typeface="Anuphan" charset="0"/>
                        <a:cs typeface="Anuphan" charset="0"/>
                      </a:endParaRPr>
                    </a:p>
                  </a:txBody>
                  <a:tcPr marL="53340" marR="53340" marT="53340" marB="53340"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587519">
                <a:tc>
                  <a:txBody>
                    <a:bodyPr/>
                    <a:lstStyle/>
                    <a:p>
                      <a:pPr indent="0" marL="0">
                        <a:lnSpc>
                          <a:spcPts val="1680"/>
                        </a:lnSpc>
                        <a:buNone/>
                      </a:pPr>
                      <a:r>
                        <a:rPr lang="en-US" sz="1200" dirty="0">
                          <a:solidFill>
                            <a:srgbClr val="1B2430"/>
                          </a:solidFill>
                          <a:latin typeface="Anuphan" pitchFamily="34" charset="0"/>
                          <a:ea typeface="Anuphan" pitchFamily="34" charset="-122"/>
                          <a:cs typeface="Anuphan" pitchFamily="34" charset="-120"/>
                        </a:rPr>
                        <a:t>RDBMS core</a:t>
                      </a:r>
                      <a:endParaRPr lang="en-US" sz="1200" dirty="0">
                        <a:latin typeface="Anuphan" charset="0"/>
                        <a:ea typeface="Anuphan" charset="0"/>
                        <a:cs typeface="Anuphan"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2430"/>
                          </a:solidFill>
                          <a:latin typeface="Anuphan" pitchFamily="34" charset="0"/>
                          <a:ea typeface="Anuphan" pitchFamily="34" charset="-122"/>
                          <a:cs typeface="Anuphan" pitchFamily="34" charset="-120"/>
                        </a:rPr>
                        <a:t>Normalized, PK/FK, 1:1</a:t>
                      </a:r>
                      <a:endParaRPr lang="en-US" sz="1200" dirty="0">
                        <a:latin typeface="Anuphan" charset="0"/>
                        <a:ea typeface="Anuphan" charset="0"/>
                        <a:cs typeface="Anuphan"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2430"/>
                          </a:solidFill>
                          <a:latin typeface="Anuphan" pitchFamily="34" charset="0"/>
                          <a:ea typeface="Anuphan" pitchFamily="34" charset="-122"/>
                          <a:cs typeface="Anuphan" pitchFamily="34" charset="-120"/>
                        </a:rPr>
                        <a:t>production + 5 ตารางลูก → เก็บข้อมูลจริง บังคับ integrity</a:t>
                      </a:r>
                      <a:endParaRPr lang="en-US" sz="1200" dirty="0">
                        <a:latin typeface="Anuphan" charset="0"/>
                        <a:ea typeface="Anuphan" charset="0"/>
                        <a:cs typeface="Anuphan"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87519">
                <a:tc>
                  <a:txBody>
                    <a:bodyPr/>
                    <a:lstStyle/>
                    <a:p>
                      <a:pPr indent="0" marL="0">
                        <a:lnSpc>
                          <a:spcPts val="1680"/>
                        </a:lnSpc>
                        <a:buNone/>
                      </a:pPr>
                      <a:r>
                        <a:rPr lang="en-US" sz="1200" dirty="0">
                          <a:solidFill>
                            <a:srgbClr val="1B2430"/>
                          </a:solidFill>
                          <a:latin typeface="Anuphan" pitchFamily="34" charset="0"/>
                          <a:ea typeface="Anuphan" pitchFamily="34" charset="-122"/>
                          <a:cs typeface="Anuphan" pitchFamily="34" charset="-120"/>
                        </a:rPr>
                        <a:t>Wide table</a:t>
                      </a:r>
                      <a:endParaRPr lang="en-US" sz="1200" dirty="0">
                        <a:latin typeface="Anuphan" charset="0"/>
                        <a:ea typeface="Anuphan" charset="0"/>
                        <a:cs typeface="Anuphan"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B2430"/>
                          </a:solidFill>
                          <a:latin typeface="Anuphan" pitchFamily="34" charset="0"/>
                          <a:ea typeface="Anuphan" pitchFamily="34" charset="-122"/>
                          <a:cs typeface="Anuphan" pitchFamily="34" charset="-120"/>
                        </a:rPr>
                        <a:t>Denormalized (join 6 ตาราง)</a:t>
                      </a:r>
                      <a:endParaRPr lang="en-US" sz="1200" dirty="0">
                        <a:latin typeface="Anuphan" charset="0"/>
                        <a:ea typeface="Anuphan" charset="0"/>
                        <a:cs typeface="Anuphan"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B2430"/>
                          </a:solidFill>
                          <a:latin typeface="Anuphan" pitchFamily="34" charset="0"/>
                          <a:ea typeface="Anuphan" pitchFamily="34" charset="-122"/>
                          <a:cs typeface="Anuphan" pitchFamily="34" charset="-120"/>
                        </a:rPr>
                        <a:t>batch_360 → flags, ML, ad-hoc query</a:t>
                      </a:r>
                      <a:endParaRPr lang="en-US" sz="1200" dirty="0">
                        <a:latin typeface="Anuphan" charset="0"/>
                        <a:ea typeface="Anuphan" charset="0"/>
                        <a:cs typeface="Anuphan"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87519">
                <a:tc>
                  <a:txBody>
                    <a:bodyPr/>
                    <a:lstStyle/>
                    <a:p>
                      <a:pPr indent="0" marL="0">
                        <a:lnSpc>
                          <a:spcPts val="1680"/>
                        </a:lnSpc>
                        <a:buNone/>
                      </a:pPr>
                      <a:r>
                        <a:rPr lang="en-US" sz="1200" dirty="0">
                          <a:solidFill>
                            <a:srgbClr val="1B2430"/>
                          </a:solidFill>
                          <a:latin typeface="Anuphan" pitchFamily="34" charset="0"/>
                          <a:ea typeface="Anuphan" pitchFamily="34" charset="-122"/>
                          <a:cs typeface="Anuphan" pitchFamily="34" charset="-120"/>
                        </a:rPr>
                        <a:t>Marts / Views</a:t>
                      </a:r>
                      <a:endParaRPr lang="en-US" sz="1200" dirty="0">
                        <a:latin typeface="Anuphan" charset="0"/>
                        <a:ea typeface="Anuphan" charset="0"/>
                        <a:cs typeface="Anuphan"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2430"/>
                          </a:solidFill>
                          <a:latin typeface="Anuphan" pitchFamily="34" charset="0"/>
                          <a:ea typeface="Anuphan" pitchFamily="34" charset="-122"/>
                          <a:cs typeface="Anuphan" pitchFamily="34" charset="-120"/>
                        </a:rPr>
                        <a:t>Aggregated</a:t>
                      </a:r>
                      <a:endParaRPr lang="en-US" sz="1200" dirty="0">
                        <a:latin typeface="Anuphan" charset="0"/>
                        <a:ea typeface="Anuphan" charset="0"/>
                        <a:cs typeface="Anuphan"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2430"/>
                          </a:solidFill>
                          <a:latin typeface="Anuphan" pitchFamily="34" charset="0"/>
                          <a:ea typeface="Anuphan" pitchFamily="34" charset="-122"/>
                          <a:cs typeface="Anuphan" pitchFamily="34" charset="-120"/>
                        </a:rPr>
                        <a:t>10 marts + 5 views → Dashboard ตอบ 9 คำถาม</a:t>
                      </a:r>
                      <a:endParaRPr lang="en-US" sz="1200" dirty="0">
                        <a:latin typeface="Anuphan" charset="0"/>
                        <a:ea typeface="Anuphan" charset="0"/>
                        <a:cs typeface="Anuphan"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bl>
          </a:graphicData>
        </a:graphic>
      </p:graphicFrame>
      <p:sp>
        <p:nvSpPr>
          <p:cNvPr id="5" name="Text 2"/>
          <p:cNvSpPr/>
          <p:nvPr/>
        </p:nvSpPr>
        <p:spPr>
          <a:xfrm>
            <a:off x="812800" y="4311005"/>
            <a:ext cx="5896930" cy="528277"/>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B2430"/>
                </a:solidFill>
                <a:latin typeface="Anuphan" pitchFamily="34" charset="0"/>
                <a:ea typeface="Anuphan" pitchFamily="34" charset="-122"/>
                <a:cs typeface="Anuphan" pitchFamily="34" charset="-120"/>
              </a:rPr>
              <a:t>Key:</a:t>
            </a:r>
            <a:r>
              <a:rPr lang="en-US" sz="1200" dirty="0">
                <a:solidFill>
                  <a:srgbClr val="4F5966"/>
                </a:solidFill>
                <a:latin typeface="Anuphan" pitchFamily="34" charset="0"/>
                <a:ea typeface="Anuphan" pitchFamily="34" charset="-122"/>
                <a:cs typeface="Anuphan" pitchFamily="34" charset="-120"/>
              </a:rPr>
              <a:t> production_id = surrogate key (BIGINT, row_number เรียงตาม record_id → รันซ้ำได้ค่าเดิม) · record_id = natural key (SHA-256, UNIQUE)</a:t>
            </a:r>
            <a:endParaRPr lang="en-US" sz="1200" dirty="0"/>
          </a:p>
        </p:txBody>
      </p:sp>
      <p:sp>
        <p:nvSpPr>
          <p:cNvPr id="6" name="Text 3"/>
          <p:cNvSpPr/>
          <p:nvPr/>
        </p:nvSpPr>
        <p:spPr>
          <a:xfrm>
            <a:off x="812800" y="4890077"/>
            <a:ext cx="5896930" cy="528277"/>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B2430"/>
                </a:solidFill>
                <a:latin typeface="Anuphan" pitchFamily="34" charset="0"/>
                <a:ea typeface="Anuphan" pitchFamily="34" charset="-122"/>
                <a:cs typeface="Anuphan" pitchFamily="34" charset="-120"/>
              </a:rPr>
              <a:t>FK:</a:t>
            </a:r>
            <a:r>
              <a:rPr lang="en-US" sz="1200" dirty="0">
                <a:solidFill>
                  <a:srgbClr val="4F5966"/>
                </a:solidFill>
                <a:latin typeface="Anuphan" pitchFamily="34" charset="0"/>
                <a:ea typeface="Anuphan" pitchFamily="34" charset="-122"/>
                <a:cs typeface="Anuphan" pitchFamily="34" charset="-120"/>
              </a:rPr>
              <a:t> production_id ในตารางลูก NOT NULL UNIQUE REFERENCES production ON DELETE CASCADE (PostgreSQL บังคับจริง)</a:t>
            </a:r>
            <a:endParaRPr lang="en-US" sz="1200" dirty="0"/>
          </a:p>
        </p:txBody>
      </p:sp>
      <p:sp>
        <p:nvSpPr>
          <p:cNvPr id="7" name="Shape 4"/>
          <p:cNvSpPr/>
          <p:nvPr/>
        </p:nvSpPr>
        <p:spPr>
          <a:xfrm>
            <a:off x="6791975" y="2107840"/>
            <a:ext cx="4587226" cy="2995107"/>
          </a:xfrm>
          <a:prstGeom prst="roundRect">
            <a:avLst>
              <a:gd name="adj" fmla="val 2544"/>
            </a:avLst>
          </a:prstGeom>
          <a:solidFill>
            <a:srgbClr val="E3ECF6"/>
          </a:solidFill>
          <a:ln/>
        </p:spPr>
      </p:sp>
      <p:sp>
        <p:nvSpPr>
          <p:cNvPr id="8" name="Text 5"/>
          <p:cNvSpPr/>
          <p:nvPr/>
        </p:nvSpPr>
        <p:spPr>
          <a:xfrm>
            <a:off x="6969775" y="2285640"/>
            <a:ext cx="4358575" cy="297801"/>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430"/>
                </a:solidFill>
                <a:latin typeface="Prompt" pitchFamily="34" charset="0"/>
                <a:ea typeface="Prompt" pitchFamily="34" charset="-122"/>
                <a:cs typeface="Prompt" pitchFamily="34" charset="-120"/>
              </a:rPr>
              <a:t>ทำไมเป็นแบบนี้</a:t>
            </a:r>
            <a:endParaRPr lang="en-US" sz="1500" dirty="0"/>
          </a:p>
        </p:txBody>
      </p:sp>
      <p:sp>
        <p:nvSpPr>
          <p:cNvPr id="9" name="Text 6"/>
          <p:cNvSpPr/>
          <p:nvPr/>
        </p:nvSpPr>
        <p:spPr>
          <a:xfrm>
            <a:off x="6969775" y="2646939"/>
            <a:ext cx="4358575" cy="5282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B2430"/>
                </a:solidFill>
                <a:latin typeface="Anuphan" pitchFamily="34" charset="0"/>
                <a:ea typeface="Anuphan" pitchFamily="34" charset="-122"/>
                <a:cs typeface="Anuphan" pitchFamily="34" charset="-120"/>
              </a:rPr>
              <a:t>① Requirement ให้ใช้ RDBMS จริงพร้อม PK/FK → แยกตาม business domain</a:t>
            </a:r>
            <a:endParaRPr lang="en-US" sz="1200" dirty="0"/>
          </a:p>
        </p:txBody>
      </p:sp>
      <p:sp>
        <p:nvSpPr>
          <p:cNvPr id="10" name="Text 7"/>
          <p:cNvSpPr/>
          <p:nvPr/>
        </p:nvSpPr>
        <p:spPr>
          <a:xfrm>
            <a:off x="6969775" y="3238717"/>
            <a:ext cx="4358575" cy="5282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B2430"/>
                </a:solidFill>
                <a:latin typeface="Anuphan" pitchFamily="34" charset="0"/>
                <a:ea typeface="Anuphan" pitchFamily="34" charset="-122"/>
                <a:cs typeface="Anuphan" pitchFamily="34" charset="-120"/>
              </a:rPr>
              <a:t>② 1 แถว = 1 batch และไม่มี key อื่นในข้อมูล → ตารางลูกทุกตัวเป็น 1:1</a:t>
            </a:r>
            <a:endParaRPr lang="en-US" sz="1200" dirty="0"/>
          </a:p>
        </p:txBody>
      </p:sp>
      <p:sp>
        <p:nvSpPr>
          <p:cNvPr id="11" name="Text 8"/>
          <p:cNvSpPr/>
          <p:nvPr/>
        </p:nvSpPr>
        <p:spPr>
          <a:xfrm>
            <a:off x="6969775" y="3830495"/>
            <a:ext cx="4358575" cy="5282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B2430"/>
                </a:solidFill>
                <a:latin typeface="Anuphan" pitchFamily="34" charset="0"/>
                <a:ea typeface="Anuphan" pitchFamily="34" charset="-122"/>
                <a:cs typeface="Anuphan" pitchFamily="34" charset="-120"/>
              </a:rPr>
              <a:t>③ แต่ละทีม (QC, Maintenance, Supply Chain) ดูแล/query ตารางตัวเอง · ขยายเป็น 1:N ได้เมื่อมีหลายรายการต่อ batch</a:t>
            </a:r>
            <a:endParaRPr lang="en-US" sz="1200" dirty="0"/>
          </a:p>
        </p:txBody>
      </p:sp>
      <p:sp>
        <p:nvSpPr>
          <p:cNvPr id="12" name="Text 9"/>
          <p:cNvSpPr/>
          <p:nvPr/>
        </p:nvSpPr>
        <p:spPr>
          <a:xfrm>
            <a:off x="6969775" y="4422273"/>
            <a:ext cx="4358575" cy="5282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B2430"/>
                </a:solidFill>
                <a:latin typeface="Anuphan" pitchFamily="34" charset="0"/>
                <a:ea typeface="Anuphan" pitchFamily="34" charset="-122"/>
                <a:cs typeface="Anuphan" pitchFamily="34" charset="-120"/>
              </a:rPr>
              <a:t>④ Dashboard ต้อง join บ่อย → ทำ batch_360 และ marts ไว้ล่วงหน้า อ่านเร็ว</a:t>
            </a:r>
            <a:endParaRPr lang="en-US" sz="1200" dirty="0"/>
          </a:p>
        </p:txBody>
      </p:sp>
      <p:sp>
        <p:nvSpPr>
          <p:cNvPr id="13" name="Text 10"/>
          <p:cNvSpPr/>
          <p:nvPr/>
        </p:nvSpPr>
        <p:spPr>
          <a:xfrm>
            <a:off x="812800" y="6216941"/>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14" name="Text 11"/>
          <p:cNvSpPr/>
          <p:nvPr/>
        </p:nvSpPr>
        <p:spPr>
          <a:xfrm>
            <a:off x="10058400" y="6216941"/>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10 / 27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02 · ระบบอัตโนมัติ</a:t>
            </a:r>
            <a:endParaRPr lang="en-US" sz="1200" dirty="0"/>
          </a:p>
        </p:txBody>
      </p:sp>
      <p:sp>
        <p:nvSpPr>
          <p:cNvPr id="3" name="Text 1"/>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แค่วางไฟล์ใหม่ ระบบทำเองครบ 9 ขั้น ไม่ต้องกดอะไร</a:t>
            </a:r>
            <a:endParaRPr lang="en-US" sz="2800" dirty="0"/>
          </a:p>
        </p:txBody>
      </p:sp>
      <p:sp>
        <p:nvSpPr>
          <p:cNvPr id="4" name="Shape 2"/>
          <p:cNvSpPr/>
          <p:nvPr/>
        </p:nvSpPr>
        <p:spPr>
          <a:xfrm>
            <a:off x="812800" y="1739615"/>
            <a:ext cx="1478179" cy="1820069"/>
          </a:xfrm>
          <a:prstGeom prst="roundRect">
            <a:avLst>
              <a:gd name="adj" fmla="val 5155"/>
            </a:avLst>
          </a:prstGeom>
          <a:solidFill>
            <a:srgbClr val="1B2430"/>
          </a:solidFill>
          <a:ln/>
        </p:spPr>
      </p:sp>
      <p:sp>
        <p:nvSpPr>
          <p:cNvPr id="5" name="Text 3"/>
          <p:cNvSpPr/>
          <p:nvPr/>
        </p:nvSpPr>
        <p:spPr>
          <a:xfrm>
            <a:off x="952500" y="1879315"/>
            <a:ext cx="1249579"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Prompt" pitchFamily="34" charset="0"/>
                <a:ea typeface="Prompt" pitchFamily="34" charset="-122"/>
                <a:cs typeface="Prompt" pitchFamily="34" charset="-120"/>
              </a:rPr>
              <a:t>① ไฟล์มาถึง</a:t>
            </a:r>
            <a:endParaRPr lang="en-US" sz="1300" dirty="0"/>
          </a:p>
        </p:txBody>
      </p:sp>
      <p:sp>
        <p:nvSpPr>
          <p:cNvPr id="6" name="Text 4"/>
          <p:cNvSpPr/>
          <p:nvPr/>
        </p:nvSpPr>
        <p:spPr>
          <a:xfrm>
            <a:off x="952500" y="2184369"/>
            <a:ext cx="1249579"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D2DC"/>
                </a:solidFill>
                <a:latin typeface="Anuphan" pitchFamily="34" charset="0"/>
                <a:ea typeface="Anuphan" pitchFamily="34" charset="-122"/>
                <a:cs typeface="Anuphan" pitchFamily="34" charset="-120"/>
              </a:rPr>
              <a:t>ระบบตื่นเอง เมื่อมีไฟล์ใหม่ในโฟลเดอร์</a:t>
            </a:r>
            <a:endParaRPr lang="en-US" sz="1200" dirty="0"/>
          </a:p>
        </p:txBody>
      </p:sp>
      <p:pic>
        <p:nvPicPr>
          <p:cNvPr id="7" name="Image 0" descr="arrow-right">    </p:cNvPr>
          <p:cNvPicPr>
            <a:picLocks noChangeAspect="1"/>
          </p:cNvPicPr>
          <p:nvPr/>
        </p:nvPicPr>
        <p:blipFill>
          <a:blip r:embed="rId1"/>
          <a:srcRect l="0" r="0" t="0" b="0"/>
          <a:stretch/>
        </p:blipFill>
        <p:spPr>
          <a:xfrm>
            <a:off x="2354479" y="2598849"/>
            <a:ext cx="203200" cy="101600"/>
          </a:xfrm>
          <a:prstGeom prst="rect">
            <a:avLst/>
          </a:prstGeom>
        </p:spPr>
      </p:pic>
      <p:sp>
        <p:nvSpPr>
          <p:cNvPr id="8" name="Shape 5"/>
          <p:cNvSpPr/>
          <p:nvPr/>
        </p:nvSpPr>
        <p:spPr>
          <a:xfrm>
            <a:off x="2624354" y="1742790"/>
            <a:ext cx="1481101" cy="1813719"/>
          </a:xfrm>
          <a:prstGeom prst="roundRect">
            <a:avLst>
              <a:gd name="adj" fmla="val 4930"/>
            </a:avLst>
          </a:prstGeom>
          <a:solidFill>
            <a:srgbClr val="FDFCFA"/>
          </a:solidFill>
          <a:ln w="6350">
            <a:solidFill>
              <a:srgbClr val="DDD8CE"/>
            </a:solidFill>
            <a:prstDash val="solid"/>
          </a:ln>
        </p:spPr>
      </p:sp>
      <p:sp>
        <p:nvSpPr>
          <p:cNvPr id="9" name="Text 6"/>
          <p:cNvSpPr/>
          <p:nvPr/>
        </p:nvSpPr>
        <p:spPr>
          <a:xfrm>
            <a:off x="2765497" y="1883935"/>
            <a:ext cx="1249615" cy="53390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563A8"/>
                </a:solidFill>
                <a:latin typeface="Prompt" pitchFamily="34" charset="0"/>
                <a:ea typeface="Prompt" pitchFamily="34" charset="-122"/>
                <a:cs typeface="Prompt" pitchFamily="34" charset="-120"/>
              </a:rPr>
              <a:t>② รับ + ทดสอบ</a:t>
            </a:r>
            <a:endParaRPr lang="en-US" sz="1300" dirty="0"/>
          </a:p>
        </p:txBody>
      </p:sp>
      <p:sp>
        <p:nvSpPr>
          <p:cNvPr id="10" name="Text 7"/>
          <p:cNvSpPr/>
          <p:nvPr/>
        </p:nvSpPr>
        <p:spPr>
          <a:xfrm>
            <a:off x="2765497" y="2443237"/>
            <a:ext cx="1249615" cy="9975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Bronze อ่านไฟล์ใหม่ คู่ขนานกับทดสอบกลไก DQ 19 ข้อ</a:t>
            </a:r>
            <a:endParaRPr lang="en-US" sz="1200" dirty="0"/>
          </a:p>
        </p:txBody>
      </p:sp>
      <p:pic>
        <p:nvPicPr>
          <p:cNvPr id="11" name="Image 1" descr="arrow-right">    </p:cNvPr>
          <p:cNvPicPr>
            <a:picLocks noChangeAspect="1"/>
          </p:cNvPicPr>
          <p:nvPr/>
        </p:nvPicPr>
        <p:blipFill>
          <a:blip r:embed="rId2"/>
          <a:srcRect l="0" r="0" t="0" b="0"/>
          <a:stretch/>
        </p:blipFill>
        <p:spPr>
          <a:xfrm>
            <a:off x="4172131" y="2598849"/>
            <a:ext cx="203200" cy="101600"/>
          </a:xfrm>
          <a:prstGeom prst="rect">
            <a:avLst/>
          </a:prstGeom>
        </p:spPr>
      </p:pic>
      <p:sp>
        <p:nvSpPr>
          <p:cNvPr id="12" name="Shape 8"/>
          <p:cNvSpPr/>
          <p:nvPr/>
        </p:nvSpPr>
        <p:spPr>
          <a:xfrm>
            <a:off x="4442006" y="1742790"/>
            <a:ext cx="1481065" cy="1813719"/>
          </a:xfrm>
          <a:prstGeom prst="roundRect">
            <a:avLst>
              <a:gd name="adj" fmla="val 4931"/>
            </a:avLst>
          </a:prstGeom>
          <a:solidFill>
            <a:srgbClr val="FDFCFA"/>
          </a:solidFill>
          <a:ln w="6350">
            <a:solidFill>
              <a:srgbClr val="DDD8CE"/>
            </a:solidFill>
            <a:prstDash val="solid"/>
          </a:ln>
        </p:spPr>
      </p:sp>
      <p:sp>
        <p:nvSpPr>
          <p:cNvPr id="13" name="Text 9"/>
          <p:cNvSpPr/>
          <p:nvPr/>
        </p:nvSpPr>
        <p:spPr>
          <a:xfrm>
            <a:off x="4583149" y="1883935"/>
            <a:ext cx="1249579"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563A8"/>
                </a:solidFill>
                <a:latin typeface="Prompt" pitchFamily="34" charset="0"/>
                <a:ea typeface="Prompt" pitchFamily="34" charset="-122"/>
                <a:cs typeface="Prompt" pitchFamily="34" charset="-120"/>
              </a:rPr>
              <a:t>③ มีของใหม่?</a:t>
            </a:r>
            <a:endParaRPr lang="en-US" sz="1300" dirty="0"/>
          </a:p>
        </p:txBody>
      </p:sp>
      <p:sp>
        <p:nvSpPr>
          <p:cNvPr id="14" name="Text 10"/>
          <p:cNvSpPr/>
          <p:nvPr/>
        </p:nvSpPr>
        <p:spPr>
          <a:xfrm>
            <a:off x="4583149" y="2188983"/>
            <a:ext cx="1249579"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ถ้าไม่มีแถวใหม่ ข้ามที่เหลือ ไม่เปลืองเครื่อง</a:t>
            </a:r>
            <a:endParaRPr lang="en-US" sz="1200" dirty="0"/>
          </a:p>
        </p:txBody>
      </p:sp>
      <p:pic>
        <p:nvPicPr>
          <p:cNvPr id="15" name="Image 2" descr="arrow-right">    </p:cNvPr>
          <p:cNvPicPr>
            <a:picLocks noChangeAspect="1"/>
          </p:cNvPicPr>
          <p:nvPr/>
        </p:nvPicPr>
        <p:blipFill>
          <a:blip r:embed="rId3"/>
          <a:srcRect l="0" r="0" t="0" b="0"/>
          <a:stretch/>
        </p:blipFill>
        <p:spPr>
          <a:xfrm>
            <a:off x="5989746" y="2598849"/>
            <a:ext cx="203200" cy="101600"/>
          </a:xfrm>
          <a:prstGeom prst="rect">
            <a:avLst/>
          </a:prstGeom>
        </p:spPr>
      </p:pic>
      <p:sp>
        <p:nvSpPr>
          <p:cNvPr id="16" name="Shape 11"/>
          <p:cNvSpPr/>
          <p:nvPr/>
        </p:nvSpPr>
        <p:spPr>
          <a:xfrm>
            <a:off x="6259621" y="1742790"/>
            <a:ext cx="1481101" cy="1813719"/>
          </a:xfrm>
          <a:prstGeom prst="roundRect">
            <a:avLst>
              <a:gd name="adj" fmla="val 4930"/>
            </a:avLst>
          </a:prstGeom>
          <a:solidFill>
            <a:srgbClr val="FDFCFA"/>
          </a:solidFill>
          <a:ln w="6350">
            <a:solidFill>
              <a:srgbClr val="DDD8CE"/>
            </a:solidFill>
            <a:prstDash val="solid"/>
          </a:ln>
        </p:spPr>
      </p:sp>
      <p:sp>
        <p:nvSpPr>
          <p:cNvPr id="17" name="Text 12"/>
          <p:cNvSpPr/>
          <p:nvPr/>
        </p:nvSpPr>
        <p:spPr>
          <a:xfrm>
            <a:off x="6400764" y="1883935"/>
            <a:ext cx="1249615" cy="53390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563A8"/>
                </a:solidFill>
                <a:latin typeface="Prompt" pitchFamily="34" charset="0"/>
                <a:ea typeface="Prompt" pitchFamily="34" charset="-122"/>
                <a:cs typeface="Prompt" pitchFamily="34" charset="-120"/>
              </a:rPr>
              <a:t>④ Silver → Gold</a:t>
            </a:r>
            <a:endParaRPr lang="en-US" sz="1300" dirty="0"/>
          </a:p>
        </p:txBody>
      </p:sp>
      <p:sp>
        <p:nvSpPr>
          <p:cNvPr id="18" name="Text 13"/>
          <p:cNvSpPr/>
          <p:nvPr/>
        </p:nvSpPr>
        <p:spPr>
          <a:xfrm>
            <a:off x="6400764" y="2443237"/>
            <a:ext cx="1249615" cy="9975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ทำความสะอาด แยก 6 ตาราง โหลดเข้า PostgreSQL</a:t>
            </a:r>
            <a:endParaRPr lang="en-US" sz="1200" dirty="0"/>
          </a:p>
        </p:txBody>
      </p:sp>
      <p:pic>
        <p:nvPicPr>
          <p:cNvPr id="19" name="Image 3" descr="arrow-right">    </p:cNvPr>
          <p:cNvPicPr>
            <a:picLocks noChangeAspect="1"/>
          </p:cNvPicPr>
          <p:nvPr/>
        </p:nvPicPr>
        <p:blipFill>
          <a:blip r:embed="rId4"/>
          <a:srcRect l="0" r="0" t="0" b="0"/>
          <a:stretch/>
        </p:blipFill>
        <p:spPr>
          <a:xfrm>
            <a:off x="7807397" y="2598849"/>
            <a:ext cx="203200" cy="101600"/>
          </a:xfrm>
          <a:prstGeom prst="rect">
            <a:avLst/>
          </a:prstGeom>
        </p:spPr>
      </p:pic>
      <p:sp>
        <p:nvSpPr>
          <p:cNvPr id="20" name="Shape 14"/>
          <p:cNvSpPr/>
          <p:nvPr/>
        </p:nvSpPr>
        <p:spPr>
          <a:xfrm>
            <a:off x="8077272" y="1742790"/>
            <a:ext cx="1481101" cy="1813719"/>
          </a:xfrm>
          <a:prstGeom prst="roundRect">
            <a:avLst>
              <a:gd name="adj" fmla="val 4930"/>
            </a:avLst>
          </a:prstGeom>
          <a:solidFill>
            <a:srgbClr val="FDFCFA"/>
          </a:solidFill>
          <a:ln w="6350">
            <a:solidFill>
              <a:srgbClr val="DDD8CE"/>
            </a:solidFill>
            <a:prstDash val="solid"/>
          </a:ln>
        </p:spPr>
      </p:sp>
      <p:sp>
        <p:nvSpPr>
          <p:cNvPr id="21" name="Text 15"/>
          <p:cNvSpPr/>
          <p:nvPr/>
        </p:nvSpPr>
        <p:spPr>
          <a:xfrm>
            <a:off x="8218415" y="1883935"/>
            <a:ext cx="1249615"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E0A"/>
                </a:solidFill>
                <a:latin typeface="Prompt" pitchFamily="34" charset="0"/>
                <a:ea typeface="Prompt" pitchFamily="34" charset="-122"/>
                <a:cs typeface="Prompt" pitchFamily="34" charset="-120"/>
              </a:rPr>
              <a:t>⑤ แจ้งเตือน</a:t>
            </a:r>
            <a:endParaRPr lang="en-US" sz="1300" dirty="0"/>
          </a:p>
        </p:txBody>
      </p:sp>
      <p:sp>
        <p:nvSpPr>
          <p:cNvPr id="22" name="Text 16"/>
          <p:cNvSpPr/>
          <p:nvPr/>
        </p:nvSpPr>
        <p:spPr>
          <a:xfrm>
            <a:off x="8218415" y="2188983"/>
            <a:ext cx="1249615"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อีเมลเมื่อของเสียเกินเป้า หรือมีแถว เข้า Quarantine</a:t>
            </a:r>
            <a:endParaRPr lang="en-US" sz="1200" dirty="0"/>
          </a:p>
        </p:txBody>
      </p:sp>
      <p:pic>
        <p:nvPicPr>
          <p:cNvPr id="23" name="Image 4" descr="arrow-right">    </p:cNvPr>
          <p:cNvPicPr>
            <a:picLocks noChangeAspect="1"/>
          </p:cNvPicPr>
          <p:nvPr/>
        </p:nvPicPr>
        <p:blipFill>
          <a:blip r:embed="rId5"/>
          <a:srcRect l="0" r="0" t="0" b="0"/>
          <a:stretch/>
        </p:blipFill>
        <p:spPr>
          <a:xfrm>
            <a:off x="9625049" y="2598849"/>
            <a:ext cx="203200" cy="101600"/>
          </a:xfrm>
          <a:prstGeom prst="rect">
            <a:avLst/>
          </a:prstGeom>
        </p:spPr>
      </p:pic>
      <p:sp>
        <p:nvSpPr>
          <p:cNvPr id="24" name="Shape 17"/>
          <p:cNvSpPr/>
          <p:nvPr/>
        </p:nvSpPr>
        <p:spPr>
          <a:xfrm>
            <a:off x="9894924" y="1742790"/>
            <a:ext cx="1481101" cy="1813719"/>
          </a:xfrm>
          <a:prstGeom prst="roundRect">
            <a:avLst>
              <a:gd name="adj" fmla="val 4930"/>
            </a:avLst>
          </a:prstGeom>
          <a:solidFill>
            <a:srgbClr val="FDFCFA"/>
          </a:solidFill>
          <a:ln w="6350">
            <a:solidFill>
              <a:srgbClr val="DDD8CE"/>
            </a:solidFill>
            <a:prstDash val="solid"/>
          </a:ln>
        </p:spPr>
      </p:sp>
      <p:sp>
        <p:nvSpPr>
          <p:cNvPr id="25" name="Text 18"/>
          <p:cNvSpPr/>
          <p:nvPr/>
        </p:nvSpPr>
        <p:spPr>
          <a:xfrm>
            <a:off x="10036067" y="1883935"/>
            <a:ext cx="1249615"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563A8"/>
                </a:solidFill>
                <a:latin typeface="Prompt" pitchFamily="34" charset="0"/>
                <a:ea typeface="Prompt" pitchFamily="34" charset="-122"/>
                <a:cs typeface="Prompt" pitchFamily="34" charset="-120"/>
              </a:rPr>
              <a:t>⑥ อัปเดตผล</a:t>
            </a:r>
            <a:endParaRPr lang="en-US" sz="1300" dirty="0"/>
          </a:p>
        </p:txBody>
      </p:sp>
      <p:sp>
        <p:nvSpPr>
          <p:cNvPr id="26" name="Text 19"/>
          <p:cNvSpPr/>
          <p:nvPr/>
        </p:nvSpPr>
        <p:spPr>
          <a:xfrm>
            <a:off x="10036067" y="2188983"/>
            <a:ext cx="1249615"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Dashboard รีเฟรช และเทรนโมเดลใหม่</a:t>
            </a:r>
            <a:endParaRPr lang="en-US" sz="1200" dirty="0"/>
          </a:p>
        </p:txBody>
      </p:sp>
      <p:sp>
        <p:nvSpPr>
          <p:cNvPr id="27" name="Text 20"/>
          <p:cNvSpPr/>
          <p:nvPr/>
        </p:nvSpPr>
        <p:spPr>
          <a:xfrm>
            <a:off x="812800" y="3813683"/>
            <a:ext cx="10883392"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B6470"/>
                </a:solidFill>
                <a:latin typeface="Anuphan" pitchFamily="34" charset="0"/>
                <a:ea typeface="Anuphan" pitchFamily="34" charset="-122"/>
                <a:cs typeface="Anuphan" pitchFamily="34" charset="-120"/>
              </a:rPr>
              <a:t>ทดลองจริงด้วยไฟล์ batch ใหม่ 308 แถว</a:t>
            </a:r>
            <a:endParaRPr lang="en-US" sz="1300" dirty="0"/>
          </a:p>
        </p:txBody>
      </p:sp>
      <p:sp>
        <p:nvSpPr>
          <p:cNvPr id="28" name="Shape 21"/>
          <p:cNvSpPr/>
          <p:nvPr/>
        </p:nvSpPr>
        <p:spPr>
          <a:xfrm>
            <a:off x="812800" y="4169538"/>
            <a:ext cx="3437443" cy="1278803"/>
          </a:xfrm>
          <a:prstGeom prst="roundRect">
            <a:avLst>
              <a:gd name="adj" fmla="val 5959"/>
            </a:avLst>
          </a:prstGeom>
          <a:solidFill>
            <a:srgbClr val="E3ECF6"/>
          </a:solidFill>
          <a:ln/>
        </p:spPr>
      </p:sp>
      <p:sp>
        <p:nvSpPr>
          <p:cNvPr id="29" name="Text 22"/>
          <p:cNvSpPr/>
          <p:nvPr/>
        </p:nvSpPr>
        <p:spPr>
          <a:xfrm>
            <a:off x="990600" y="4321938"/>
            <a:ext cx="3174298" cy="4752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563A8"/>
                </a:solidFill>
                <a:latin typeface="Prompt" pitchFamily="34" charset="0"/>
                <a:ea typeface="Prompt" pitchFamily="34" charset="-122"/>
                <a:cs typeface="Prompt" pitchFamily="34" charset="-120"/>
              </a:rPr>
              <a:t>22:33</a:t>
            </a:r>
            <a:endParaRPr lang="en-US" sz="2800" dirty="0"/>
          </a:p>
        </p:txBody>
      </p:sp>
      <p:sp>
        <p:nvSpPr>
          <p:cNvPr id="30" name="Text 23"/>
          <p:cNvSpPr/>
          <p:nvPr/>
        </p:nvSpPr>
        <p:spPr>
          <a:xfrm>
            <a:off x="990600" y="4809877"/>
            <a:ext cx="3174298"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นาที:วินาที รันครบทุก task เริ่มเองจากการวางไฟล์</a:t>
            </a:r>
            <a:endParaRPr lang="en-US" sz="1200" dirty="0"/>
          </a:p>
        </p:txBody>
      </p:sp>
      <p:sp>
        <p:nvSpPr>
          <p:cNvPr id="31" name="Shape 24"/>
          <p:cNvSpPr/>
          <p:nvPr/>
        </p:nvSpPr>
        <p:spPr>
          <a:xfrm>
            <a:off x="4377243" y="4169538"/>
            <a:ext cx="3437479" cy="1278803"/>
          </a:xfrm>
          <a:prstGeom prst="roundRect">
            <a:avLst>
              <a:gd name="adj" fmla="val 5959"/>
            </a:avLst>
          </a:prstGeom>
          <a:solidFill>
            <a:srgbClr val="E3ECF6"/>
          </a:solidFill>
          <a:ln/>
        </p:spPr>
      </p:sp>
      <p:sp>
        <p:nvSpPr>
          <p:cNvPr id="32" name="Text 25"/>
          <p:cNvSpPr/>
          <p:nvPr/>
        </p:nvSpPr>
        <p:spPr>
          <a:xfrm>
            <a:off x="4555043" y="4321938"/>
            <a:ext cx="3174335" cy="4752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563A8"/>
                </a:solidFill>
                <a:latin typeface="Prompt" pitchFamily="34" charset="0"/>
                <a:ea typeface="Prompt" pitchFamily="34" charset="-122"/>
                <a:cs typeface="Prompt" pitchFamily="34" charset="-120"/>
              </a:rPr>
              <a:t>300 + 8</a:t>
            </a:r>
            <a:endParaRPr lang="en-US" sz="2800" dirty="0"/>
          </a:p>
        </p:txBody>
      </p:sp>
      <p:sp>
        <p:nvSpPr>
          <p:cNvPr id="33" name="Text 26"/>
          <p:cNvSpPr/>
          <p:nvPr/>
        </p:nvSpPr>
        <p:spPr>
          <a:xfrm>
            <a:off x="4555043" y="4809877"/>
            <a:ext cx="3174335"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แถวดีเข้าระบบ · 8 แถว (ซ้ำ 5 + ค่าผิด 3) เข้า Quarantineถูกต้อง</a:t>
            </a:r>
            <a:endParaRPr lang="en-US" sz="1200" dirty="0"/>
          </a:p>
        </p:txBody>
      </p:sp>
      <p:sp>
        <p:nvSpPr>
          <p:cNvPr id="34" name="Shape 27"/>
          <p:cNvSpPr/>
          <p:nvPr/>
        </p:nvSpPr>
        <p:spPr>
          <a:xfrm>
            <a:off x="7941721" y="4169538"/>
            <a:ext cx="3437443" cy="1278803"/>
          </a:xfrm>
          <a:prstGeom prst="roundRect">
            <a:avLst>
              <a:gd name="adj" fmla="val 5959"/>
            </a:avLst>
          </a:prstGeom>
          <a:solidFill>
            <a:srgbClr val="E3ECF6"/>
          </a:solidFill>
          <a:ln/>
        </p:spPr>
      </p:sp>
      <p:sp>
        <p:nvSpPr>
          <p:cNvPr id="35" name="Text 28"/>
          <p:cNvSpPr/>
          <p:nvPr/>
        </p:nvSpPr>
        <p:spPr>
          <a:xfrm>
            <a:off x="8119521" y="4321938"/>
            <a:ext cx="3174298" cy="4752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563A8"/>
                </a:solidFill>
                <a:latin typeface="Prompt" pitchFamily="34" charset="0"/>
                <a:ea typeface="Prompt" pitchFamily="34" charset="-122"/>
                <a:cs typeface="Prompt" pitchFamily="34" charset="-120"/>
              </a:rPr>
              <a:t>อีเมล</a:t>
            </a:r>
            <a:endParaRPr lang="en-US" sz="2800" dirty="0"/>
          </a:p>
        </p:txBody>
      </p:sp>
      <p:sp>
        <p:nvSpPr>
          <p:cNvPr id="36" name="Text 29"/>
          <p:cNvSpPr/>
          <p:nvPr/>
        </p:nvSpPr>
        <p:spPr>
          <a:xfrm>
            <a:off x="8119521" y="4809877"/>
            <a:ext cx="3174298"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แจ้งเตือน “Quality gate failed” ส่งถึงผู้รับผิดชอบอัตโนมัติ</a:t>
            </a:r>
            <a:endParaRPr lang="en-US" sz="1200" dirty="0"/>
          </a:p>
        </p:txBody>
      </p:sp>
      <p:sp>
        <p:nvSpPr>
          <p:cNvPr id="37" name="Text 30"/>
          <p:cNvSpPr/>
          <p:nvPr/>
        </p:nvSpPr>
        <p:spPr>
          <a:xfrm>
            <a:off x="812800" y="6216941"/>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8" name="Text 31"/>
          <p:cNvSpPr/>
          <p:nvPr/>
        </p:nvSpPr>
        <p:spPr>
          <a:xfrm>
            <a:off x="10058400" y="6216941"/>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11 / 27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02 · การพิสูจน์</a:t>
            </a:r>
            <a:endParaRPr lang="en-US" sz="1200" dirty="0"/>
          </a:p>
        </p:txBody>
      </p:sp>
      <p:sp>
        <p:nvSpPr>
          <p:cNvPr id="3" name="Text 1"/>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ข้อมูลเชื่อถือได้: ผ่านการทดสอบครบทุกด่าน</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725760"/>
          <a:ext cx="10554855" cy="2542201"/>
        </p:xfrm>
        <a:graphic>
          <a:graphicData uri="http://schemas.openxmlformats.org/drawingml/2006/table">
            <a:tbl>
              <a:tblPr/>
              <a:tblGrid>
                <a:gridCol w="2744262"/>
                <a:gridCol w="5277427"/>
                <a:gridCol w="2533165"/>
              </a:tblGrid>
              <a:tr h="381325">
                <a:tc>
                  <a:txBody>
                    <a:bodyPr/>
                    <a:lstStyle/>
                    <a:p>
                      <a:pPr indent="0" marL="0">
                        <a:lnSpc>
                          <a:spcPts val="1820"/>
                        </a:lnSpc>
                        <a:buNone/>
                      </a:pPr>
                      <a:r>
                        <a:rPr lang="en-US" sz="1300" b="1" dirty="0">
                          <a:solidFill>
                            <a:srgbClr val="F6F4EF"/>
                          </a:solidFill>
                          <a:latin typeface="Anuphan" pitchFamily="34" charset="0"/>
                          <a:ea typeface="Anuphan" pitchFamily="34" charset="-122"/>
                          <a:cs typeface="Anuphan" pitchFamily="34" charset="-120"/>
                        </a:rPr>
                        <a:t>การทดสอบ</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820"/>
                        </a:lnSpc>
                        <a:buNone/>
                      </a:pPr>
                      <a:r>
                        <a:rPr lang="en-US" sz="1300" b="1" dirty="0">
                          <a:solidFill>
                            <a:srgbClr val="F6F4EF"/>
                          </a:solidFill>
                          <a:latin typeface="Anuphan" pitchFamily="34" charset="0"/>
                          <a:ea typeface="Anuphan" pitchFamily="34" charset="-122"/>
                          <a:cs typeface="Anuphan" pitchFamily="34" charset="-120"/>
                        </a:rPr>
                        <a:t>ทดสอบอะไร (ภาษาง่าย)</a:t>
                      </a:r>
                      <a:endParaRPr lang="en-US" sz="1300" dirty="0">
                        <a:latin typeface="Anuphan" charset="0"/>
                        <a:ea typeface="Anuphan" charset="0"/>
                        <a:cs typeface="Anuphan"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820"/>
                        </a:lnSpc>
                        <a:buNone/>
                      </a:pPr>
                      <a:r>
                        <a:rPr lang="en-US" sz="1300" b="1" dirty="0">
                          <a:solidFill>
                            <a:srgbClr val="F6F4EF"/>
                          </a:solidFill>
                          <a:latin typeface="Anuphan" pitchFamily="34" charset="0"/>
                          <a:ea typeface="Anuphan" pitchFamily="34" charset="-122"/>
                          <a:cs typeface="Anuphan" pitchFamily="34" charset="-120"/>
                        </a:rPr>
                        <a:t>ผล</a:t>
                      </a:r>
                      <a:endParaRPr lang="en-US" sz="1300" dirty="0">
                        <a:latin typeface="Anuphan" charset="0"/>
                        <a:ea typeface="Anuphan" charset="0"/>
                        <a:cs typeface="Anuphan"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จำนวนแถวตรงทุกชั้น</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ไฟล์ = Bronze = Silver = Gold = PostgreSQL</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ผ่าน · 3,240 ทุกชั้น</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635577">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ข้อมูลสกปรก 15 แบบ</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จงใจใส่ค่าผิด เช่น คะแนน 150, 'abc' ในช่องตัวเลข, ชั่วโมงซ่อม 200, แถวซ้ำ</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ผ่าน 19/19</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ความสัมพันธ์ตาราง</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ฐานข้อมูลต้องปฏิเสธรหัสที่ไม่มีจริง รหัสซ้ำ และ labelที่ไม่ใช่ 0/1</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ผ่าน 14/14</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ทดลองจริงอัตโนมัติ</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วางไฟล์ใหม่ 308 แถว → ระบบเริ่มเอง ตรวจทุกชั้น</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ผ่าน · 300 ดี, 8 quarantine</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คืนสถานะ (Reset)</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ย้อนข้อมูลกลับเป็นชุดตั้งต้น</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ผ่าน · 3,240 / 0 quarantine</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bl>
          </a:graphicData>
        </a:graphic>
      </p:graphicFrame>
      <p:sp>
        <p:nvSpPr>
          <p:cNvPr id="5" name="Shape 2"/>
          <p:cNvSpPr/>
          <p:nvPr/>
        </p:nvSpPr>
        <p:spPr>
          <a:xfrm>
            <a:off x="812800" y="4496563"/>
            <a:ext cx="10566400" cy="849673"/>
          </a:xfrm>
          <a:prstGeom prst="roundRect">
            <a:avLst>
              <a:gd name="adj" fmla="val 8968"/>
            </a:avLst>
          </a:prstGeom>
          <a:solidFill>
            <a:srgbClr val="E3ECF6"/>
          </a:solidFill>
          <a:ln/>
        </p:spPr>
      </p:sp>
      <p:pic>
        <p:nvPicPr>
          <p:cNvPr id="6" name="Image 0" descr="Verified">    </p:cNvPr>
          <p:cNvPicPr>
            <a:picLocks noChangeAspect="1"/>
          </p:cNvPicPr>
          <p:nvPr/>
        </p:nvPicPr>
        <p:blipFill>
          <a:blip r:embed="rId1"/>
          <a:srcRect l="0" r="0" t="-330" b="-330"/>
          <a:stretch/>
        </p:blipFill>
        <p:spPr>
          <a:xfrm>
            <a:off x="1016000" y="4768999"/>
            <a:ext cx="283874" cy="304800"/>
          </a:xfrm>
          <a:prstGeom prst="rect">
            <a:avLst/>
          </a:prstGeom>
        </p:spPr>
      </p:pic>
      <p:sp>
        <p:nvSpPr>
          <p:cNvPr id="7" name="Text 3"/>
          <p:cNvSpPr/>
          <p:nvPr/>
        </p:nvSpPr>
        <p:spPr>
          <a:xfrm>
            <a:off x="1452274" y="4648963"/>
            <a:ext cx="10015438" cy="570273"/>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ความหมาย:</a:t>
            </a:r>
            <a:r>
              <a:rPr lang="en-US" sz="1300" dirty="0">
                <a:solidFill>
                  <a:srgbClr val="1B2430"/>
                </a:solidFill>
                <a:latin typeface="Anuphan" pitchFamily="34" charset="0"/>
                <a:ea typeface="Anuphan" pitchFamily="34" charset="-122"/>
                <a:cs typeface="Anuphan" pitchFamily="34" charset="-120"/>
              </a:rPr>
              <a:t> ข้อมูลไม่หายระหว่างทาง ข้อมูลผิดถูกจับได้จริง และมี lineage ทุกแถว ย้อนถึงไฟล์ต้นทางได้ — ตัวเลขในส่วน Insight ถัดไปจึงเชื่อถือได้</a:t>
            </a:r>
            <a:endParaRPr lang="en-US" sz="1300" dirty="0"/>
          </a:p>
        </p:txBody>
      </p:sp>
      <p:sp>
        <p:nvSpPr>
          <p:cNvPr id="8" name="Text 4"/>
          <p:cNvSpPr/>
          <p:nvPr/>
        </p:nvSpPr>
        <p:spPr>
          <a:xfrm>
            <a:off x="812800" y="6216941"/>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9" name="Text 5"/>
          <p:cNvSpPr/>
          <p:nvPr/>
        </p:nvSpPr>
        <p:spPr>
          <a:xfrm>
            <a:off x="10058400" y="6216941"/>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12 / 27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58582"/>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02 · CODE MAP</a:t>
            </a:r>
            <a:endParaRPr lang="en-US" sz="1200" dirty="0"/>
          </a:p>
        </p:txBody>
      </p:sp>
      <p:sp>
        <p:nvSpPr>
          <p:cNvPr id="3" name="Text 1"/>
          <p:cNvSpPr/>
          <p:nvPr>
            <p:ph type="title"/>
          </p:nvPr>
        </p:nvSpPr>
        <p:spPr>
          <a:xfrm>
            <a:off x="812800" y="995183"/>
            <a:ext cx="10883392" cy="476575"/>
          </a:xfrm>
          <a:prstGeom prst="rect">
            <a:avLst/>
          </a:prstGeom>
          <a:noFill/>
          <a:ln/>
        </p:spPr>
        <p:txBody>
          <a:bodyPr wrap="square" lIns="0" tIns="0" rIns="0" bIns="0" rtlCol="0" anchor="t">
            <a:normAutofit/>
          </a:bodyPr>
          <a:lstStyle/>
          <a:p>
            <a:pPr algn="l" indent="0" marL="0">
              <a:lnSpc>
                <a:spcPts val="3250"/>
              </a:lnSpc>
              <a:buNone/>
            </a:pPr>
            <a:r>
              <a:rPr lang="en-US" sz="2600" b="1" i="0" dirty="0">
                <a:solidFill>
                  <a:srgbClr val="1B2430"/>
                </a:solidFill>
                <a:latin typeface="Prompt" pitchFamily="34" charset="0"/>
                <a:ea typeface="Prompt" pitchFamily="34" charset="-122"/>
                <a:cs typeface="Prompt" pitchFamily="34" charset="-120"/>
              </a:rPr>
              <a:t>โค้ดหลักของแต่ละ notebook</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635707"/>
          <a:ext cx="10554855" cy="4206298"/>
        </p:xfrm>
        <a:graphic>
          <a:graphicData uri="http://schemas.openxmlformats.org/drawingml/2006/table">
            <a:tbl>
              <a:tblPr/>
              <a:tblGrid>
                <a:gridCol w="2322068"/>
                <a:gridCol w="2110971"/>
                <a:gridCol w="6121816"/>
              </a:tblGrid>
              <a:tr h="350874">
                <a:tc>
                  <a:txBody>
                    <a:bodyPr/>
                    <a:lstStyle/>
                    <a:p>
                      <a:pPr indent="0" marL="0">
                        <a:lnSpc>
                          <a:spcPts val="1670"/>
                        </a:lnSpc>
                        <a:buNone/>
                      </a:pPr>
                      <a:r>
                        <a:rPr lang="en-US" sz="1193" b="1" dirty="0">
                          <a:solidFill>
                            <a:srgbClr val="F6F4EF"/>
                          </a:solidFill>
                          <a:latin typeface="Anuphan" pitchFamily="34" charset="0"/>
                          <a:ea typeface="Anuphan" pitchFamily="34" charset="-122"/>
                          <a:cs typeface="Anuphan" pitchFamily="34" charset="-120"/>
                        </a:rPr>
                        <a:t>Notebook</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670"/>
                        </a:lnSpc>
                        <a:buNone/>
                      </a:pPr>
                      <a:r>
                        <a:rPr lang="en-US" sz="1193" b="1" dirty="0">
                          <a:solidFill>
                            <a:srgbClr val="F6F4EF"/>
                          </a:solidFill>
                          <a:latin typeface="Anuphan" pitchFamily="34" charset="0"/>
                          <a:ea typeface="Anuphan" pitchFamily="34" charset="-122"/>
                          <a:cs typeface="Anuphan" pitchFamily="34" charset="-120"/>
                        </a:rPr>
                        <a:t>หน้าที่</a:t>
                      </a:r>
                      <a:endParaRPr lang="en-US" sz="1193" dirty="0">
                        <a:latin typeface="Anuphan" charset="0"/>
                        <a:ea typeface="Anuphan" charset="0"/>
                        <a:cs typeface="Anuphan" charset="0"/>
                      </a:endParaRPr>
                    </a:p>
                  </a:txBody>
                  <a:tcPr marL="53007" marR="53007" marT="53007" marB="53007"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670"/>
                        </a:lnSpc>
                        <a:buNone/>
                      </a:pPr>
                      <a:r>
                        <a:rPr lang="en-US" sz="1193" b="1" dirty="0">
                          <a:solidFill>
                            <a:srgbClr val="F6F4EF"/>
                          </a:solidFill>
                          <a:latin typeface="Anuphan" pitchFamily="34" charset="0"/>
                          <a:ea typeface="Anuphan" pitchFamily="34" charset="-122"/>
                          <a:cs typeface="Anuphan" pitchFamily="34" charset="-120"/>
                        </a:rPr>
                        <a:t>คำสั่งสำคัญ</a:t>
                      </a:r>
                      <a:endParaRPr lang="en-US" sz="1193" dirty="0">
                        <a:latin typeface="Anuphan" charset="0"/>
                        <a:ea typeface="Anuphan" charset="0"/>
                        <a:cs typeface="Anuphan" charset="0"/>
                      </a:endParaRPr>
                    </a:p>
                  </a:txBody>
                  <a:tcPr marL="53007" marR="53007" marT="53007" marB="53007"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584056">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Bronze_Predictive_v2</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อ่าน CSV ดิบ</a:t>
                      </a:r>
                      <a:endParaRPr lang="en-US" sz="1193" dirty="0">
                        <a:latin typeface="Anuphan" charset="0"/>
                        <a:ea typeface="Anuphan" charset="0"/>
                        <a:cs typeface="Anuphan" charset="0"/>
                      </a:endParaRPr>
                    </a:p>
                  </a:txBody>
                  <a:tcPr marL="53007" marR="53007" marT="53007" marB="53007"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StructType ทุกคอลัมน์ StringType · mode PERMISSIVE + _corrupt_record · _metadata.file_path</a:t>
                      </a:r>
                      <a:endParaRPr lang="en-US" sz="1193" dirty="0">
                        <a:latin typeface="Anuphan" charset="0"/>
                        <a:ea typeface="Anuphan" charset="0"/>
                        <a:cs typeface="Anuphan" charset="0"/>
                      </a:endParaRPr>
                    </a:p>
                  </a:txBody>
                  <a:tcPr marL="53007" marR="53007" marT="53007" marB="53007"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84092">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Bronze_AutoLoader</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อ่านเฉพาะไฟล์ใหม่</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readStream.format("cloudFiles") · checkpointLocation · trigger(availableNow=True) · taskValues.set</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84092">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Silver_Predictive_v2</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clean + DQ</a:t>
                      </a:r>
                      <a:endParaRPr lang="en-US" sz="1193" dirty="0">
                        <a:latin typeface="Anuphan" charset="0"/>
                        <a:ea typeface="Anuphan" charset="0"/>
                        <a:cs typeface="Anuphan" charset="0"/>
                      </a:endParaRPr>
                    </a:p>
                  </a:txBody>
                  <a:tcPr marL="53007" marR="53007" marT="53007" marB="53007"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isin(MISSING_VALUES) · try_cast · sha2(concat_ws) · row_number().over(Window) · array_compact · ADD CONSTRAINT CHECK</a:t>
                      </a:r>
                      <a:endParaRPr lang="en-US" sz="1193" dirty="0">
                        <a:latin typeface="Anuphan" charset="0"/>
                        <a:ea typeface="Anuphan" charset="0"/>
                        <a:cs typeface="Anuphan" charset="0"/>
                      </a:endParaRPr>
                    </a:p>
                  </a:txBody>
                  <a:tcPr marL="53007" marR="53007" marT="53007" marB="53007"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84092">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Gold_Predictive</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6 ตาราง + marts + PostgreSQL</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row_number → production_id · left_anti join (orphan) · PRIMARY/FOREIGN KEY · scan_threshold() · COPY FROM STDIN · expect_rejected()</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0910">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DQ_Test_Dirty_Data</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พิสูจน์ DQ</a:t>
                      </a:r>
                      <a:endParaRPr lang="en-US" sz="1193" dirty="0">
                        <a:latin typeface="Anuphan" charset="0"/>
                        <a:ea typeface="Anuphan" charset="0"/>
                        <a:cs typeface="Anuphan" charset="0"/>
                      </a:endParaRPr>
                    </a:p>
                  </a:txBody>
                  <a:tcPr marL="53007" marR="53007" marT="53007" marB="53007"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mutate() แก้ค่า 1 จุด/เคส · dbutils.notebook.run(notebook, timeout, params)</a:t>
                      </a:r>
                      <a:endParaRPr lang="en-US" sz="1193" dirty="0">
                        <a:latin typeface="Anuphan" charset="0"/>
                        <a:ea typeface="Anuphan" charset="0"/>
                        <a:cs typeface="Anuphan" charset="0"/>
                      </a:endParaRPr>
                    </a:p>
                  </a:txBody>
                  <a:tcPr marL="53007" marR="53007" marT="53007" marB="53007"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84092">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Setup_Workflow</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สร้าง Job</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condition_task new_rows &gt; 0 · file_arrival trigger · max_retries · /api/2.2/jobs/reset</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84092">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ML_Predictive</a:t>
                      </a:r>
                      <a:endParaRPr lang="en-US" sz="1193" dirty="0">
                        <a:latin typeface="Anuphan" charset="0"/>
                        <a:ea typeface="Anuphan" charset="0"/>
                        <a:cs typeface="Anuphan" charset="0"/>
                      </a:endParaRPr>
                    </a:p>
                  </a:txBody>
                  <a:tcPr marL="53007" marR="53007" marT="53007" marB="53007"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โมเดลทำนาย</a:t>
                      </a:r>
                      <a:endParaRPr lang="en-US" sz="1193" dirty="0">
                        <a:latin typeface="Anuphan" charset="0"/>
                        <a:ea typeface="Anuphan" charset="0"/>
                        <a:cs typeface="Anuphan" charset="0"/>
                      </a:endParaRPr>
                    </a:p>
                  </a:txBody>
                  <a:tcPr marL="53007" marR="53007" marT="53007" marB="53007"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70"/>
                        </a:lnSpc>
                        <a:buNone/>
                      </a:pPr>
                      <a:r>
                        <a:rPr lang="en-US" sz="1193" dirty="0">
                          <a:solidFill>
                            <a:srgbClr val="1B2430"/>
                          </a:solidFill>
                          <a:latin typeface="Anuphan" pitchFamily="34" charset="0"/>
                          <a:ea typeface="Anuphan" pitchFamily="34" charset="-122"/>
                          <a:cs typeface="Anuphan" pitchFamily="34" charset="-120"/>
                        </a:rPr>
                        <a:t>train_test_split(stratify) · GradientBoostingClassifier · mlflow.register_model · alias champion</a:t>
                      </a:r>
                      <a:endParaRPr lang="en-US" sz="1193" dirty="0">
                        <a:latin typeface="Anuphan" charset="0"/>
                        <a:ea typeface="Anuphan" charset="0"/>
                        <a:cs typeface="Anuphan" charset="0"/>
                      </a:endParaRPr>
                    </a:p>
                  </a:txBody>
                  <a:tcPr marL="53007" marR="53007" marT="53007" marB="53007"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bl>
          </a:graphicData>
        </a:graphic>
      </p:graphicFrame>
      <p:sp>
        <p:nvSpPr>
          <p:cNvPr id="5" name="Text 2"/>
          <p:cNvSpPr/>
          <p:nvPr/>
        </p:nvSpPr>
        <p:spPr>
          <a:xfrm>
            <a:off x="812800" y="6216941"/>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6" name="Text 3"/>
          <p:cNvSpPr/>
          <p:nvPr/>
        </p:nvSpPr>
        <p:spPr>
          <a:xfrm>
            <a:off x="10058400" y="6216941"/>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13 / 27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EDF1"/>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03 · BUSINESS INSIGHT</a:t>
            </a:r>
            <a:endParaRPr lang="en-US" sz="1200" dirty="0"/>
          </a:p>
        </p:txBody>
      </p:sp>
      <p:sp>
        <p:nvSpPr>
          <p:cNvPr id="3" name="Text 1"/>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9 คำถามทางธุรกิจ ตอบทีละข้อตามลำดับ Q1 → Q9</a:t>
            </a:r>
            <a:endParaRPr lang="en-US" sz="2800" dirty="0"/>
          </a:p>
        </p:txBody>
      </p:sp>
      <p:sp>
        <p:nvSpPr>
          <p:cNvPr id="4" name="Shape 2"/>
          <p:cNvSpPr/>
          <p:nvPr/>
        </p:nvSpPr>
        <p:spPr>
          <a:xfrm>
            <a:off x="812800" y="1714215"/>
            <a:ext cx="3445921" cy="1008496"/>
          </a:xfrm>
          <a:prstGeom prst="roundRect">
            <a:avLst>
              <a:gd name="adj" fmla="val 7556"/>
            </a:avLst>
          </a:prstGeom>
          <a:solidFill>
            <a:srgbClr val="FDFCFA"/>
          </a:solidFill>
          <a:ln/>
        </p:spPr>
      </p:sp>
      <p:sp>
        <p:nvSpPr>
          <p:cNvPr id="5" name="Text 3"/>
          <p:cNvSpPr/>
          <p:nvPr/>
        </p:nvSpPr>
        <p:spPr>
          <a:xfrm>
            <a:off x="952500" y="1853915"/>
            <a:ext cx="299965" cy="27683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563A8"/>
                </a:solidFill>
                <a:latin typeface="Prompt" pitchFamily="34" charset="0"/>
                <a:ea typeface="Prompt" pitchFamily="34" charset="-122"/>
                <a:cs typeface="Prompt" pitchFamily="34" charset="-120"/>
              </a:rPr>
              <a:t>Q1</a:t>
            </a:r>
            <a:endParaRPr lang="en-US" sz="1500" dirty="0"/>
          </a:p>
        </p:txBody>
      </p:sp>
      <p:sp>
        <p:nvSpPr>
          <p:cNvPr id="6" name="Text 4"/>
          <p:cNvSpPr/>
          <p:nvPr/>
        </p:nvSpPr>
        <p:spPr>
          <a:xfrm>
            <a:off x="1303265" y="1853915"/>
            <a:ext cx="2900229"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คุณภาพโดยรวมเป็นอย่างไร กระทบต้นทุนเท่าไร</a:t>
            </a:r>
            <a:endParaRPr lang="en-US" sz="1200" dirty="0"/>
          </a:p>
          <a:p>
            <a:pPr algn="l" indent="0" marL="0">
              <a:lnSpc>
                <a:spcPts val="1740"/>
              </a:lnSpc>
              <a:buNone/>
            </a:pPr>
            <a:r>
              <a:rPr lang="en-US" sz="1200" dirty="0">
                <a:solidFill>
                  <a:srgbClr val="5B6470"/>
                </a:solidFill>
                <a:latin typeface="Anuphan" pitchFamily="34" charset="0"/>
                <a:ea typeface="Anuphan" pitchFamily="34" charset="-122"/>
                <a:cs typeface="Anuphan" pitchFamily="34" charset="-120"/>
              </a:rPr>
              <a:t>→ หน้า 16</a:t>
            </a:r>
            <a:endParaRPr lang="en-US" sz="1200" dirty="0"/>
          </a:p>
        </p:txBody>
      </p:sp>
      <p:sp>
        <p:nvSpPr>
          <p:cNvPr id="7" name="Shape 5"/>
          <p:cNvSpPr/>
          <p:nvPr/>
        </p:nvSpPr>
        <p:spPr>
          <a:xfrm>
            <a:off x="4373021" y="1714215"/>
            <a:ext cx="3445921" cy="1008496"/>
          </a:xfrm>
          <a:prstGeom prst="roundRect">
            <a:avLst>
              <a:gd name="adj" fmla="val 7556"/>
            </a:avLst>
          </a:prstGeom>
          <a:solidFill>
            <a:srgbClr val="FDFCFA"/>
          </a:solidFill>
          <a:ln/>
        </p:spPr>
      </p:sp>
      <p:sp>
        <p:nvSpPr>
          <p:cNvPr id="8" name="Text 6"/>
          <p:cNvSpPr/>
          <p:nvPr/>
        </p:nvSpPr>
        <p:spPr>
          <a:xfrm>
            <a:off x="4512721" y="1853915"/>
            <a:ext cx="349784" cy="27683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563A8"/>
                </a:solidFill>
                <a:latin typeface="Prompt" pitchFamily="34" charset="0"/>
                <a:ea typeface="Prompt" pitchFamily="34" charset="-122"/>
                <a:cs typeface="Prompt" pitchFamily="34" charset="-120"/>
              </a:rPr>
              <a:t>Q2</a:t>
            </a:r>
            <a:endParaRPr lang="en-US" sz="1500" dirty="0"/>
          </a:p>
        </p:txBody>
      </p:sp>
      <p:sp>
        <p:nvSpPr>
          <p:cNvPr id="9" name="Text 7"/>
          <p:cNvSpPr/>
          <p:nvPr/>
        </p:nvSpPr>
        <p:spPr>
          <a:xfrm>
            <a:off x="4905808" y="1853915"/>
            <a:ext cx="2856638"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Controllable factor ตัวไหนสัมพันธ์กับ high-defect มากที่สุด</a:t>
            </a:r>
            <a:endParaRPr lang="en-US" sz="1200" dirty="0"/>
          </a:p>
          <a:p>
            <a:pPr algn="l" indent="0" marL="0">
              <a:lnSpc>
                <a:spcPts val="1740"/>
              </a:lnSpc>
              <a:buNone/>
            </a:pPr>
            <a:r>
              <a:rPr lang="en-US" sz="1200" dirty="0">
                <a:solidFill>
                  <a:srgbClr val="5B6470"/>
                </a:solidFill>
                <a:latin typeface="Anuphan" pitchFamily="34" charset="0"/>
                <a:ea typeface="Anuphan" pitchFamily="34" charset="-122"/>
                <a:cs typeface="Anuphan" pitchFamily="34" charset="-120"/>
              </a:rPr>
              <a:t>→ หน้า 17</a:t>
            </a:r>
            <a:endParaRPr lang="en-US" sz="1200" dirty="0"/>
          </a:p>
        </p:txBody>
      </p:sp>
      <p:sp>
        <p:nvSpPr>
          <p:cNvPr id="10" name="Shape 8"/>
          <p:cNvSpPr/>
          <p:nvPr/>
        </p:nvSpPr>
        <p:spPr>
          <a:xfrm>
            <a:off x="7933243" y="1714215"/>
            <a:ext cx="3445957" cy="1008496"/>
          </a:xfrm>
          <a:prstGeom prst="roundRect">
            <a:avLst>
              <a:gd name="adj" fmla="val 7556"/>
            </a:avLst>
          </a:prstGeom>
          <a:solidFill>
            <a:srgbClr val="FDFCFA"/>
          </a:solidFill>
          <a:ln/>
        </p:spPr>
      </p:sp>
      <p:sp>
        <p:nvSpPr>
          <p:cNvPr id="11" name="Text 9"/>
          <p:cNvSpPr/>
          <p:nvPr/>
        </p:nvSpPr>
        <p:spPr>
          <a:xfrm>
            <a:off x="8072943" y="1853915"/>
            <a:ext cx="348312" cy="27683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563A8"/>
                </a:solidFill>
                <a:latin typeface="Prompt" pitchFamily="34" charset="0"/>
                <a:ea typeface="Prompt" pitchFamily="34" charset="-122"/>
                <a:cs typeface="Prompt" pitchFamily="34" charset="-120"/>
              </a:rPr>
              <a:t>Q3</a:t>
            </a:r>
            <a:endParaRPr lang="en-US" sz="1500" dirty="0"/>
          </a:p>
        </p:txBody>
      </p:sp>
      <p:sp>
        <p:nvSpPr>
          <p:cNvPr id="12" name="Text 10"/>
          <p:cNvSpPr/>
          <p:nvPr/>
        </p:nvSpPr>
        <p:spPr>
          <a:xfrm>
            <a:off x="8464803" y="1853915"/>
            <a:ext cx="2857938"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ชั่วโมงซ่อมบำรุงมีผลอย่างไร threshold อยู่ตรงไหน</a:t>
            </a:r>
            <a:endParaRPr lang="en-US" sz="1200" dirty="0"/>
          </a:p>
          <a:p>
            <a:pPr algn="l" indent="0" marL="0">
              <a:lnSpc>
                <a:spcPts val="1740"/>
              </a:lnSpc>
              <a:buNone/>
            </a:pPr>
            <a:r>
              <a:rPr lang="en-US" sz="1200" dirty="0">
                <a:solidFill>
                  <a:srgbClr val="5B6470"/>
                </a:solidFill>
                <a:latin typeface="Anuphan" pitchFamily="34" charset="0"/>
                <a:ea typeface="Anuphan" pitchFamily="34" charset="-122"/>
                <a:cs typeface="Anuphan" pitchFamily="34" charset="-120"/>
              </a:rPr>
              <a:t>→ หน้า 18</a:t>
            </a:r>
            <a:endParaRPr lang="en-US" sz="1200" dirty="0"/>
          </a:p>
        </p:txBody>
      </p:sp>
      <p:sp>
        <p:nvSpPr>
          <p:cNvPr id="13" name="Shape 11"/>
          <p:cNvSpPr/>
          <p:nvPr/>
        </p:nvSpPr>
        <p:spPr>
          <a:xfrm>
            <a:off x="812800" y="2837011"/>
            <a:ext cx="3445921" cy="1008496"/>
          </a:xfrm>
          <a:prstGeom prst="roundRect">
            <a:avLst>
              <a:gd name="adj" fmla="val 7556"/>
            </a:avLst>
          </a:prstGeom>
          <a:solidFill>
            <a:srgbClr val="FDFCFA"/>
          </a:solidFill>
          <a:ln/>
        </p:spPr>
      </p:sp>
      <p:sp>
        <p:nvSpPr>
          <p:cNvPr id="14" name="Text 12"/>
          <p:cNvSpPr/>
          <p:nvPr/>
        </p:nvSpPr>
        <p:spPr>
          <a:xfrm>
            <a:off x="952500" y="2976711"/>
            <a:ext cx="357101" cy="27683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563A8"/>
                </a:solidFill>
                <a:latin typeface="Prompt" pitchFamily="34" charset="0"/>
                <a:ea typeface="Prompt" pitchFamily="34" charset="-122"/>
                <a:cs typeface="Prompt" pitchFamily="34" charset="-120"/>
              </a:rPr>
              <a:t>Q4</a:t>
            </a:r>
            <a:endParaRPr lang="en-US" sz="1500" dirty="0"/>
          </a:p>
        </p:txBody>
      </p:sp>
      <p:sp>
        <p:nvSpPr>
          <p:cNvPr id="15" name="Text 13"/>
          <p:cNvSpPr/>
          <p:nvPr/>
        </p:nvSpPr>
        <p:spPr>
          <a:xfrm>
            <a:off x="1351684" y="2976711"/>
            <a:ext cx="2760574"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defect rate ระดับใดควรใช้เป็น QC alert</a:t>
            </a:r>
            <a:endParaRPr lang="en-US" sz="1200" dirty="0"/>
          </a:p>
          <a:p>
            <a:pPr algn="l" indent="0" marL="0">
              <a:lnSpc>
                <a:spcPts val="1740"/>
              </a:lnSpc>
              <a:buNone/>
            </a:pPr>
            <a:r>
              <a:rPr lang="en-US" sz="1200" dirty="0">
                <a:solidFill>
                  <a:srgbClr val="5B6470"/>
                </a:solidFill>
                <a:latin typeface="Anuphan" pitchFamily="34" charset="0"/>
                <a:ea typeface="Anuphan" pitchFamily="34" charset="-122"/>
                <a:cs typeface="Anuphan" pitchFamily="34" charset="-120"/>
              </a:rPr>
              <a:t>→ หน้า 19</a:t>
            </a:r>
            <a:endParaRPr lang="en-US" sz="1200" dirty="0"/>
          </a:p>
        </p:txBody>
      </p:sp>
      <p:sp>
        <p:nvSpPr>
          <p:cNvPr id="16" name="Shape 14"/>
          <p:cNvSpPr/>
          <p:nvPr/>
        </p:nvSpPr>
        <p:spPr>
          <a:xfrm>
            <a:off x="4373021" y="2837011"/>
            <a:ext cx="3445921" cy="1008496"/>
          </a:xfrm>
          <a:prstGeom prst="roundRect">
            <a:avLst>
              <a:gd name="adj" fmla="val 7556"/>
            </a:avLst>
          </a:prstGeom>
          <a:solidFill>
            <a:srgbClr val="FDFCFA"/>
          </a:solidFill>
          <a:ln/>
        </p:spPr>
      </p:sp>
      <p:sp>
        <p:nvSpPr>
          <p:cNvPr id="17" name="Text 15"/>
          <p:cNvSpPr/>
          <p:nvPr/>
        </p:nvSpPr>
        <p:spPr>
          <a:xfrm>
            <a:off x="4512721" y="2976711"/>
            <a:ext cx="348312" cy="27683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563A8"/>
                </a:solidFill>
                <a:latin typeface="Prompt" pitchFamily="34" charset="0"/>
                <a:ea typeface="Prompt" pitchFamily="34" charset="-122"/>
                <a:cs typeface="Prompt" pitchFamily="34" charset="-120"/>
              </a:rPr>
              <a:t>Q5</a:t>
            </a:r>
            <a:endParaRPr lang="en-US" sz="1500" dirty="0"/>
          </a:p>
        </p:txBody>
      </p:sp>
      <p:sp>
        <p:nvSpPr>
          <p:cNvPr id="18" name="Text 16"/>
          <p:cNvSpPr/>
          <p:nvPr/>
        </p:nvSpPr>
        <p:spPr>
          <a:xfrm>
            <a:off x="4904581" y="2976711"/>
            <a:ext cx="2857901"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quality score ระดับใดควรใช้เป็น QC alert</a:t>
            </a:r>
            <a:endParaRPr lang="en-US" sz="1200" dirty="0"/>
          </a:p>
          <a:p>
            <a:pPr algn="l" indent="0" marL="0">
              <a:lnSpc>
                <a:spcPts val="1740"/>
              </a:lnSpc>
              <a:buNone/>
            </a:pPr>
            <a:r>
              <a:rPr lang="en-US" sz="1200" dirty="0">
                <a:solidFill>
                  <a:srgbClr val="5B6470"/>
                </a:solidFill>
                <a:latin typeface="Anuphan" pitchFamily="34" charset="0"/>
                <a:ea typeface="Anuphan" pitchFamily="34" charset="-122"/>
                <a:cs typeface="Anuphan" pitchFamily="34" charset="-120"/>
              </a:rPr>
              <a:t>→ หน้า 19</a:t>
            </a:r>
            <a:endParaRPr lang="en-US" sz="1200" dirty="0"/>
          </a:p>
        </p:txBody>
      </p:sp>
      <p:sp>
        <p:nvSpPr>
          <p:cNvPr id="19" name="Shape 17"/>
          <p:cNvSpPr/>
          <p:nvPr/>
        </p:nvSpPr>
        <p:spPr>
          <a:xfrm>
            <a:off x="7933243" y="2837011"/>
            <a:ext cx="3445957" cy="1008496"/>
          </a:xfrm>
          <a:prstGeom prst="roundRect">
            <a:avLst>
              <a:gd name="adj" fmla="val 7556"/>
            </a:avLst>
          </a:prstGeom>
          <a:solidFill>
            <a:srgbClr val="FDFCFA"/>
          </a:solidFill>
          <a:ln/>
        </p:spPr>
      </p:sp>
      <p:sp>
        <p:nvSpPr>
          <p:cNvPr id="20" name="Text 18"/>
          <p:cNvSpPr/>
          <p:nvPr/>
        </p:nvSpPr>
        <p:spPr>
          <a:xfrm>
            <a:off x="8072943" y="2976711"/>
            <a:ext cx="359872" cy="27683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563A8"/>
                </a:solidFill>
                <a:latin typeface="Prompt" pitchFamily="34" charset="0"/>
                <a:ea typeface="Prompt" pitchFamily="34" charset="-122"/>
                <a:cs typeface="Prompt" pitchFamily="34" charset="-120"/>
              </a:rPr>
              <a:t>Q6</a:t>
            </a:r>
            <a:endParaRPr lang="en-US" sz="1500" dirty="0"/>
          </a:p>
        </p:txBody>
      </p:sp>
      <p:sp>
        <p:nvSpPr>
          <p:cNvPr id="21" name="Text 19"/>
          <p:cNvSpPr/>
          <p:nvPr/>
        </p:nvSpPr>
        <p:spPr>
          <a:xfrm>
            <a:off x="8474436" y="2976711"/>
            <a:ext cx="2258851" cy="5114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ผลิต batch ใหญ่ เสี่ยงกว่าหรือไม่</a:t>
            </a:r>
            <a:endParaRPr lang="en-US" sz="1200" dirty="0"/>
          </a:p>
          <a:p>
            <a:pPr algn="l" indent="0" marL="0">
              <a:lnSpc>
                <a:spcPts val="1740"/>
              </a:lnSpc>
              <a:buNone/>
            </a:pPr>
            <a:r>
              <a:rPr lang="en-US" sz="1200" dirty="0">
                <a:solidFill>
                  <a:srgbClr val="5B6470"/>
                </a:solidFill>
                <a:latin typeface="Anuphan" pitchFamily="34" charset="0"/>
                <a:ea typeface="Anuphan" pitchFamily="34" charset="-122"/>
                <a:cs typeface="Anuphan" pitchFamily="34" charset="-120"/>
              </a:rPr>
              <a:t>→ หน้า 20</a:t>
            </a:r>
            <a:endParaRPr lang="en-US" sz="1200" dirty="0"/>
          </a:p>
        </p:txBody>
      </p:sp>
      <p:sp>
        <p:nvSpPr>
          <p:cNvPr id="22" name="Shape 20"/>
          <p:cNvSpPr/>
          <p:nvPr/>
        </p:nvSpPr>
        <p:spPr>
          <a:xfrm>
            <a:off x="812800" y="3959808"/>
            <a:ext cx="3445921" cy="1008496"/>
          </a:xfrm>
          <a:prstGeom prst="roundRect">
            <a:avLst>
              <a:gd name="adj" fmla="val 7556"/>
            </a:avLst>
          </a:prstGeom>
          <a:solidFill>
            <a:srgbClr val="FDFCFA"/>
          </a:solidFill>
          <a:ln/>
        </p:spPr>
      </p:sp>
      <p:sp>
        <p:nvSpPr>
          <p:cNvPr id="23" name="Text 21"/>
          <p:cNvSpPr/>
          <p:nvPr/>
        </p:nvSpPr>
        <p:spPr>
          <a:xfrm>
            <a:off x="952500" y="4099508"/>
            <a:ext cx="338744" cy="27683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563A8"/>
                </a:solidFill>
                <a:latin typeface="Prompt" pitchFamily="34" charset="0"/>
                <a:ea typeface="Prompt" pitchFamily="34" charset="-122"/>
                <a:cs typeface="Prompt" pitchFamily="34" charset="-120"/>
              </a:rPr>
              <a:t>Q7</a:t>
            </a:r>
            <a:endParaRPr lang="en-US" sz="1500" dirty="0"/>
          </a:p>
        </p:txBody>
      </p:sp>
      <p:sp>
        <p:nvSpPr>
          <p:cNvPr id="24" name="Text 22"/>
          <p:cNvSpPr/>
          <p:nvPr/>
        </p:nvSpPr>
        <p:spPr>
          <a:xfrm>
            <a:off x="1336386" y="4099508"/>
            <a:ext cx="2866114"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ปัจจัยใดไม่ช่วยอธิบาย defect (ไม่ควรลงทุนเป็นหลัก)</a:t>
            </a:r>
            <a:endParaRPr lang="en-US" sz="1200" dirty="0"/>
          </a:p>
          <a:p>
            <a:pPr algn="l" indent="0" marL="0">
              <a:lnSpc>
                <a:spcPts val="1740"/>
              </a:lnSpc>
              <a:buNone/>
            </a:pPr>
            <a:r>
              <a:rPr lang="en-US" sz="1200" dirty="0">
                <a:solidFill>
                  <a:srgbClr val="5B6470"/>
                </a:solidFill>
                <a:latin typeface="Anuphan" pitchFamily="34" charset="0"/>
                <a:ea typeface="Anuphan" pitchFamily="34" charset="-122"/>
                <a:cs typeface="Anuphan" pitchFamily="34" charset="-120"/>
              </a:rPr>
              <a:t>→ หน้า 21</a:t>
            </a:r>
            <a:endParaRPr lang="en-US" sz="1200" dirty="0"/>
          </a:p>
        </p:txBody>
      </p:sp>
      <p:sp>
        <p:nvSpPr>
          <p:cNvPr id="25" name="Shape 23"/>
          <p:cNvSpPr/>
          <p:nvPr/>
        </p:nvSpPr>
        <p:spPr>
          <a:xfrm>
            <a:off x="4373021" y="3959808"/>
            <a:ext cx="3445921" cy="1008496"/>
          </a:xfrm>
          <a:prstGeom prst="roundRect">
            <a:avLst>
              <a:gd name="adj" fmla="val 7556"/>
            </a:avLst>
          </a:prstGeom>
          <a:solidFill>
            <a:srgbClr val="FDFCFA"/>
          </a:solidFill>
          <a:ln/>
        </p:spPr>
      </p:sp>
      <p:sp>
        <p:nvSpPr>
          <p:cNvPr id="26" name="Text 24"/>
          <p:cNvSpPr/>
          <p:nvPr/>
        </p:nvSpPr>
        <p:spPr>
          <a:xfrm>
            <a:off x="4512721" y="4099508"/>
            <a:ext cx="358356" cy="27683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563A8"/>
                </a:solidFill>
                <a:latin typeface="Prompt" pitchFamily="34" charset="0"/>
                <a:ea typeface="Prompt" pitchFamily="34" charset="-122"/>
                <a:cs typeface="Prompt" pitchFamily="34" charset="-120"/>
              </a:rPr>
              <a:t>Q8</a:t>
            </a:r>
            <a:endParaRPr lang="en-US" sz="1500" dirty="0"/>
          </a:p>
        </p:txBody>
      </p:sp>
      <p:sp>
        <p:nvSpPr>
          <p:cNvPr id="27" name="Text 25"/>
          <p:cNvSpPr/>
          <p:nvPr/>
        </p:nvSpPr>
        <p:spPr>
          <a:xfrm>
            <a:off x="4912952" y="4099508"/>
            <a:ext cx="2849280"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0"/>
                </a:solidFill>
                <a:latin typeface="Anuphan" pitchFamily="34" charset="0"/>
                <a:ea typeface="Anuphan" pitchFamily="34" charset="-122"/>
                <a:cs typeface="Anuphan" pitchFamily="34" charset="-120"/>
              </a:rPr>
              <a:t>มี Operating window ที่ปลอดภัย ทั้งก่อนและหลังผลิตหรือไม่</a:t>
            </a:r>
            <a:endParaRPr lang="en-US" sz="1200" dirty="0"/>
          </a:p>
          <a:p>
            <a:pPr algn="l" indent="0" marL="0">
              <a:lnSpc>
                <a:spcPts val="1740"/>
              </a:lnSpc>
              <a:buNone/>
            </a:pPr>
            <a:r>
              <a:rPr lang="en-US" sz="1200" dirty="0">
                <a:solidFill>
                  <a:srgbClr val="5B6470"/>
                </a:solidFill>
                <a:latin typeface="Anuphan" pitchFamily="34" charset="0"/>
                <a:ea typeface="Anuphan" pitchFamily="34" charset="-122"/>
                <a:cs typeface="Anuphan" pitchFamily="34" charset="-120"/>
              </a:rPr>
              <a:t>→ หน้า 22–23</a:t>
            </a:r>
            <a:endParaRPr lang="en-US" sz="1200" dirty="0"/>
          </a:p>
        </p:txBody>
      </p:sp>
      <p:sp>
        <p:nvSpPr>
          <p:cNvPr id="28" name="Shape 26"/>
          <p:cNvSpPr/>
          <p:nvPr/>
        </p:nvSpPr>
        <p:spPr>
          <a:xfrm>
            <a:off x="7933243" y="3959808"/>
            <a:ext cx="3445957" cy="1008496"/>
          </a:xfrm>
          <a:prstGeom prst="roundRect">
            <a:avLst>
              <a:gd name="adj" fmla="val 7556"/>
            </a:avLst>
          </a:prstGeom>
          <a:solidFill>
            <a:srgbClr val="1B2430"/>
          </a:solidFill>
          <a:ln/>
        </p:spPr>
      </p:sp>
      <p:sp>
        <p:nvSpPr>
          <p:cNvPr id="29" name="Text 27"/>
          <p:cNvSpPr/>
          <p:nvPr/>
        </p:nvSpPr>
        <p:spPr>
          <a:xfrm>
            <a:off x="8072943" y="4099508"/>
            <a:ext cx="359872" cy="27683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Prompt" pitchFamily="34" charset="0"/>
                <a:ea typeface="Prompt" pitchFamily="34" charset="-122"/>
                <a:cs typeface="Prompt" pitchFamily="34" charset="-120"/>
              </a:rPr>
              <a:t>Q9</a:t>
            </a:r>
            <a:endParaRPr lang="en-US" sz="1500" dirty="0"/>
          </a:p>
        </p:txBody>
      </p:sp>
      <p:sp>
        <p:nvSpPr>
          <p:cNvPr id="30" name="Text 28"/>
          <p:cNvSpPr/>
          <p:nvPr/>
        </p:nvSpPr>
        <p:spPr>
          <a:xfrm>
            <a:off x="8474436" y="4099508"/>
            <a:ext cx="2848016" cy="75449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6F4EF"/>
                </a:solidFill>
                <a:latin typeface="Anuphan" pitchFamily="34" charset="0"/>
                <a:ea typeface="Anuphan" pitchFamily="34" charset="-122"/>
                <a:cs typeface="Anuphan" pitchFamily="34" charset="-120"/>
              </a:rPr>
              <a:t>Unknown Question: label is_high_defect นิยามจากอะไร</a:t>
            </a:r>
            <a:endParaRPr lang="en-US" sz="1200" dirty="0"/>
          </a:p>
          <a:p>
            <a:pPr algn="l" indent="0" marL="0">
              <a:lnSpc>
                <a:spcPts val="1740"/>
              </a:lnSpc>
              <a:buNone/>
            </a:pPr>
            <a:r>
              <a:rPr lang="en-US" sz="1200" dirty="0">
                <a:solidFill>
                  <a:srgbClr val="B8C2CE"/>
                </a:solidFill>
                <a:latin typeface="Anuphan" pitchFamily="34" charset="0"/>
                <a:ea typeface="Anuphan" pitchFamily="34" charset="-122"/>
                <a:cs typeface="Anuphan" pitchFamily="34" charset="-120"/>
              </a:rPr>
              <a:t>→ หน้า 24–25</a:t>
            </a:r>
            <a:endParaRPr lang="en-US" sz="1200" dirty="0"/>
          </a:p>
        </p:txBody>
      </p:sp>
      <p:sp>
        <p:nvSpPr>
          <p:cNvPr id="31" name="Text 29"/>
          <p:cNvSpPr/>
          <p:nvPr/>
        </p:nvSpPr>
        <p:spPr>
          <a:xfrm>
            <a:off x="812800" y="5196898"/>
            <a:ext cx="10883392" cy="2978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F5966"/>
                </a:solidFill>
                <a:latin typeface="Anuphan" pitchFamily="34" charset="0"/>
                <a:ea typeface="Anuphan" pitchFamily="34" charset="-122"/>
                <a:cs typeface="Anuphan" pitchFamily="34" charset="-120"/>
              </a:rPr>
              <a:t>แต่ละหน้าคำตอบมีคำถามเขียนไว้ด้านบน · หัวข้อใหญ่ = คำตอบ</a:t>
            </a:r>
            <a:endParaRPr lang="en-US" sz="1300" dirty="0"/>
          </a:p>
        </p:txBody>
      </p:sp>
      <p:sp>
        <p:nvSpPr>
          <p:cNvPr id="32" name="Text 30"/>
          <p:cNvSpPr/>
          <p:nvPr/>
        </p:nvSpPr>
        <p:spPr>
          <a:xfrm>
            <a:off x="812800" y="6216941"/>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3" name="Text 31"/>
          <p:cNvSpPr/>
          <p:nvPr/>
        </p:nvSpPr>
        <p:spPr>
          <a:xfrm>
            <a:off x="10058400" y="6216941"/>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14 / 27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อ่านก่อนดูคำตอบ Q2–Q8</a:t>
            </a:r>
            <a:endParaRPr lang="en-US" sz="1200" dirty="0"/>
          </a:p>
        </p:txBody>
      </p:sp>
      <p:sp>
        <p:nvSpPr>
          <p:cNvPr id="3" name="Text 1"/>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แยกตัวแปรเป็น Controllable กับ Outcome ก่อนตีความ</a:t>
            </a:r>
            <a:endParaRPr lang="en-US" sz="2800" dirty="0"/>
          </a:p>
        </p:txBody>
      </p:sp>
      <p:sp>
        <p:nvSpPr>
          <p:cNvPr id="4" name="Shape 2"/>
          <p:cNvSpPr/>
          <p:nvPr/>
        </p:nvSpPr>
        <p:spPr>
          <a:xfrm>
            <a:off x="815975" y="1717390"/>
            <a:ext cx="5187950" cy="2555586"/>
          </a:xfrm>
          <a:prstGeom prst="roundRect">
            <a:avLst>
              <a:gd name="adj" fmla="val 2857"/>
            </a:avLst>
          </a:prstGeom>
          <a:solidFill>
            <a:srgbClr val="FDFCFA"/>
          </a:solidFill>
          <a:ln w="6350">
            <a:solidFill>
              <a:srgbClr val="DDD8CE"/>
            </a:solidFill>
            <a:prstDash val="solid"/>
          </a:ln>
        </p:spPr>
      </p:sp>
      <p:pic>
        <p:nvPicPr>
          <p:cNvPr id="5" name="Image 0" descr="Settings">    </p:cNvPr>
          <p:cNvPicPr>
            <a:picLocks noChangeAspect="1"/>
          </p:cNvPicPr>
          <p:nvPr/>
        </p:nvPicPr>
        <p:blipFill>
          <a:blip r:embed="rId1"/>
          <a:srcRect l="0" r="0" t="0" b="0"/>
          <a:stretch/>
        </p:blipFill>
        <p:spPr>
          <a:xfrm>
            <a:off x="1020618" y="1933073"/>
            <a:ext cx="304800" cy="304800"/>
          </a:xfrm>
          <a:prstGeom prst="rect">
            <a:avLst/>
          </a:prstGeom>
        </p:spPr>
      </p:pic>
      <p:sp>
        <p:nvSpPr>
          <p:cNvPr id="6" name="Text 3"/>
          <p:cNvSpPr/>
          <p:nvPr/>
        </p:nvSpPr>
        <p:spPr>
          <a:xfrm>
            <a:off x="1427018" y="1922035"/>
            <a:ext cx="1801307" cy="35231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563A8"/>
                </a:solidFill>
                <a:latin typeface="Prompt" pitchFamily="34" charset="0"/>
                <a:ea typeface="Prompt" pitchFamily="34" charset="-122"/>
                <a:cs typeface="Prompt" pitchFamily="34" charset="-120"/>
              </a:rPr>
              <a:t>Controllable</a:t>
            </a:r>
            <a:endParaRPr lang="en-US" sz="1800" dirty="0"/>
          </a:p>
        </p:txBody>
      </p:sp>
      <p:sp>
        <p:nvSpPr>
          <p:cNvPr id="7" name="Text 4"/>
          <p:cNvSpPr/>
          <p:nvPr/>
        </p:nvSpPr>
        <p:spPr>
          <a:xfrm>
            <a:off x="1020618" y="2350548"/>
            <a:ext cx="4922024" cy="2978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F5966"/>
                </a:solidFill>
                <a:latin typeface="Anuphan" pitchFamily="34" charset="0"/>
                <a:ea typeface="Anuphan" pitchFamily="34" charset="-122"/>
                <a:cs typeface="Anuphan" pitchFamily="34" charset="-120"/>
              </a:rPr>
              <a:t>ปัจจัยที่ทีม</a:t>
            </a:r>
            <a:r>
              <a:rPr lang="en-US" sz="1300" b="1" dirty="0">
                <a:solidFill>
                  <a:srgbClr val="1B2430"/>
                </a:solidFill>
                <a:latin typeface="Anuphan" pitchFamily="34" charset="0"/>
                <a:ea typeface="Anuphan" pitchFamily="34" charset="-122"/>
                <a:cs typeface="Anuphan" pitchFamily="34" charset="-120"/>
              </a:rPr>
              <a:t>ปรับได้ก่อนหรือระหว่างผลิต</a:t>
            </a:r>
            <a:r>
              <a:rPr lang="en-US" sz="1300" dirty="0">
                <a:solidFill>
                  <a:srgbClr val="4F5966"/>
                </a:solidFill>
                <a:latin typeface="Anuphan" pitchFamily="34" charset="0"/>
                <a:ea typeface="Anuphan" pitchFamily="34" charset="-122"/>
                <a:cs typeface="Anuphan" pitchFamily="34" charset="-120"/>
              </a:rPr>
              <a:t> (8 ตัว)</a:t>
            </a:r>
            <a:endParaRPr lang="en-US" sz="1300" dirty="0"/>
          </a:p>
        </p:txBody>
      </p:sp>
      <p:sp>
        <p:nvSpPr>
          <p:cNvPr id="8" name="Text 5"/>
          <p:cNvSpPr/>
          <p:nvPr/>
        </p:nvSpPr>
        <p:spPr>
          <a:xfrm>
            <a:off x="1020618" y="2724584"/>
            <a:ext cx="4922024" cy="84271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maintenance hours · production volume · supplier quality · delivery delay · downtime · stockout · worker productivity · energy efficiency</a:t>
            </a:r>
            <a:endParaRPr lang="en-US" sz="1300" dirty="0"/>
          </a:p>
        </p:txBody>
      </p:sp>
      <p:sp>
        <p:nvSpPr>
          <p:cNvPr id="9" name="Text 6"/>
          <p:cNvSpPr/>
          <p:nvPr/>
        </p:nvSpPr>
        <p:spPr>
          <a:xfrm>
            <a:off x="1020618" y="3643499"/>
            <a:ext cx="4778664" cy="424837"/>
          </a:xfrm>
          <a:prstGeom prst="roundRect">
            <a:avLst>
              <a:gd name="adj" fmla="val 11958"/>
            </a:avLst>
          </a:prstGeom>
          <a:solidFill>
            <a:srgbClr val="E3ECF6"/>
          </a:solidFill>
          <a:ln/>
        </p:spPr>
        <p:txBody>
          <a:bodyPr wrap="square" lIns="99421" tIns="61321" rIns="0" bIns="35921"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ใช้ทำ </a:t>
            </a:r>
            <a:r>
              <a:rPr lang="en-US" sz="1300" b="1" dirty="0">
                <a:solidFill>
                  <a:srgbClr val="1B2430"/>
                </a:solidFill>
                <a:latin typeface="Anuphan" pitchFamily="34" charset="0"/>
                <a:ea typeface="Anuphan" pitchFamily="34" charset="-122"/>
                <a:cs typeface="Anuphan" pitchFamily="34" charset="-120"/>
              </a:rPr>
              <a:t>Risk score ก่อนปล่อย batch</a:t>
            </a:r>
            <a:endParaRPr lang="en-US" sz="1300" dirty="0"/>
          </a:p>
        </p:txBody>
      </p:sp>
      <p:sp>
        <p:nvSpPr>
          <p:cNvPr id="10" name="Shape 7"/>
          <p:cNvSpPr/>
          <p:nvPr/>
        </p:nvSpPr>
        <p:spPr>
          <a:xfrm>
            <a:off x="6188075" y="1717390"/>
            <a:ext cx="5187950" cy="2555586"/>
          </a:xfrm>
          <a:prstGeom prst="roundRect">
            <a:avLst>
              <a:gd name="adj" fmla="val 2857"/>
            </a:avLst>
          </a:prstGeom>
          <a:solidFill>
            <a:srgbClr val="FDFCFA"/>
          </a:solidFill>
          <a:ln w="6350">
            <a:solidFill>
              <a:srgbClr val="DDD8CE"/>
            </a:solidFill>
            <a:prstDash val="solid"/>
          </a:ln>
        </p:spPr>
      </p:sp>
      <p:pic>
        <p:nvPicPr>
          <p:cNvPr id="11" name="Image 1" descr="Activity">    </p:cNvPr>
          <p:cNvPicPr>
            <a:picLocks noChangeAspect="1"/>
          </p:cNvPicPr>
          <p:nvPr/>
        </p:nvPicPr>
        <p:blipFill>
          <a:blip r:embed="rId2"/>
          <a:srcRect l="0" r="0" t="0" b="0"/>
          <a:stretch/>
        </p:blipFill>
        <p:spPr>
          <a:xfrm>
            <a:off x="6392718" y="1933073"/>
            <a:ext cx="304800" cy="304800"/>
          </a:xfrm>
          <a:prstGeom prst="rect">
            <a:avLst/>
          </a:prstGeom>
        </p:spPr>
      </p:pic>
      <p:sp>
        <p:nvSpPr>
          <p:cNvPr id="12" name="Text 8"/>
          <p:cNvSpPr/>
          <p:nvPr/>
        </p:nvSpPr>
        <p:spPr>
          <a:xfrm>
            <a:off x="6799118" y="1922035"/>
            <a:ext cx="1343891" cy="35231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B04E0A"/>
                </a:solidFill>
                <a:latin typeface="Prompt" pitchFamily="34" charset="0"/>
                <a:ea typeface="Prompt" pitchFamily="34" charset="-122"/>
                <a:cs typeface="Prompt" pitchFamily="34" charset="-120"/>
              </a:rPr>
              <a:t>Outcome</a:t>
            </a:r>
            <a:endParaRPr lang="en-US" sz="1800" dirty="0"/>
          </a:p>
        </p:txBody>
      </p:sp>
      <p:sp>
        <p:nvSpPr>
          <p:cNvPr id="13" name="Text 9"/>
          <p:cNvSpPr/>
          <p:nvPr/>
        </p:nvSpPr>
        <p:spPr>
          <a:xfrm>
            <a:off x="6392718" y="2350548"/>
            <a:ext cx="4922024" cy="2978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F5966"/>
                </a:solidFill>
                <a:latin typeface="Anuphan" pitchFamily="34" charset="0"/>
                <a:ea typeface="Anuphan" pitchFamily="34" charset="-122"/>
                <a:cs typeface="Anuphan" pitchFamily="34" charset="-120"/>
              </a:rPr>
              <a:t>ตัววัดผลคุณภาพที่</a:t>
            </a:r>
            <a:r>
              <a:rPr lang="en-US" sz="1300" b="1" dirty="0">
                <a:solidFill>
                  <a:srgbClr val="1B2430"/>
                </a:solidFill>
                <a:latin typeface="Anuphan" pitchFamily="34" charset="0"/>
                <a:ea typeface="Anuphan" pitchFamily="34" charset="-122"/>
                <a:cs typeface="Anuphan" pitchFamily="34" charset="-120"/>
              </a:rPr>
              <a:t>รู้หลังผลิตเสร็จแล้ว</a:t>
            </a:r>
            <a:r>
              <a:rPr lang="en-US" sz="1300" dirty="0">
                <a:solidFill>
                  <a:srgbClr val="4F5966"/>
                </a:solidFill>
                <a:latin typeface="Anuphan" pitchFamily="34" charset="0"/>
                <a:ea typeface="Anuphan" pitchFamily="34" charset="-122"/>
                <a:cs typeface="Anuphan" pitchFamily="34" charset="-120"/>
              </a:rPr>
              <a:t> (2 ตัว)</a:t>
            </a:r>
            <a:endParaRPr lang="en-US" sz="1300" dirty="0"/>
          </a:p>
        </p:txBody>
      </p:sp>
      <p:sp>
        <p:nvSpPr>
          <p:cNvPr id="14" name="Text 10"/>
          <p:cNvSpPr/>
          <p:nvPr/>
        </p:nvSpPr>
        <p:spPr>
          <a:xfrm>
            <a:off x="6392718" y="2724584"/>
            <a:ext cx="4922024" cy="2978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defect rate · quality score</a:t>
            </a:r>
            <a:endParaRPr lang="en-US" sz="1300" dirty="0"/>
          </a:p>
        </p:txBody>
      </p:sp>
      <p:sp>
        <p:nvSpPr>
          <p:cNvPr id="15" name="Text 11"/>
          <p:cNvSpPr/>
          <p:nvPr/>
        </p:nvSpPr>
        <p:spPr>
          <a:xfrm>
            <a:off x="6392718" y="3098620"/>
            <a:ext cx="4778664" cy="424837"/>
          </a:xfrm>
          <a:prstGeom prst="roundRect">
            <a:avLst>
              <a:gd name="adj" fmla="val 11958"/>
            </a:avLst>
          </a:prstGeom>
          <a:solidFill>
            <a:srgbClr val="FBE9DA"/>
          </a:solidFill>
          <a:ln/>
        </p:spPr>
        <p:txBody>
          <a:bodyPr wrap="square" lIns="99421" tIns="61321" rIns="0" bIns="35921"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ใช้เป็น </a:t>
            </a:r>
            <a:r>
              <a:rPr lang="en-US" sz="1300" b="1" dirty="0">
                <a:solidFill>
                  <a:srgbClr val="1B2430"/>
                </a:solidFill>
                <a:latin typeface="Anuphan" pitchFamily="34" charset="0"/>
                <a:ea typeface="Anuphan" pitchFamily="34" charset="-122"/>
                <a:cs typeface="Anuphan" pitchFamily="34" charset="-120"/>
              </a:rPr>
              <a:t>QC alert / KPI เฝ้าระวัง</a:t>
            </a:r>
            <a:r>
              <a:rPr lang="en-US" sz="1300" dirty="0">
                <a:solidFill>
                  <a:srgbClr val="1B2430"/>
                </a:solidFill>
                <a:latin typeface="Anuphan" pitchFamily="34" charset="0"/>
                <a:ea typeface="Anuphan" pitchFamily="34" charset="-122"/>
                <a:cs typeface="Anuphan" pitchFamily="34" charset="-120"/>
              </a:rPr>
              <a:t> — ไม่ใช่สาเหตุ</a:t>
            </a:r>
            <a:endParaRPr lang="en-US" sz="1300" dirty="0"/>
          </a:p>
        </p:txBody>
      </p:sp>
      <p:sp>
        <p:nvSpPr>
          <p:cNvPr id="16" name="Text 12"/>
          <p:cNvSpPr/>
          <p:nvPr/>
        </p:nvSpPr>
        <p:spPr>
          <a:xfrm>
            <a:off x="812800" y="6216941"/>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17" name="Text 13"/>
          <p:cNvSpPr/>
          <p:nvPr/>
        </p:nvSpPr>
        <p:spPr>
          <a:xfrm>
            <a:off x="10058400" y="6216941"/>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15 / 27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430"/>
        </a:solidFill>
      </p:bgPr>
    </p:bg>
    <p:spTree>
      <p:nvGrpSpPr>
        <p:cNvPr id="1" name=""/>
        <p:cNvGrpSpPr/>
        <p:nvPr/>
      </p:nvGrpSpPr>
      <p:grpSpPr>
        <a:xfrm>
          <a:off x="0" y="0"/>
          <a:ext cx="0" cy="0"/>
          <a:chOff x="0" y="0"/>
          <a:chExt cx="0" cy="0"/>
        </a:xfrm>
      </p:grpSpPr>
      <p:sp>
        <p:nvSpPr>
          <p:cNvPr id="2" name="Text 0"/>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4"/>
                </a:solidFill>
                <a:latin typeface="Anuphan" pitchFamily="34" charset="0"/>
                <a:ea typeface="Anuphan" pitchFamily="34" charset="-122"/>
                <a:cs typeface="Anuphan" pitchFamily="34" charset="-120"/>
              </a:rPr>
              <a:t>Manufacturing Defect Pipeline · KMITL</a:t>
            </a:r>
            <a:endParaRPr lang="en-US" sz="1200" dirty="0"/>
          </a:p>
        </p:txBody>
      </p:sp>
      <p:sp>
        <p:nvSpPr>
          <p:cNvPr id="3" name="Text 1"/>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6B4"/>
                </a:solidFill>
                <a:latin typeface="Anuphan" pitchFamily="34" charset="0"/>
                <a:ea typeface="Anuphan" pitchFamily="34" charset="-122"/>
                <a:cs typeface="Anuphan" pitchFamily="34" charset="-120"/>
              </a:rPr>
              <a:t>16 / 27</a:t>
            </a:r>
            <a:endParaRPr lang="en-US" sz="1200" dirty="0"/>
          </a:p>
        </p:txBody>
      </p:sp>
      <p:sp>
        <p:nvSpPr>
          <p:cNvPr id="4" name="Text 2"/>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2A65A"/>
                </a:solidFill>
                <a:latin typeface="Anuphan" pitchFamily="34" charset="0"/>
                <a:ea typeface="Anuphan" pitchFamily="34" charset="-122"/>
                <a:cs typeface="Anuphan" pitchFamily="34" charset="-120"/>
              </a:rPr>
              <a:t>Q1 · คุณภาพโดยรวมเป็นอย่างไร กระทบต้นทุนเท่าไร</a:t>
            </a:r>
            <a:endParaRPr lang="en-US" sz="1200" dirty="0"/>
          </a:p>
        </p:txBody>
      </p:sp>
      <p:sp>
        <p:nvSpPr>
          <p:cNvPr id="5" name="Text 3"/>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F6F4EF"/>
                </a:solidFill>
                <a:latin typeface="Prompt" pitchFamily="34" charset="0"/>
                <a:ea typeface="Prompt" pitchFamily="34" charset="-122"/>
                <a:cs typeface="Prompt" pitchFamily="34" charset="-120"/>
              </a:rPr>
              <a:t>High defectไม่ใช่ปัญหาเฉพาะจุด แต่เป็นเรื่องของทั้งโรงงาน</a:t>
            </a:r>
            <a:endParaRPr lang="en-US" sz="2800" dirty="0"/>
          </a:p>
        </p:txBody>
      </p:sp>
      <p:sp>
        <p:nvSpPr>
          <p:cNvPr id="6" name="Text 4"/>
          <p:cNvSpPr/>
          <p:nvPr/>
        </p:nvSpPr>
        <p:spPr>
          <a:xfrm>
            <a:off x="812800" y="1765300"/>
            <a:ext cx="3322349" cy="905488"/>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2A65A"/>
                </a:solidFill>
                <a:latin typeface="Prompt" pitchFamily="34" charset="0"/>
                <a:ea typeface="Prompt" pitchFamily="34" charset="-122"/>
                <a:cs typeface="Prompt" pitchFamily="34" charset="-120"/>
              </a:rPr>
              <a:t>84.04%</a:t>
            </a:r>
            <a:endParaRPr lang="en-US" sz="6000" dirty="0"/>
          </a:p>
        </p:txBody>
      </p:sp>
      <p:sp>
        <p:nvSpPr>
          <p:cNvPr id="7" name="Text 5"/>
          <p:cNvSpPr/>
          <p:nvPr/>
        </p:nvSpPr>
        <p:spPr>
          <a:xfrm>
            <a:off x="812800" y="2670795"/>
            <a:ext cx="3108075" cy="2796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Anuphan" pitchFamily="34" charset="0"/>
                <a:ea typeface="Anuphan" pitchFamily="34" charset="-122"/>
                <a:cs typeface="Anuphan" pitchFamily="34" charset="-120"/>
              </a:rPr>
              <a:t>ของ batch เป็น High defect</a:t>
            </a:r>
            <a:endParaRPr lang="en-US" sz="1300" dirty="0"/>
          </a:p>
        </p:txBody>
      </p:sp>
      <p:sp>
        <p:nvSpPr>
          <p:cNvPr id="8" name="Text 6"/>
          <p:cNvSpPr/>
          <p:nvPr/>
        </p:nvSpPr>
        <p:spPr>
          <a:xfrm>
            <a:off x="4135149" y="2092226"/>
            <a:ext cx="2108619" cy="578572"/>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6F4EF"/>
                </a:solidFill>
                <a:latin typeface="Prompt" pitchFamily="34" charset="0"/>
                <a:ea typeface="Prompt" pitchFamily="34" charset="-122"/>
                <a:cs typeface="Prompt" pitchFamily="34" charset="-120"/>
              </a:rPr>
              <a:t>84.38%</a:t>
            </a:r>
            <a:endParaRPr lang="en-US" sz="3600" dirty="0"/>
          </a:p>
        </p:txBody>
      </p:sp>
      <p:sp>
        <p:nvSpPr>
          <p:cNvPr id="9" name="Text 7"/>
          <p:cNvSpPr/>
          <p:nvPr/>
        </p:nvSpPr>
        <p:spPr>
          <a:xfrm>
            <a:off x="4135149" y="2670795"/>
            <a:ext cx="1809898" cy="2796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Anuphan" pitchFamily="34" charset="0"/>
                <a:ea typeface="Anuphan" pitchFamily="34" charset="-122"/>
                <a:cs typeface="Anuphan" pitchFamily="34" charset="-120"/>
              </a:rPr>
              <a:t>ของต้นทุนการผลิต</a:t>
            </a:r>
            <a:endParaRPr lang="en-US" sz="1300" dirty="0"/>
          </a:p>
        </p:txBody>
      </p:sp>
      <p:sp>
        <p:nvSpPr>
          <p:cNvPr id="10" name="Text 8"/>
          <p:cNvSpPr/>
          <p:nvPr/>
        </p:nvSpPr>
        <p:spPr>
          <a:xfrm>
            <a:off x="812800" y="3077443"/>
            <a:ext cx="5033277" cy="355600"/>
          </a:xfrm>
          <a:custGeom>
            <a:avLst/>
            <a:gdLst/>
            <a:ahLst/>
            <a:cxnLst/>
            <a:rect l="l" t="t" r="r" b="b"/>
            <a:pathLst>
              <a:path w="5033277" h="355600">
                <a:moveTo>
                  <a:pt x="0" y="50800"/>
                </a:moveTo>
                <a:arcTo hR="50800" wR="50800" stAng="10800000" swAng="5400000"/>
                <a:lnTo>
                  <a:pt x="5033277" y="0"/>
                </a:lnTo>
                <a:lnTo>
                  <a:pt x="5033277" y="355600"/>
                </a:lnTo>
                <a:lnTo>
                  <a:pt x="50800" y="355600"/>
                </a:lnTo>
                <a:arcTo hR="50800" wR="50800" stAng="5400000" swAng="5400000"/>
                <a:close/>
              </a:path>
            </a:pathLst>
          </a:custGeom>
          <a:solidFill>
            <a:srgbClr val="E07A1F"/>
          </a:solidFill>
          <a:ln/>
        </p:spPr>
        <p:txBody>
          <a:bodyPr wrap="square" lIns="127000" tIns="0" rIns="127000" bIns="0" rtlCol="0" anchor="ctr">
            <a:normAutofit/>
          </a:bodyPr>
          <a:lstStyle/>
          <a:p>
            <a:pPr algn="l" indent="0" marL="0">
              <a:lnSpc>
                <a:spcPts val="1680"/>
              </a:lnSpc>
              <a:buNone/>
            </a:pPr>
            <a:r>
              <a:rPr lang="en-US" sz="1200" b="1" dirty="0">
                <a:solidFill>
                  <a:srgbClr val="1B2430"/>
                </a:solidFill>
                <a:latin typeface="Anuphan" pitchFamily="34" charset="0"/>
                <a:ea typeface="Anuphan" pitchFamily="34" charset="-122"/>
                <a:cs typeface="Anuphan" pitchFamily="34" charset="-120"/>
              </a:rPr>
              <a:t>High defect 2,723 batch</a:t>
            </a:r>
            <a:endParaRPr lang="en-US" sz="1200" dirty="0"/>
          </a:p>
        </p:txBody>
      </p:sp>
      <p:sp>
        <p:nvSpPr>
          <p:cNvPr id="11" name="Text 9"/>
          <p:cNvSpPr/>
          <p:nvPr/>
        </p:nvSpPr>
        <p:spPr>
          <a:xfrm>
            <a:off x="5846077" y="3077443"/>
            <a:ext cx="1062723" cy="355600"/>
          </a:xfrm>
          <a:custGeom>
            <a:avLst/>
            <a:gdLst/>
            <a:ahLst/>
            <a:cxnLst/>
            <a:rect l="l" t="t" r="r" b="b"/>
            <a:pathLst>
              <a:path w="1062723" h="355600">
                <a:moveTo>
                  <a:pt x="1011923" y="0"/>
                </a:moveTo>
                <a:arcTo hR="50800" wR="50800" stAng="16200000" swAng="5400000"/>
                <a:lnTo>
                  <a:pt x="1062723" y="304800"/>
                </a:lnTo>
                <a:arcTo hR="50800" wR="50800" stAng="0" swAng="5400000"/>
                <a:lnTo>
                  <a:pt x="0" y="355600"/>
                </a:lnTo>
                <a:lnTo>
                  <a:pt x="0" y="0"/>
                </a:lnTo>
                <a:close/>
              </a:path>
            </a:pathLst>
          </a:custGeom>
          <a:solidFill>
            <a:srgbClr val="6E9BCF"/>
          </a:solidFill>
          <a:ln/>
        </p:spPr>
        <p:txBody>
          <a:bodyPr wrap="square" lIns="76200" tIns="0" rIns="76200" bIns="0" rtlCol="0" anchor="ctr">
            <a:normAutofit/>
          </a:bodyPr>
          <a:lstStyle/>
          <a:p>
            <a:pPr algn="l" indent="0" marL="0">
              <a:lnSpc>
                <a:spcPts val="1680"/>
              </a:lnSpc>
              <a:buNone/>
            </a:pPr>
            <a:r>
              <a:rPr lang="en-US" sz="1200" b="1" dirty="0">
                <a:solidFill>
                  <a:srgbClr val="1B2430"/>
                </a:solidFill>
                <a:latin typeface="Anuphan" pitchFamily="34" charset="0"/>
                <a:ea typeface="Anuphan" pitchFamily="34" charset="-122"/>
                <a:cs typeface="Anuphan" pitchFamily="34" charset="-120"/>
              </a:rPr>
              <a:t>Low 517</a:t>
            </a:r>
            <a:endParaRPr lang="en-US" sz="1200" dirty="0"/>
          </a:p>
        </p:txBody>
      </p:sp>
      <p:sp>
        <p:nvSpPr>
          <p:cNvPr id="12" name="Text 10"/>
          <p:cNvSpPr/>
          <p:nvPr/>
        </p:nvSpPr>
        <p:spPr>
          <a:xfrm>
            <a:off x="812800" y="3585443"/>
            <a:ext cx="6278880" cy="612126"/>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2DC"/>
                </a:solidFill>
                <a:latin typeface="Anuphan" pitchFamily="34" charset="0"/>
                <a:ea typeface="Anuphan" pitchFamily="34" charset="-122"/>
                <a:cs typeface="Anuphan" pitchFamily="34" charset="-120"/>
              </a:rPr>
              <a:t>ทุก ๆ 100 batch มี 84 batch ที่เป็น High defect และเงินลงทุนผลิตเกือบ $34M จาก $40.25M อยู่ใน batch กลุ่มนี้</a:t>
            </a:r>
            <a:endParaRPr lang="en-US" sz="1400" dirty="0"/>
          </a:p>
        </p:txBody>
      </p:sp>
      <p:sp>
        <p:nvSpPr>
          <p:cNvPr id="13" name="Text 11"/>
          <p:cNvSpPr/>
          <p:nvPr/>
        </p:nvSpPr>
        <p:spPr>
          <a:xfrm>
            <a:off x="812800" y="4324573"/>
            <a:ext cx="6278880" cy="318763"/>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F6F4EF"/>
                </a:solidFill>
                <a:latin typeface="Anuphan" pitchFamily="34" charset="0"/>
                <a:ea typeface="Anuphan" pitchFamily="34" charset="-122"/>
                <a:cs typeface="Anuphan" pitchFamily="34" charset="-120"/>
              </a:rPr>
              <a:t>Action:</a:t>
            </a:r>
            <a:r>
              <a:rPr lang="en-US" sz="1400" dirty="0">
                <a:solidFill>
                  <a:srgbClr val="F6F4EF"/>
                </a:solidFill>
                <a:latin typeface="Anuphan" pitchFamily="34" charset="0"/>
                <a:ea typeface="Anuphan" pitchFamily="34" charset="-122"/>
                <a:cs typeface="Anuphan" pitchFamily="34" charset="-120"/>
              </a:rPr>
              <a:t> ตั้ง “high-defect %” เป็น KPI หลักของโรงงาน</a:t>
            </a:r>
            <a:endParaRPr lang="en-US" sz="1400" dirty="0"/>
          </a:p>
        </p:txBody>
      </p:sp>
      <p:sp>
        <p:nvSpPr>
          <p:cNvPr id="14" name="Shape 12"/>
          <p:cNvSpPr/>
          <p:nvPr/>
        </p:nvSpPr>
        <p:spPr>
          <a:xfrm>
            <a:off x="7315200" y="1765300"/>
            <a:ext cx="1981200" cy="849313"/>
          </a:xfrm>
          <a:prstGeom prst="roundRect">
            <a:avLst>
              <a:gd name="adj" fmla="val 7477"/>
            </a:avLst>
          </a:prstGeom>
          <a:solidFill>
            <a:srgbClr val="26323F"/>
          </a:solidFill>
          <a:ln/>
        </p:spPr>
      </p:sp>
      <p:sp>
        <p:nvSpPr>
          <p:cNvPr id="15" name="Text 13"/>
          <p:cNvSpPr/>
          <p:nvPr/>
        </p:nvSpPr>
        <p:spPr>
          <a:xfrm>
            <a:off x="7467600" y="1892300"/>
            <a:ext cx="1727200" cy="36065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Prompt" pitchFamily="34" charset="0"/>
                <a:ea typeface="Prompt" pitchFamily="34" charset="-122"/>
                <a:cs typeface="Prompt" pitchFamily="34" charset="-120"/>
              </a:rPr>
              <a:t>3,240</a:t>
            </a:r>
            <a:endParaRPr lang="en-US" sz="2000" dirty="0"/>
          </a:p>
        </p:txBody>
      </p:sp>
      <p:sp>
        <p:nvSpPr>
          <p:cNvPr id="16" name="Text 14"/>
          <p:cNvSpPr/>
          <p:nvPr/>
        </p:nvSpPr>
        <p:spPr>
          <a:xfrm>
            <a:off x="7467600" y="2252960"/>
            <a:ext cx="17272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CE"/>
                </a:solidFill>
                <a:latin typeface="Anuphan" pitchFamily="34" charset="0"/>
                <a:ea typeface="Anuphan" pitchFamily="34" charset="-122"/>
                <a:cs typeface="Anuphan" pitchFamily="34" charset="-120"/>
              </a:rPr>
              <a:t>batch ทั้งหมด</a:t>
            </a:r>
            <a:endParaRPr lang="en-US" sz="1200" dirty="0"/>
          </a:p>
        </p:txBody>
      </p:sp>
      <p:sp>
        <p:nvSpPr>
          <p:cNvPr id="17" name="Shape 15"/>
          <p:cNvSpPr/>
          <p:nvPr/>
        </p:nvSpPr>
        <p:spPr>
          <a:xfrm>
            <a:off x="9398000" y="1765300"/>
            <a:ext cx="1981200" cy="849313"/>
          </a:xfrm>
          <a:prstGeom prst="roundRect">
            <a:avLst>
              <a:gd name="adj" fmla="val 7477"/>
            </a:avLst>
          </a:prstGeom>
          <a:solidFill>
            <a:srgbClr val="26323F"/>
          </a:solidFill>
          <a:ln/>
        </p:spPr>
      </p:sp>
      <p:sp>
        <p:nvSpPr>
          <p:cNvPr id="18" name="Text 16"/>
          <p:cNvSpPr/>
          <p:nvPr/>
        </p:nvSpPr>
        <p:spPr>
          <a:xfrm>
            <a:off x="9550400" y="1892300"/>
            <a:ext cx="1727200" cy="36065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Prompt" pitchFamily="34" charset="0"/>
                <a:ea typeface="Prompt" pitchFamily="34" charset="-122"/>
                <a:cs typeface="Prompt" pitchFamily="34" charset="-120"/>
              </a:rPr>
              <a:t>1.78M</a:t>
            </a:r>
            <a:endParaRPr lang="en-US" sz="2000" dirty="0"/>
          </a:p>
        </p:txBody>
      </p:sp>
      <p:sp>
        <p:nvSpPr>
          <p:cNvPr id="19" name="Text 17"/>
          <p:cNvSpPr/>
          <p:nvPr/>
        </p:nvSpPr>
        <p:spPr>
          <a:xfrm>
            <a:off x="9550400" y="2252960"/>
            <a:ext cx="17272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CE"/>
                </a:solidFill>
                <a:latin typeface="Anuphan" pitchFamily="34" charset="0"/>
                <a:ea typeface="Anuphan" pitchFamily="34" charset="-122"/>
                <a:cs typeface="Anuphan" pitchFamily="34" charset="-120"/>
              </a:rPr>
              <a:t>หน่วยที่ผลิต</a:t>
            </a:r>
            <a:endParaRPr lang="en-US" sz="1200" dirty="0"/>
          </a:p>
        </p:txBody>
      </p:sp>
      <p:sp>
        <p:nvSpPr>
          <p:cNvPr id="20" name="Shape 18"/>
          <p:cNvSpPr/>
          <p:nvPr/>
        </p:nvSpPr>
        <p:spPr>
          <a:xfrm>
            <a:off x="7315200" y="2716213"/>
            <a:ext cx="1981200" cy="849313"/>
          </a:xfrm>
          <a:prstGeom prst="roundRect">
            <a:avLst>
              <a:gd name="adj" fmla="val 7477"/>
            </a:avLst>
          </a:prstGeom>
          <a:solidFill>
            <a:srgbClr val="26323F"/>
          </a:solidFill>
          <a:ln/>
        </p:spPr>
      </p:sp>
      <p:sp>
        <p:nvSpPr>
          <p:cNvPr id="21" name="Text 19"/>
          <p:cNvSpPr/>
          <p:nvPr/>
        </p:nvSpPr>
        <p:spPr>
          <a:xfrm>
            <a:off x="7467600" y="2843213"/>
            <a:ext cx="1727200" cy="36065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Prompt" pitchFamily="34" charset="0"/>
                <a:ea typeface="Prompt" pitchFamily="34" charset="-122"/>
                <a:cs typeface="Prompt" pitchFamily="34" charset="-120"/>
              </a:rPr>
              <a:t>$40.25M</a:t>
            </a:r>
            <a:endParaRPr lang="en-US" sz="2000" dirty="0"/>
          </a:p>
        </p:txBody>
      </p:sp>
      <p:sp>
        <p:nvSpPr>
          <p:cNvPr id="22" name="Text 20"/>
          <p:cNvSpPr/>
          <p:nvPr/>
        </p:nvSpPr>
        <p:spPr>
          <a:xfrm>
            <a:off x="7467600" y="3203873"/>
            <a:ext cx="17272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CE"/>
                </a:solidFill>
                <a:latin typeface="Anuphan" pitchFamily="34" charset="0"/>
                <a:ea typeface="Anuphan" pitchFamily="34" charset="-122"/>
                <a:cs typeface="Anuphan" pitchFamily="34" charset="-120"/>
              </a:rPr>
              <a:t>ต้นทุนรวม</a:t>
            </a:r>
            <a:endParaRPr lang="en-US" sz="1200" dirty="0"/>
          </a:p>
        </p:txBody>
      </p:sp>
      <p:sp>
        <p:nvSpPr>
          <p:cNvPr id="23" name="Shape 21"/>
          <p:cNvSpPr/>
          <p:nvPr/>
        </p:nvSpPr>
        <p:spPr>
          <a:xfrm>
            <a:off x="9398000" y="2716213"/>
            <a:ext cx="1981200" cy="849313"/>
          </a:xfrm>
          <a:prstGeom prst="roundRect">
            <a:avLst>
              <a:gd name="adj" fmla="val 7477"/>
            </a:avLst>
          </a:prstGeom>
          <a:solidFill>
            <a:srgbClr val="26323F"/>
          </a:solidFill>
          <a:ln/>
        </p:spPr>
      </p:sp>
      <p:sp>
        <p:nvSpPr>
          <p:cNvPr id="24" name="Text 22"/>
          <p:cNvSpPr/>
          <p:nvPr/>
        </p:nvSpPr>
        <p:spPr>
          <a:xfrm>
            <a:off x="9550400" y="2843213"/>
            <a:ext cx="1727200" cy="36065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Prompt" pitchFamily="34" charset="0"/>
                <a:ea typeface="Prompt" pitchFamily="34" charset="-122"/>
                <a:cs typeface="Prompt" pitchFamily="34" charset="-120"/>
              </a:rPr>
              <a:t>$22.65</a:t>
            </a:r>
            <a:endParaRPr lang="en-US" sz="2000" dirty="0"/>
          </a:p>
        </p:txBody>
      </p:sp>
      <p:sp>
        <p:nvSpPr>
          <p:cNvPr id="25" name="Text 23"/>
          <p:cNvSpPr/>
          <p:nvPr/>
        </p:nvSpPr>
        <p:spPr>
          <a:xfrm>
            <a:off x="9550400" y="3203873"/>
            <a:ext cx="17272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CE"/>
                </a:solidFill>
                <a:latin typeface="Anuphan" pitchFamily="34" charset="0"/>
                <a:ea typeface="Anuphan" pitchFamily="34" charset="-122"/>
                <a:cs typeface="Anuphan" pitchFamily="34" charset="-120"/>
              </a:rPr>
              <a:t>ต้นทุน/หน่วย เฉลี่ย</a:t>
            </a:r>
            <a:endParaRPr lang="en-US" sz="1200" dirty="0"/>
          </a:p>
        </p:txBody>
      </p:sp>
      <p:sp>
        <p:nvSpPr>
          <p:cNvPr id="26" name="Shape 24"/>
          <p:cNvSpPr/>
          <p:nvPr/>
        </p:nvSpPr>
        <p:spPr>
          <a:xfrm>
            <a:off x="7315200" y="3667125"/>
            <a:ext cx="1981200" cy="849313"/>
          </a:xfrm>
          <a:prstGeom prst="roundRect">
            <a:avLst>
              <a:gd name="adj" fmla="val 7477"/>
            </a:avLst>
          </a:prstGeom>
          <a:solidFill>
            <a:srgbClr val="26323F"/>
          </a:solidFill>
          <a:ln/>
        </p:spPr>
      </p:sp>
      <p:sp>
        <p:nvSpPr>
          <p:cNvPr id="27" name="Text 25"/>
          <p:cNvSpPr/>
          <p:nvPr/>
        </p:nvSpPr>
        <p:spPr>
          <a:xfrm>
            <a:off x="7467600" y="3794125"/>
            <a:ext cx="1727200" cy="36065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Prompt" pitchFamily="34" charset="0"/>
                <a:ea typeface="Prompt" pitchFamily="34" charset="-122"/>
                <a:cs typeface="Prompt" pitchFamily="34" charset="-120"/>
              </a:rPr>
              <a:t>2.75</a:t>
            </a:r>
            <a:endParaRPr lang="en-US" sz="2000" dirty="0"/>
          </a:p>
        </p:txBody>
      </p:sp>
      <p:sp>
        <p:nvSpPr>
          <p:cNvPr id="28" name="Text 26"/>
          <p:cNvSpPr/>
          <p:nvPr/>
        </p:nvSpPr>
        <p:spPr>
          <a:xfrm>
            <a:off x="7467600" y="4154785"/>
            <a:ext cx="17272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CE"/>
                </a:solidFill>
                <a:latin typeface="Anuphan" pitchFamily="34" charset="0"/>
                <a:ea typeface="Anuphan" pitchFamily="34" charset="-122"/>
                <a:cs typeface="Anuphan" pitchFamily="34" charset="-120"/>
              </a:rPr>
              <a:t>ของเสีย/1,000 หน่วย</a:t>
            </a:r>
            <a:endParaRPr lang="en-US" sz="1200" dirty="0"/>
          </a:p>
        </p:txBody>
      </p:sp>
      <p:sp>
        <p:nvSpPr>
          <p:cNvPr id="29" name="Shape 27"/>
          <p:cNvSpPr/>
          <p:nvPr/>
        </p:nvSpPr>
        <p:spPr>
          <a:xfrm>
            <a:off x="9398000" y="3667125"/>
            <a:ext cx="1981200" cy="849313"/>
          </a:xfrm>
          <a:prstGeom prst="roundRect">
            <a:avLst>
              <a:gd name="adj" fmla="val 7477"/>
            </a:avLst>
          </a:prstGeom>
          <a:solidFill>
            <a:srgbClr val="26323F"/>
          </a:solidFill>
          <a:ln/>
        </p:spPr>
      </p:sp>
      <p:sp>
        <p:nvSpPr>
          <p:cNvPr id="30" name="Text 28"/>
          <p:cNvSpPr/>
          <p:nvPr/>
        </p:nvSpPr>
        <p:spPr>
          <a:xfrm>
            <a:off x="9550400" y="3794125"/>
            <a:ext cx="1727200" cy="36065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Prompt" pitchFamily="34" charset="0"/>
                <a:ea typeface="Prompt" pitchFamily="34" charset="-122"/>
                <a:cs typeface="Prompt" pitchFamily="34" charset="-120"/>
              </a:rPr>
              <a:t>80.13</a:t>
            </a:r>
            <a:endParaRPr lang="en-US" sz="2000" dirty="0"/>
          </a:p>
        </p:txBody>
      </p:sp>
      <p:sp>
        <p:nvSpPr>
          <p:cNvPr id="31" name="Text 29"/>
          <p:cNvSpPr/>
          <p:nvPr/>
        </p:nvSpPr>
        <p:spPr>
          <a:xfrm>
            <a:off x="9550400" y="4154785"/>
            <a:ext cx="17272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CE"/>
                </a:solidFill>
                <a:latin typeface="Anuphan" pitchFamily="34" charset="0"/>
                <a:ea typeface="Anuphan" pitchFamily="34" charset="-122"/>
                <a:cs typeface="Anuphan" pitchFamily="34" charset="-120"/>
              </a:rPr>
              <a:t>คะแนนคุณภาพเฉลี่ย</a:t>
            </a:r>
            <a:endParaRPr lang="en-US" sz="1200" dirty="0"/>
          </a:p>
        </p:txBody>
      </p:sp>
      <p:sp>
        <p:nvSpPr>
          <p:cNvPr id="32" name="Shape 30"/>
          <p:cNvSpPr/>
          <p:nvPr/>
        </p:nvSpPr>
        <p:spPr>
          <a:xfrm>
            <a:off x="7315200" y="4618038"/>
            <a:ext cx="1981200" cy="849313"/>
          </a:xfrm>
          <a:prstGeom prst="roundRect">
            <a:avLst>
              <a:gd name="adj" fmla="val 7477"/>
            </a:avLst>
          </a:prstGeom>
          <a:solidFill>
            <a:srgbClr val="26323F"/>
          </a:solidFill>
          <a:ln/>
        </p:spPr>
      </p:sp>
      <p:sp>
        <p:nvSpPr>
          <p:cNvPr id="33" name="Text 31"/>
          <p:cNvSpPr/>
          <p:nvPr/>
        </p:nvSpPr>
        <p:spPr>
          <a:xfrm>
            <a:off x="7467600" y="4745038"/>
            <a:ext cx="1727200" cy="36065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Prompt" pitchFamily="34" charset="0"/>
                <a:ea typeface="Prompt" pitchFamily="34" charset="-122"/>
                <a:cs typeface="Prompt" pitchFamily="34" charset="-120"/>
              </a:rPr>
              <a:t>11.48</a:t>
            </a:r>
            <a:endParaRPr lang="en-US" sz="2000" dirty="0"/>
          </a:p>
        </p:txBody>
      </p:sp>
      <p:sp>
        <p:nvSpPr>
          <p:cNvPr id="34" name="Text 32"/>
          <p:cNvSpPr/>
          <p:nvPr/>
        </p:nvSpPr>
        <p:spPr>
          <a:xfrm>
            <a:off x="7467600" y="5105698"/>
            <a:ext cx="17272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CE"/>
                </a:solidFill>
                <a:latin typeface="Anuphan" pitchFamily="34" charset="0"/>
                <a:ea typeface="Anuphan" pitchFamily="34" charset="-122"/>
                <a:cs typeface="Anuphan" pitchFamily="34" charset="-120"/>
              </a:rPr>
              <a:t>ชม.ซ่อม/สัปดาห์ เฉลี่ย</a:t>
            </a:r>
            <a:endParaRPr lang="en-US" sz="1200" dirty="0"/>
          </a:p>
        </p:txBody>
      </p:sp>
      <p:sp>
        <p:nvSpPr>
          <p:cNvPr id="35" name="Shape 33"/>
          <p:cNvSpPr/>
          <p:nvPr/>
        </p:nvSpPr>
        <p:spPr>
          <a:xfrm>
            <a:off x="9398000" y="4618038"/>
            <a:ext cx="1981200" cy="849313"/>
          </a:xfrm>
          <a:prstGeom prst="roundRect">
            <a:avLst>
              <a:gd name="adj" fmla="val 7477"/>
            </a:avLst>
          </a:prstGeom>
          <a:solidFill>
            <a:srgbClr val="26323F"/>
          </a:solidFill>
          <a:ln/>
        </p:spPr>
      </p:sp>
      <p:sp>
        <p:nvSpPr>
          <p:cNvPr id="36" name="Text 34"/>
          <p:cNvSpPr/>
          <p:nvPr/>
        </p:nvSpPr>
        <p:spPr>
          <a:xfrm>
            <a:off x="9550400" y="4745038"/>
            <a:ext cx="1727200" cy="36065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Prompt" pitchFamily="34" charset="0"/>
                <a:ea typeface="Prompt" pitchFamily="34" charset="-122"/>
                <a:cs typeface="Prompt" pitchFamily="34" charset="-120"/>
              </a:rPr>
              <a:t>63.8%</a:t>
            </a:r>
            <a:endParaRPr lang="en-US" sz="2000" dirty="0"/>
          </a:p>
        </p:txBody>
      </p:sp>
      <p:sp>
        <p:nvSpPr>
          <p:cNvPr id="37" name="Text 35"/>
          <p:cNvSpPr/>
          <p:nvPr/>
        </p:nvSpPr>
        <p:spPr>
          <a:xfrm>
            <a:off x="9550400" y="5105698"/>
            <a:ext cx="17272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CE"/>
                </a:solidFill>
                <a:latin typeface="Anuphan" pitchFamily="34" charset="0"/>
                <a:ea typeface="Anuphan" pitchFamily="34" charset="-122"/>
                <a:cs typeface="Anuphan" pitchFamily="34" charset="-120"/>
              </a:rPr>
              <a:t>batch ที่ QC เตือน</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Q2 · Controllable factor ตัวไหนสัมพันธ์กับ high-defect มากที่สุด</a:t>
            </a:r>
            <a:endParaRPr lang="en-US" sz="1200" dirty="0"/>
          </a:p>
        </p:txBody>
      </p:sp>
      <p:sp>
        <p:nvSpPr>
          <p:cNvPr id="3" name="Text 1"/>
          <p:cNvSpPr/>
          <p:nvPr>
            <p:ph type="title"/>
          </p:nvPr>
        </p:nvSpPr>
        <p:spPr>
          <a:xfrm>
            <a:off x="812800" y="996665"/>
            <a:ext cx="10883392" cy="100330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Controllable factor ที่มีผลชัดมีแค่ 2 ตัว: ชั่วโมงซ่อม และขนาด batch</a:t>
            </a:r>
            <a:endParaRPr lang="en-US" sz="2800" dirty="0"/>
          </a:p>
        </p:txBody>
      </p:sp>
      <p:sp>
        <p:nvSpPr>
          <p:cNvPr id="4" name="Shape 2"/>
          <p:cNvSpPr/>
          <p:nvPr/>
        </p:nvSpPr>
        <p:spPr>
          <a:xfrm>
            <a:off x="812800" y="2180791"/>
            <a:ext cx="177800" cy="177800"/>
          </a:xfrm>
          <a:prstGeom prst="roundRect">
            <a:avLst>
              <a:gd name="adj" fmla="val 14286"/>
            </a:avLst>
          </a:prstGeom>
          <a:solidFill>
            <a:srgbClr val="2563A8"/>
          </a:solidFill>
          <a:ln/>
        </p:spPr>
      </p:sp>
      <p:sp>
        <p:nvSpPr>
          <p:cNvPr id="5" name="Text 3"/>
          <p:cNvSpPr/>
          <p:nvPr/>
        </p:nvSpPr>
        <p:spPr>
          <a:xfrm>
            <a:off x="1066800" y="2152365"/>
            <a:ext cx="1765661"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ปรับได้ (Controllable)</a:t>
            </a:r>
            <a:endParaRPr lang="en-US" sz="1200" dirty="0"/>
          </a:p>
        </p:txBody>
      </p:sp>
      <p:sp>
        <p:nvSpPr>
          <p:cNvPr id="6" name="Shape 4"/>
          <p:cNvSpPr/>
          <p:nvPr/>
        </p:nvSpPr>
        <p:spPr>
          <a:xfrm>
            <a:off x="2832461" y="2180791"/>
            <a:ext cx="177800" cy="177800"/>
          </a:xfrm>
          <a:prstGeom prst="roundRect">
            <a:avLst>
              <a:gd name="adj" fmla="val 14286"/>
            </a:avLst>
          </a:prstGeom>
          <a:solidFill>
            <a:srgbClr val="E07A1F"/>
          </a:solidFill>
          <a:ln/>
        </p:spPr>
      </p:sp>
      <p:sp>
        <p:nvSpPr>
          <p:cNvPr id="7" name="Text 5"/>
          <p:cNvSpPr/>
          <p:nvPr/>
        </p:nvSpPr>
        <p:spPr>
          <a:xfrm>
            <a:off x="3086461" y="2152365"/>
            <a:ext cx="1666442"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ตัววัดผล (Outcome)</a:t>
            </a:r>
            <a:endParaRPr lang="en-US" sz="1200" dirty="0"/>
          </a:p>
        </p:txBody>
      </p:sp>
      <p:sp>
        <p:nvSpPr>
          <p:cNvPr id="8" name="Text 6"/>
          <p:cNvSpPr/>
          <p:nvPr/>
        </p:nvSpPr>
        <p:spPr>
          <a:xfrm>
            <a:off x="4752903" y="2152365"/>
            <a:ext cx="6771755"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6"/>
                </a:solidFill>
                <a:latin typeface="Anuphan" pitchFamily="34" charset="0"/>
                <a:ea typeface="Anuphan" pitchFamily="34" charset="-122"/>
                <a:cs typeface="Anuphan" pitchFamily="34" charset="-120"/>
              </a:rPr>
              <a:t>เส้นประ = เกณฑ์ 15 pp · ตัวเลข = ส่วนต่าง % ของเสียระหว่างฝั่งเสี่ยงกับฝั่งปลอดภัย</a:t>
            </a:r>
            <a:endParaRPr lang="en-US" sz="1200" dirty="0"/>
          </a:p>
        </p:txBody>
      </p:sp>
      <p:sp>
        <p:nvSpPr>
          <p:cNvPr id="9" name="Text 7"/>
          <p:cNvSpPr/>
          <p:nvPr/>
        </p:nvSpPr>
        <p:spPr>
          <a:xfrm>
            <a:off x="728980" y="2564829"/>
            <a:ext cx="2877820" cy="26006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430"/>
                </a:solidFill>
                <a:latin typeface="Anuphan" pitchFamily="34" charset="0"/>
                <a:ea typeface="Anuphan" pitchFamily="34" charset="-122"/>
                <a:cs typeface="Anuphan" pitchFamily="34" charset="-120"/>
              </a:rPr>
              <a:t>ชั่วโมงซ่อมบำรุง &gt; 10 ชม.</a:t>
            </a:r>
            <a:endParaRPr lang="en-US" sz="1200" dirty="0"/>
          </a:p>
        </p:txBody>
      </p:sp>
      <p:sp>
        <p:nvSpPr>
          <p:cNvPr id="10" name="Shape 8"/>
          <p:cNvSpPr/>
          <p:nvPr/>
        </p:nvSpPr>
        <p:spPr>
          <a:xfrm>
            <a:off x="3733800" y="2567856"/>
            <a:ext cx="5391150" cy="228600"/>
          </a:xfrm>
          <a:prstGeom prst="roundRect">
            <a:avLst>
              <a:gd name="adj" fmla="val 11111"/>
            </a:avLst>
          </a:prstGeom>
          <a:solidFill>
            <a:srgbClr val="2563A8"/>
          </a:solidFill>
          <a:ln/>
        </p:spPr>
      </p:sp>
      <p:sp>
        <p:nvSpPr>
          <p:cNvPr id="11" name="Text 9"/>
          <p:cNvSpPr/>
          <p:nvPr/>
        </p:nvSpPr>
        <p:spPr>
          <a:xfrm>
            <a:off x="9251950" y="2564829"/>
            <a:ext cx="421828" cy="2600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nuphan" pitchFamily="34" charset="0"/>
                <a:ea typeface="Anuphan" pitchFamily="34" charset="-122"/>
                <a:cs typeface="Anuphan" pitchFamily="34" charset="-120"/>
              </a:rPr>
              <a:t>25.7</a:t>
            </a:r>
            <a:endParaRPr lang="en-US" sz="1200" dirty="0"/>
          </a:p>
        </p:txBody>
      </p:sp>
      <p:sp>
        <p:nvSpPr>
          <p:cNvPr id="12" name="Text 10"/>
          <p:cNvSpPr/>
          <p:nvPr/>
        </p:nvSpPr>
        <p:spPr>
          <a:xfrm>
            <a:off x="728980" y="2875682"/>
            <a:ext cx="287782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430"/>
                </a:solidFill>
                <a:latin typeface="Anuphan" pitchFamily="34" charset="0"/>
                <a:ea typeface="Anuphan" pitchFamily="34" charset="-122"/>
                <a:cs typeface="Anuphan" pitchFamily="34" charset="-120"/>
              </a:rPr>
              <a:t>อัตราของเสีย &gt; 3 (Outcome)</a:t>
            </a:r>
            <a:endParaRPr lang="en-US" sz="1200" dirty="0"/>
          </a:p>
        </p:txBody>
      </p:sp>
      <p:sp>
        <p:nvSpPr>
          <p:cNvPr id="13" name="Shape 11"/>
          <p:cNvSpPr/>
          <p:nvPr/>
        </p:nvSpPr>
        <p:spPr>
          <a:xfrm>
            <a:off x="3733800" y="2878720"/>
            <a:ext cx="4572000" cy="228600"/>
          </a:xfrm>
          <a:prstGeom prst="roundRect">
            <a:avLst>
              <a:gd name="adj" fmla="val 11111"/>
            </a:avLst>
          </a:prstGeom>
          <a:solidFill>
            <a:srgbClr val="E07A1F"/>
          </a:solidFill>
          <a:ln/>
        </p:spPr>
      </p:sp>
      <p:sp>
        <p:nvSpPr>
          <p:cNvPr id="14" name="Text 12"/>
          <p:cNvSpPr/>
          <p:nvPr/>
        </p:nvSpPr>
        <p:spPr>
          <a:xfrm>
            <a:off x="8432800" y="2875682"/>
            <a:ext cx="416805"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21.8</a:t>
            </a:r>
            <a:endParaRPr lang="en-US" sz="1200" dirty="0"/>
          </a:p>
        </p:txBody>
      </p:sp>
      <p:sp>
        <p:nvSpPr>
          <p:cNvPr id="15" name="Text 13"/>
          <p:cNvSpPr/>
          <p:nvPr/>
        </p:nvSpPr>
        <p:spPr>
          <a:xfrm>
            <a:off x="728980" y="3186547"/>
            <a:ext cx="287782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430"/>
                </a:solidFill>
                <a:latin typeface="Anuphan" pitchFamily="34" charset="0"/>
                <a:ea typeface="Anuphan" pitchFamily="34" charset="-122"/>
                <a:cs typeface="Anuphan" pitchFamily="34" charset="-120"/>
              </a:rPr>
              <a:t>คะแนนคุณภาพ &lt; 75 (Outcome)</a:t>
            </a:r>
            <a:endParaRPr lang="en-US" sz="1200" dirty="0"/>
          </a:p>
        </p:txBody>
      </p:sp>
      <p:sp>
        <p:nvSpPr>
          <p:cNvPr id="16" name="Shape 14"/>
          <p:cNvSpPr/>
          <p:nvPr/>
        </p:nvSpPr>
        <p:spPr>
          <a:xfrm>
            <a:off x="3733800" y="3189585"/>
            <a:ext cx="3892550" cy="228600"/>
          </a:xfrm>
          <a:prstGeom prst="roundRect">
            <a:avLst>
              <a:gd name="adj" fmla="val 11111"/>
            </a:avLst>
          </a:prstGeom>
          <a:solidFill>
            <a:srgbClr val="E07A1F"/>
          </a:solidFill>
          <a:ln/>
        </p:spPr>
      </p:sp>
      <p:sp>
        <p:nvSpPr>
          <p:cNvPr id="17" name="Text 15"/>
          <p:cNvSpPr/>
          <p:nvPr/>
        </p:nvSpPr>
        <p:spPr>
          <a:xfrm>
            <a:off x="7753350" y="3186547"/>
            <a:ext cx="416805"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18.6</a:t>
            </a:r>
            <a:endParaRPr lang="en-US" sz="1200" dirty="0"/>
          </a:p>
        </p:txBody>
      </p:sp>
      <p:sp>
        <p:nvSpPr>
          <p:cNvPr id="18" name="Text 16"/>
          <p:cNvSpPr/>
          <p:nvPr/>
        </p:nvSpPr>
        <p:spPr>
          <a:xfrm>
            <a:off x="728980" y="3497411"/>
            <a:ext cx="2877820" cy="26006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430"/>
                </a:solidFill>
                <a:latin typeface="Anuphan" pitchFamily="34" charset="0"/>
                <a:ea typeface="Anuphan" pitchFamily="34" charset="-122"/>
                <a:cs typeface="Anuphan" pitchFamily="34" charset="-120"/>
              </a:rPr>
              <a:t>ขนาด batch &gt; 800 หน่วย</a:t>
            </a:r>
            <a:endParaRPr lang="en-US" sz="1200" dirty="0"/>
          </a:p>
        </p:txBody>
      </p:sp>
      <p:sp>
        <p:nvSpPr>
          <p:cNvPr id="19" name="Shape 17"/>
          <p:cNvSpPr/>
          <p:nvPr/>
        </p:nvSpPr>
        <p:spPr>
          <a:xfrm>
            <a:off x="3733800" y="3500438"/>
            <a:ext cx="3397250" cy="228600"/>
          </a:xfrm>
          <a:prstGeom prst="roundRect">
            <a:avLst>
              <a:gd name="adj" fmla="val 11111"/>
            </a:avLst>
          </a:prstGeom>
          <a:solidFill>
            <a:srgbClr val="2563A8"/>
          </a:solidFill>
          <a:ln/>
        </p:spPr>
      </p:sp>
      <p:sp>
        <p:nvSpPr>
          <p:cNvPr id="20" name="Text 18"/>
          <p:cNvSpPr/>
          <p:nvPr/>
        </p:nvSpPr>
        <p:spPr>
          <a:xfrm>
            <a:off x="7258050" y="3497411"/>
            <a:ext cx="421828" cy="2600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nuphan" pitchFamily="34" charset="0"/>
                <a:ea typeface="Anuphan" pitchFamily="34" charset="-122"/>
                <a:cs typeface="Anuphan" pitchFamily="34" charset="-120"/>
              </a:rPr>
              <a:t>16.2</a:t>
            </a:r>
            <a:endParaRPr lang="en-US" sz="1200" dirty="0"/>
          </a:p>
        </p:txBody>
      </p:sp>
      <p:sp>
        <p:nvSpPr>
          <p:cNvPr id="21" name="Text 19"/>
          <p:cNvSpPr/>
          <p:nvPr/>
        </p:nvSpPr>
        <p:spPr>
          <a:xfrm>
            <a:off x="728980" y="3808276"/>
            <a:ext cx="287782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430"/>
                </a:solidFill>
                <a:latin typeface="Anuphan" pitchFamily="34" charset="0"/>
                <a:ea typeface="Anuphan" pitchFamily="34" charset="-122"/>
                <a:cs typeface="Anuphan" pitchFamily="34" charset="-120"/>
              </a:rPr>
              <a:t>ขาดสต็อก &gt; 1%</a:t>
            </a:r>
            <a:endParaRPr lang="en-US" sz="1200" dirty="0"/>
          </a:p>
        </p:txBody>
      </p:sp>
      <p:sp>
        <p:nvSpPr>
          <p:cNvPr id="22" name="Shape 20"/>
          <p:cNvSpPr/>
          <p:nvPr/>
        </p:nvSpPr>
        <p:spPr>
          <a:xfrm>
            <a:off x="3733800" y="3811302"/>
            <a:ext cx="1765300" cy="228600"/>
          </a:xfrm>
          <a:prstGeom prst="roundRect">
            <a:avLst>
              <a:gd name="adj" fmla="val 11111"/>
            </a:avLst>
          </a:prstGeom>
          <a:solidFill>
            <a:srgbClr val="2563A8">
              <a:alpha val="55000"/>
            </a:srgbClr>
          </a:solidFill>
          <a:ln/>
        </p:spPr>
      </p:sp>
      <p:sp>
        <p:nvSpPr>
          <p:cNvPr id="23" name="Text 21"/>
          <p:cNvSpPr/>
          <p:nvPr/>
        </p:nvSpPr>
        <p:spPr>
          <a:xfrm>
            <a:off x="5626100" y="3808276"/>
            <a:ext cx="297548"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8.4</a:t>
            </a:r>
            <a:endParaRPr lang="en-US" sz="1200" dirty="0"/>
          </a:p>
        </p:txBody>
      </p:sp>
      <p:sp>
        <p:nvSpPr>
          <p:cNvPr id="24" name="Text 22"/>
          <p:cNvSpPr/>
          <p:nvPr/>
        </p:nvSpPr>
        <p:spPr>
          <a:xfrm>
            <a:off x="728980" y="4119128"/>
            <a:ext cx="287782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430"/>
                </a:solidFill>
                <a:latin typeface="Anuphan" pitchFamily="34" charset="0"/>
                <a:ea typeface="Anuphan" pitchFamily="34" charset="-122"/>
                <a:cs typeface="Anuphan" pitchFamily="34" charset="-120"/>
              </a:rPr>
              <a:t>ประสิทธิภาพพลังงาน &lt; 0.48</a:t>
            </a:r>
            <a:endParaRPr lang="en-US" sz="1200" dirty="0"/>
          </a:p>
        </p:txBody>
      </p:sp>
      <p:sp>
        <p:nvSpPr>
          <p:cNvPr id="25" name="Shape 23"/>
          <p:cNvSpPr/>
          <p:nvPr/>
        </p:nvSpPr>
        <p:spPr>
          <a:xfrm>
            <a:off x="3733800" y="4122167"/>
            <a:ext cx="1079500" cy="228600"/>
          </a:xfrm>
          <a:prstGeom prst="roundRect">
            <a:avLst>
              <a:gd name="adj" fmla="val 11111"/>
            </a:avLst>
          </a:prstGeom>
          <a:solidFill>
            <a:srgbClr val="2563A8">
              <a:alpha val="55000"/>
            </a:srgbClr>
          </a:solidFill>
          <a:ln/>
        </p:spPr>
      </p:sp>
      <p:sp>
        <p:nvSpPr>
          <p:cNvPr id="26" name="Text 24"/>
          <p:cNvSpPr/>
          <p:nvPr/>
        </p:nvSpPr>
        <p:spPr>
          <a:xfrm>
            <a:off x="4940300" y="4119128"/>
            <a:ext cx="297548"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5.2</a:t>
            </a:r>
            <a:endParaRPr lang="en-US" sz="1200" dirty="0"/>
          </a:p>
        </p:txBody>
      </p:sp>
      <p:sp>
        <p:nvSpPr>
          <p:cNvPr id="27" name="Text 25"/>
          <p:cNvSpPr/>
          <p:nvPr/>
        </p:nvSpPr>
        <p:spPr>
          <a:xfrm>
            <a:off x="728980" y="4429993"/>
            <a:ext cx="287782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430"/>
                </a:solidFill>
                <a:latin typeface="Anuphan" pitchFamily="34" charset="0"/>
                <a:ea typeface="Anuphan" pitchFamily="34" charset="-122"/>
                <a:cs typeface="Anuphan" pitchFamily="34" charset="-120"/>
              </a:rPr>
              <a:t>คุณภาพ supplier &gt; 83</a:t>
            </a:r>
            <a:endParaRPr lang="en-US" sz="1200" dirty="0"/>
          </a:p>
        </p:txBody>
      </p:sp>
      <p:sp>
        <p:nvSpPr>
          <p:cNvPr id="28" name="Shape 26"/>
          <p:cNvSpPr/>
          <p:nvPr/>
        </p:nvSpPr>
        <p:spPr>
          <a:xfrm>
            <a:off x="3733800" y="4433019"/>
            <a:ext cx="806450" cy="228600"/>
          </a:xfrm>
          <a:prstGeom prst="roundRect">
            <a:avLst>
              <a:gd name="adj" fmla="val 11111"/>
            </a:avLst>
          </a:prstGeom>
          <a:solidFill>
            <a:srgbClr val="2563A8">
              <a:alpha val="55000"/>
            </a:srgbClr>
          </a:solidFill>
          <a:ln/>
        </p:spPr>
      </p:sp>
      <p:sp>
        <p:nvSpPr>
          <p:cNvPr id="29" name="Text 27"/>
          <p:cNvSpPr/>
          <p:nvPr/>
        </p:nvSpPr>
        <p:spPr>
          <a:xfrm>
            <a:off x="4667250" y="4429993"/>
            <a:ext cx="297548"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3.8</a:t>
            </a:r>
            <a:endParaRPr lang="en-US" sz="1200" dirty="0"/>
          </a:p>
        </p:txBody>
      </p:sp>
      <p:sp>
        <p:nvSpPr>
          <p:cNvPr id="30" name="Text 28"/>
          <p:cNvSpPr/>
          <p:nvPr/>
        </p:nvSpPr>
        <p:spPr>
          <a:xfrm>
            <a:off x="728980" y="4740858"/>
            <a:ext cx="287782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430"/>
                </a:solidFill>
                <a:latin typeface="Anuphan" pitchFamily="34" charset="0"/>
                <a:ea typeface="Anuphan" pitchFamily="34" charset="-122"/>
                <a:cs typeface="Anuphan" pitchFamily="34" charset="-120"/>
              </a:rPr>
              <a:t>เครื่องหยุด &gt; 4.7%</a:t>
            </a:r>
            <a:endParaRPr lang="en-US" sz="1200" dirty="0"/>
          </a:p>
        </p:txBody>
      </p:sp>
      <p:sp>
        <p:nvSpPr>
          <p:cNvPr id="31" name="Shape 29"/>
          <p:cNvSpPr/>
          <p:nvPr/>
        </p:nvSpPr>
        <p:spPr>
          <a:xfrm>
            <a:off x="3733800" y="4743884"/>
            <a:ext cx="717550" cy="228600"/>
          </a:xfrm>
          <a:prstGeom prst="roundRect">
            <a:avLst>
              <a:gd name="adj" fmla="val 11111"/>
            </a:avLst>
          </a:prstGeom>
          <a:solidFill>
            <a:srgbClr val="2563A8">
              <a:alpha val="55000"/>
            </a:srgbClr>
          </a:solidFill>
          <a:ln/>
        </p:spPr>
      </p:sp>
      <p:sp>
        <p:nvSpPr>
          <p:cNvPr id="32" name="Text 30"/>
          <p:cNvSpPr/>
          <p:nvPr/>
        </p:nvSpPr>
        <p:spPr>
          <a:xfrm>
            <a:off x="4578350" y="4740858"/>
            <a:ext cx="297548"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3.4</a:t>
            </a:r>
            <a:endParaRPr lang="en-US" sz="1200" dirty="0"/>
          </a:p>
        </p:txBody>
      </p:sp>
      <p:sp>
        <p:nvSpPr>
          <p:cNvPr id="33" name="Text 31"/>
          <p:cNvSpPr/>
          <p:nvPr/>
        </p:nvSpPr>
        <p:spPr>
          <a:xfrm>
            <a:off x="728980" y="5051723"/>
            <a:ext cx="287782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430"/>
                </a:solidFill>
                <a:latin typeface="Anuphan" pitchFamily="34" charset="0"/>
                <a:ea typeface="Anuphan" pitchFamily="34" charset="-122"/>
                <a:cs typeface="Anuphan" pitchFamily="34" charset="-120"/>
              </a:rPr>
              <a:t>ผลิตภาพแรงงาน &lt; 99%</a:t>
            </a:r>
            <a:endParaRPr lang="en-US" sz="1200" dirty="0"/>
          </a:p>
        </p:txBody>
      </p:sp>
      <p:sp>
        <p:nvSpPr>
          <p:cNvPr id="34" name="Shape 32"/>
          <p:cNvSpPr/>
          <p:nvPr/>
        </p:nvSpPr>
        <p:spPr>
          <a:xfrm>
            <a:off x="3733800" y="5054749"/>
            <a:ext cx="381000" cy="228600"/>
          </a:xfrm>
          <a:prstGeom prst="roundRect">
            <a:avLst>
              <a:gd name="adj" fmla="val 11111"/>
            </a:avLst>
          </a:prstGeom>
          <a:solidFill>
            <a:srgbClr val="2563A8">
              <a:alpha val="55000"/>
            </a:srgbClr>
          </a:solidFill>
          <a:ln/>
        </p:spPr>
      </p:sp>
      <p:sp>
        <p:nvSpPr>
          <p:cNvPr id="35" name="Text 33"/>
          <p:cNvSpPr/>
          <p:nvPr/>
        </p:nvSpPr>
        <p:spPr>
          <a:xfrm>
            <a:off x="4241800" y="5051723"/>
            <a:ext cx="297548"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1.8</a:t>
            </a:r>
            <a:endParaRPr lang="en-US" sz="1200" dirty="0"/>
          </a:p>
        </p:txBody>
      </p:sp>
      <p:sp>
        <p:nvSpPr>
          <p:cNvPr id="36" name="Text 34"/>
          <p:cNvSpPr/>
          <p:nvPr/>
        </p:nvSpPr>
        <p:spPr>
          <a:xfrm>
            <a:off x="728980" y="5362575"/>
            <a:ext cx="287782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430"/>
                </a:solidFill>
                <a:latin typeface="Anuphan" pitchFamily="34" charset="0"/>
                <a:ea typeface="Anuphan" pitchFamily="34" charset="-122"/>
                <a:cs typeface="Anuphan" pitchFamily="34" charset="-120"/>
              </a:rPr>
              <a:t>ส่งวัตถุดิบช้า &gt; 2 วัน</a:t>
            </a:r>
            <a:endParaRPr lang="en-US" sz="1200" dirty="0"/>
          </a:p>
        </p:txBody>
      </p:sp>
      <p:sp>
        <p:nvSpPr>
          <p:cNvPr id="37" name="Shape 35"/>
          <p:cNvSpPr/>
          <p:nvPr/>
        </p:nvSpPr>
        <p:spPr>
          <a:xfrm>
            <a:off x="3733800" y="5365614"/>
            <a:ext cx="279400" cy="228600"/>
          </a:xfrm>
          <a:prstGeom prst="roundRect">
            <a:avLst>
              <a:gd name="adj" fmla="val 11111"/>
            </a:avLst>
          </a:prstGeom>
          <a:solidFill>
            <a:srgbClr val="2563A8">
              <a:alpha val="55000"/>
            </a:srgbClr>
          </a:solidFill>
          <a:ln/>
        </p:spPr>
      </p:sp>
      <p:sp>
        <p:nvSpPr>
          <p:cNvPr id="38" name="Text 36"/>
          <p:cNvSpPr/>
          <p:nvPr/>
        </p:nvSpPr>
        <p:spPr>
          <a:xfrm>
            <a:off x="4140200" y="5362575"/>
            <a:ext cx="297548"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1.3</a:t>
            </a:r>
            <a:endParaRPr lang="en-US" sz="1200" dirty="0"/>
          </a:p>
        </p:txBody>
      </p:sp>
      <p:sp>
        <p:nvSpPr>
          <p:cNvPr id="39" name="Shape 37"/>
          <p:cNvSpPr/>
          <p:nvPr/>
        </p:nvSpPr>
        <p:spPr>
          <a:xfrm>
            <a:off x="6886575" y="2564829"/>
            <a:ext cx="0" cy="2971800"/>
          </a:xfrm>
          <a:prstGeom prst="line">
            <a:avLst/>
          </a:prstGeom>
          <a:noFill/>
          <a:ln w="19050">
            <a:solidFill>
              <a:srgbClr val="5B6470"/>
            </a:solidFill>
            <a:prstDash val="dash"/>
          </a:ln>
        </p:spPr>
      </p:sp>
      <p:sp>
        <p:nvSpPr>
          <p:cNvPr id="40" name="Text 38"/>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41" name="Text 39"/>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17 / 27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 name="Text 1"/>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18 / 27</a:t>
            </a:r>
            <a:endParaRPr lang="en-US" sz="1200" dirty="0"/>
          </a:p>
        </p:txBody>
      </p:sp>
      <p:sp>
        <p:nvSpPr>
          <p:cNvPr id="4" name="Text 2"/>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Q3 · ชั่วโมงซ่อมบำรุงมีผลอย่างไร threshold อยู่ตรงไหน</a:t>
            </a:r>
            <a:endParaRPr lang="en-US" sz="1200" dirty="0"/>
          </a:p>
        </p:txBody>
      </p:sp>
      <p:sp>
        <p:nvSpPr>
          <p:cNvPr id="5" name="Text 3"/>
          <p:cNvSpPr/>
          <p:nvPr>
            <p:ph type="title"/>
          </p:nvPr>
        </p:nvSpPr>
        <p:spPr>
          <a:xfrm>
            <a:off x="812800" y="996665"/>
            <a:ext cx="11379200"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ซ่อมเกิน 10 ชม./สัปดาห์ ความเสี่ยง “กระโดด” ไม่ใช่ค่อย ๆ เพิ่ม</a:t>
            </a:r>
            <a:endParaRPr lang="en-US" sz="2800" dirty="0"/>
          </a:p>
        </p:txBody>
      </p:sp>
      <p:sp>
        <p:nvSpPr>
          <p:cNvPr id="6" name="Text 4"/>
          <p:cNvSpPr/>
          <p:nvPr/>
        </p:nvSpPr>
        <p:spPr>
          <a:xfrm>
            <a:off x="812800" y="1714500"/>
            <a:ext cx="680212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6"/>
                </a:solidFill>
                <a:latin typeface="Anuphan" pitchFamily="34" charset="0"/>
                <a:ea typeface="Anuphan" pitchFamily="34" charset="-122"/>
                <a:cs typeface="Anuphan" pitchFamily="34" charset="-120"/>
              </a:rPr>
              <a:t>% batch ที่เป็น High defect แยกตามชั่วโมงซ่อมบำรุงต่อสัปดาห์ (0–23 ชม.)</a:t>
            </a:r>
            <a:endParaRPr lang="en-US" sz="1200" dirty="0"/>
          </a:p>
        </p:txBody>
      </p:sp>
      <p:sp>
        <p:nvSpPr>
          <p:cNvPr id="7" name="Shape 5"/>
          <p:cNvSpPr/>
          <p:nvPr/>
        </p:nvSpPr>
        <p:spPr>
          <a:xfrm>
            <a:off x="812800" y="4546315"/>
            <a:ext cx="6604000" cy="0"/>
          </a:xfrm>
          <a:prstGeom prst="line">
            <a:avLst/>
          </a:prstGeom>
          <a:noFill/>
          <a:ln w="12700">
            <a:solidFill>
              <a:srgbClr val="5B6470"/>
            </a:solidFill>
            <a:prstDash val="solid"/>
          </a:ln>
        </p:spPr>
      </p:sp>
      <p:sp>
        <p:nvSpPr>
          <p:cNvPr id="8" name="Shape 6"/>
          <p:cNvSpPr/>
          <p:nvPr/>
        </p:nvSpPr>
        <p:spPr>
          <a:xfrm>
            <a:off x="812800" y="2680568"/>
            <a:ext cx="238630" cy="1860550"/>
          </a:xfrm>
          <a:prstGeom prst="rect">
            <a:avLst/>
          </a:prstGeom>
          <a:solidFill>
            <a:srgbClr val="8FB3DA"/>
          </a:solidFill>
          <a:ln/>
        </p:spPr>
      </p:sp>
      <p:sp>
        <p:nvSpPr>
          <p:cNvPr id="9" name="Shape 7"/>
          <p:cNvSpPr/>
          <p:nvPr/>
        </p:nvSpPr>
        <p:spPr>
          <a:xfrm>
            <a:off x="1089530" y="2636118"/>
            <a:ext cx="238666" cy="1905000"/>
          </a:xfrm>
          <a:prstGeom prst="rect">
            <a:avLst/>
          </a:prstGeom>
          <a:solidFill>
            <a:srgbClr val="8FB3DA"/>
          </a:solidFill>
          <a:ln/>
        </p:spPr>
      </p:sp>
      <p:sp>
        <p:nvSpPr>
          <p:cNvPr id="10" name="Shape 8"/>
          <p:cNvSpPr/>
          <p:nvPr/>
        </p:nvSpPr>
        <p:spPr>
          <a:xfrm>
            <a:off x="1366296" y="2813918"/>
            <a:ext cx="238630" cy="1727200"/>
          </a:xfrm>
          <a:prstGeom prst="rect">
            <a:avLst/>
          </a:prstGeom>
          <a:solidFill>
            <a:srgbClr val="8FB3DA"/>
          </a:solidFill>
          <a:ln/>
        </p:spPr>
      </p:sp>
      <p:sp>
        <p:nvSpPr>
          <p:cNvPr id="11" name="Shape 9"/>
          <p:cNvSpPr/>
          <p:nvPr/>
        </p:nvSpPr>
        <p:spPr>
          <a:xfrm>
            <a:off x="1643026" y="2788518"/>
            <a:ext cx="238666" cy="1752600"/>
          </a:xfrm>
          <a:prstGeom prst="rect">
            <a:avLst/>
          </a:prstGeom>
          <a:solidFill>
            <a:srgbClr val="8FB3DA"/>
          </a:solidFill>
          <a:ln/>
        </p:spPr>
      </p:sp>
      <p:sp>
        <p:nvSpPr>
          <p:cNvPr id="12" name="Shape 10"/>
          <p:cNvSpPr/>
          <p:nvPr/>
        </p:nvSpPr>
        <p:spPr>
          <a:xfrm>
            <a:off x="1919793" y="2826618"/>
            <a:ext cx="238630" cy="1714500"/>
          </a:xfrm>
          <a:prstGeom prst="rect">
            <a:avLst/>
          </a:prstGeom>
          <a:solidFill>
            <a:srgbClr val="8FB3DA"/>
          </a:solidFill>
          <a:ln/>
        </p:spPr>
      </p:sp>
      <p:sp>
        <p:nvSpPr>
          <p:cNvPr id="13" name="Shape 11"/>
          <p:cNvSpPr/>
          <p:nvPr/>
        </p:nvSpPr>
        <p:spPr>
          <a:xfrm>
            <a:off x="2196523" y="2674218"/>
            <a:ext cx="238666" cy="1866900"/>
          </a:xfrm>
          <a:prstGeom prst="rect">
            <a:avLst/>
          </a:prstGeom>
          <a:solidFill>
            <a:srgbClr val="8FB3DA"/>
          </a:solidFill>
          <a:ln/>
        </p:spPr>
      </p:sp>
      <p:sp>
        <p:nvSpPr>
          <p:cNvPr id="14" name="Shape 12"/>
          <p:cNvSpPr/>
          <p:nvPr/>
        </p:nvSpPr>
        <p:spPr>
          <a:xfrm>
            <a:off x="2473289" y="2598018"/>
            <a:ext cx="238630" cy="1943100"/>
          </a:xfrm>
          <a:prstGeom prst="rect">
            <a:avLst/>
          </a:prstGeom>
          <a:solidFill>
            <a:srgbClr val="8FB3DA"/>
          </a:solidFill>
          <a:ln/>
        </p:spPr>
      </p:sp>
      <p:sp>
        <p:nvSpPr>
          <p:cNvPr id="15" name="Shape 13"/>
          <p:cNvSpPr/>
          <p:nvPr/>
        </p:nvSpPr>
        <p:spPr>
          <a:xfrm>
            <a:off x="2750019" y="2801218"/>
            <a:ext cx="238666" cy="1739900"/>
          </a:xfrm>
          <a:prstGeom prst="rect">
            <a:avLst/>
          </a:prstGeom>
          <a:solidFill>
            <a:srgbClr val="8FB3DA"/>
          </a:solidFill>
          <a:ln/>
        </p:spPr>
      </p:sp>
      <p:sp>
        <p:nvSpPr>
          <p:cNvPr id="16" name="Shape 14"/>
          <p:cNvSpPr/>
          <p:nvPr/>
        </p:nvSpPr>
        <p:spPr>
          <a:xfrm>
            <a:off x="3026785" y="2782168"/>
            <a:ext cx="238630" cy="1758950"/>
          </a:xfrm>
          <a:prstGeom prst="rect">
            <a:avLst/>
          </a:prstGeom>
          <a:solidFill>
            <a:srgbClr val="8FB3DA"/>
          </a:solidFill>
          <a:ln/>
        </p:spPr>
      </p:sp>
      <p:sp>
        <p:nvSpPr>
          <p:cNvPr id="17" name="Shape 15"/>
          <p:cNvSpPr/>
          <p:nvPr/>
        </p:nvSpPr>
        <p:spPr>
          <a:xfrm>
            <a:off x="3303515" y="2858368"/>
            <a:ext cx="238666" cy="1682750"/>
          </a:xfrm>
          <a:prstGeom prst="rect">
            <a:avLst/>
          </a:prstGeom>
          <a:solidFill>
            <a:srgbClr val="8FB3DA"/>
          </a:solidFill>
          <a:ln/>
        </p:spPr>
      </p:sp>
      <p:sp>
        <p:nvSpPr>
          <p:cNvPr id="18" name="Shape 16"/>
          <p:cNvSpPr/>
          <p:nvPr/>
        </p:nvSpPr>
        <p:spPr>
          <a:xfrm>
            <a:off x="3580281" y="2979018"/>
            <a:ext cx="238630" cy="1562100"/>
          </a:xfrm>
          <a:prstGeom prst="rect">
            <a:avLst/>
          </a:prstGeom>
          <a:solidFill>
            <a:srgbClr val="8FB3DA"/>
          </a:solidFill>
          <a:ln/>
        </p:spPr>
      </p:sp>
      <p:sp>
        <p:nvSpPr>
          <p:cNvPr id="19" name="Shape 17"/>
          <p:cNvSpPr/>
          <p:nvPr/>
        </p:nvSpPr>
        <p:spPr>
          <a:xfrm>
            <a:off x="3857012" y="2217018"/>
            <a:ext cx="238666" cy="2324100"/>
          </a:xfrm>
          <a:prstGeom prst="rect">
            <a:avLst/>
          </a:prstGeom>
          <a:solidFill>
            <a:srgbClr val="E07A1F"/>
          </a:solidFill>
          <a:ln/>
        </p:spPr>
      </p:sp>
      <p:sp>
        <p:nvSpPr>
          <p:cNvPr id="20" name="Shape 18"/>
          <p:cNvSpPr/>
          <p:nvPr/>
        </p:nvSpPr>
        <p:spPr>
          <a:xfrm>
            <a:off x="4133778" y="2102718"/>
            <a:ext cx="238630" cy="2438400"/>
          </a:xfrm>
          <a:prstGeom prst="rect">
            <a:avLst/>
          </a:prstGeom>
          <a:solidFill>
            <a:srgbClr val="E07A1F"/>
          </a:solidFill>
          <a:ln/>
        </p:spPr>
      </p:sp>
      <p:sp>
        <p:nvSpPr>
          <p:cNvPr id="21" name="Shape 19"/>
          <p:cNvSpPr/>
          <p:nvPr/>
        </p:nvSpPr>
        <p:spPr>
          <a:xfrm>
            <a:off x="4410508" y="2147168"/>
            <a:ext cx="238666" cy="2393950"/>
          </a:xfrm>
          <a:prstGeom prst="rect">
            <a:avLst/>
          </a:prstGeom>
          <a:solidFill>
            <a:srgbClr val="E07A1F"/>
          </a:solidFill>
          <a:ln/>
        </p:spPr>
      </p:sp>
      <p:sp>
        <p:nvSpPr>
          <p:cNvPr id="22" name="Shape 20"/>
          <p:cNvSpPr/>
          <p:nvPr/>
        </p:nvSpPr>
        <p:spPr>
          <a:xfrm>
            <a:off x="4687274" y="2058268"/>
            <a:ext cx="238630" cy="2482850"/>
          </a:xfrm>
          <a:prstGeom prst="rect">
            <a:avLst/>
          </a:prstGeom>
          <a:solidFill>
            <a:srgbClr val="E07A1F"/>
          </a:solidFill>
          <a:ln/>
        </p:spPr>
      </p:sp>
      <p:sp>
        <p:nvSpPr>
          <p:cNvPr id="23" name="Shape 21"/>
          <p:cNvSpPr/>
          <p:nvPr/>
        </p:nvSpPr>
        <p:spPr>
          <a:xfrm>
            <a:off x="4964004" y="2140818"/>
            <a:ext cx="238666" cy="2400300"/>
          </a:xfrm>
          <a:prstGeom prst="rect">
            <a:avLst/>
          </a:prstGeom>
          <a:solidFill>
            <a:srgbClr val="E07A1F"/>
          </a:solidFill>
          <a:ln/>
        </p:spPr>
      </p:sp>
      <p:sp>
        <p:nvSpPr>
          <p:cNvPr id="24" name="Shape 22"/>
          <p:cNvSpPr/>
          <p:nvPr/>
        </p:nvSpPr>
        <p:spPr>
          <a:xfrm>
            <a:off x="5240770" y="2128118"/>
            <a:ext cx="238666" cy="2413000"/>
          </a:xfrm>
          <a:prstGeom prst="rect">
            <a:avLst/>
          </a:prstGeom>
          <a:solidFill>
            <a:srgbClr val="E07A1F"/>
          </a:solidFill>
          <a:ln/>
        </p:spPr>
      </p:sp>
      <p:sp>
        <p:nvSpPr>
          <p:cNvPr id="25" name="Shape 23"/>
          <p:cNvSpPr/>
          <p:nvPr/>
        </p:nvSpPr>
        <p:spPr>
          <a:xfrm>
            <a:off x="5517537" y="2140818"/>
            <a:ext cx="238666" cy="2400300"/>
          </a:xfrm>
          <a:prstGeom prst="rect">
            <a:avLst/>
          </a:prstGeom>
          <a:solidFill>
            <a:srgbClr val="E07A1F"/>
          </a:solidFill>
          <a:ln/>
        </p:spPr>
      </p:sp>
      <p:sp>
        <p:nvSpPr>
          <p:cNvPr id="26" name="Shape 24"/>
          <p:cNvSpPr/>
          <p:nvPr/>
        </p:nvSpPr>
        <p:spPr>
          <a:xfrm>
            <a:off x="5794303" y="2096368"/>
            <a:ext cx="238666" cy="2444750"/>
          </a:xfrm>
          <a:prstGeom prst="rect">
            <a:avLst/>
          </a:prstGeom>
          <a:solidFill>
            <a:srgbClr val="E07A1F"/>
          </a:solidFill>
          <a:ln/>
        </p:spPr>
      </p:sp>
      <p:sp>
        <p:nvSpPr>
          <p:cNvPr id="27" name="Shape 25"/>
          <p:cNvSpPr/>
          <p:nvPr/>
        </p:nvSpPr>
        <p:spPr>
          <a:xfrm>
            <a:off x="6071069" y="2102718"/>
            <a:ext cx="238666" cy="2438400"/>
          </a:xfrm>
          <a:prstGeom prst="rect">
            <a:avLst/>
          </a:prstGeom>
          <a:solidFill>
            <a:srgbClr val="E07A1F"/>
          </a:solidFill>
          <a:ln/>
        </p:spPr>
      </p:sp>
      <p:sp>
        <p:nvSpPr>
          <p:cNvPr id="28" name="Shape 26"/>
          <p:cNvSpPr/>
          <p:nvPr/>
        </p:nvSpPr>
        <p:spPr>
          <a:xfrm>
            <a:off x="6347835" y="2058268"/>
            <a:ext cx="238666" cy="2482850"/>
          </a:xfrm>
          <a:prstGeom prst="rect">
            <a:avLst/>
          </a:prstGeom>
          <a:solidFill>
            <a:srgbClr val="E07A1F"/>
          </a:solidFill>
          <a:ln/>
        </p:spPr>
      </p:sp>
      <p:sp>
        <p:nvSpPr>
          <p:cNvPr id="29" name="Shape 27"/>
          <p:cNvSpPr/>
          <p:nvPr/>
        </p:nvSpPr>
        <p:spPr>
          <a:xfrm>
            <a:off x="6624602" y="2039218"/>
            <a:ext cx="238666" cy="2501900"/>
          </a:xfrm>
          <a:prstGeom prst="rect">
            <a:avLst/>
          </a:prstGeom>
          <a:solidFill>
            <a:srgbClr val="E07A1F"/>
          </a:solidFill>
          <a:ln/>
        </p:spPr>
      </p:sp>
      <p:sp>
        <p:nvSpPr>
          <p:cNvPr id="30" name="Shape 28"/>
          <p:cNvSpPr/>
          <p:nvPr/>
        </p:nvSpPr>
        <p:spPr>
          <a:xfrm>
            <a:off x="6901368" y="2109068"/>
            <a:ext cx="238666" cy="2432050"/>
          </a:xfrm>
          <a:prstGeom prst="rect">
            <a:avLst/>
          </a:prstGeom>
          <a:solidFill>
            <a:srgbClr val="E07A1F"/>
          </a:solidFill>
          <a:ln/>
        </p:spPr>
      </p:sp>
      <p:sp>
        <p:nvSpPr>
          <p:cNvPr id="31" name="Shape 29"/>
          <p:cNvSpPr/>
          <p:nvPr/>
        </p:nvSpPr>
        <p:spPr>
          <a:xfrm>
            <a:off x="7178134" y="2102718"/>
            <a:ext cx="238666" cy="2438400"/>
          </a:xfrm>
          <a:prstGeom prst="rect">
            <a:avLst/>
          </a:prstGeom>
          <a:solidFill>
            <a:srgbClr val="E07A1F"/>
          </a:solidFill>
          <a:ln/>
        </p:spPr>
      </p:sp>
      <p:sp>
        <p:nvSpPr>
          <p:cNvPr id="32" name="Text 30"/>
          <p:cNvSpPr/>
          <p:nvPr/>
        </p:nvSpPr>
        <p:spPr>
          <a:xfrm>
            <a:off x="787400" y="4616165"/>
            <a:ext cx="289430"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0</a:t>
            </a:r>
            <a:endParaRPr lang="en-US" sz="1200" dirty="0"/>
          </a:p>
        </p:txBody>
      </p:sp>
      <p:sp>
        <p:nvSpPr>
          <p:cNvPr id="33" name="Text 31"/>
          <p:cNvSpPr/>
          <p:nvPr/>
        </p:nvSpPr>
        <p:spPr>
          <a:xfrm>
            <a:off x="1340896" y="4616165"/>
            <a:ext cx="289430"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2</a:t>
            </a:r>
            <a:endParaRPr lang="en-US" sz="1200" dirty="0"/>
          </a:p>
        </p:txBody>
      </p:sp>
      <p:sp>
        <p:nvSpPr>
          <p:cNvPr id="34" name="Text 32"/>
          <p:cNvSpPr/>
          <p:nvPr/>
        </p:nvSpPr>
        <p:spPr>
          <a:xfrm>
            <a:off x="1894393" y="4616165"/>
            <a:ext cx="289430"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4</a:t>
            </a:r>
            <a:endParaRPr lang="en-US" sz="1200" dirty="0"/>
          </a:p>
        </p:txBody>
      </p:sp>
      <p:sp>
        <p:nvSpPr>
          <p:cNvPr id="35" name="Text 33"/>
          <p:cNvSpPr/>
          <p:nvPr/>
        </p:nvSpPr>
        <p:spPr>
          <a:xfrm>
            <a:off x="2447889" y="4616165"/>
            <a:ext cx="289430"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6</a:t>
            </a:r>
            <a:endParaRPr lang="en-US" sz="1200" dirty="0"/>
          </a:p>
        </p:txBody>
      </p:sp>
      <p:sp>
        <p:nvSpPr>
          <p:cNvPr id="36" name="Text 34"/>
          <p:cNvSpPr/>
          <p:nvPr/>
        </p:nvSpPr>
        <p:spPr>
          <a:xfrm>
            <a:off x="3001385" y="4616165"/>
            <a:ext cx="289430"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8</a:t>
            </a:r>
            <a:endParaRPr lang="en-US" sz="1200" dirty="0"/>
          </a:p>
        </p:txBody>
      </p:sp>
      <p:sp>
        <p:nvSpPr>
          <p:cNvPr id="37" name="Text 35"/>
          <p:cNvSpPr/>
          <p:nvPr/>
        </p:nvSpPr>
        <p:spPr>
          <a:xfrm>
            <a:off x="3554881" y="4616165"/>
            <a:ext cx="289430"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10</a:t>
            </a:r>
            <a:endParaRPr lang="en-US" sz="1200" dirty="0"/>
          </a:p>
        </p:txBody>
      </p:sp>
      <p:sp>
        <p:nvSpPr>
          <p:cNvPr id="38" name="Text 36"/>
          <p:cNvSpPr/>
          <p:nvPr/>
        </p:nvSpPr>
        <p:spPr>
          <a:xfrm>
            <a:off x="3831612" y="4616165"/>
            <a:ext cx="289466"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04E0A"/>
                </a:solidFill>
                <a:latin typeface="Anuphan" pitchFamily="34" charset="0"/>
                <a:ea typeface="Anuphan" pitchFamily="34" charset="-122"/>
                <a:cs typeface="Anuphan" pitchFamily="34" charset="-120"/>
              </a:rPr>
              <a:t>11</a:t>
            </a:r>
            <a:endParaRPr lang="en-US" sz="1200" dirty="0"/>
          </a:p>
        </p:txBody>
      </p:sp>
      <p:sp>
        <p:nvSpPr>
          <p:cNvPr id="39" name="Text 37"/>
          <p:cNvSpPr/>
          <p:nvPr/>
        </p:nvSpPr>
        <p:spPr>
          <a:xfrm>
            <a:off x="4385108" y="4616165"/>
            <a:ext cx="289466"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13</a:t>
            </a:r>
            <a:endParaRPr lang="en-US" sz="1200" dirty="0"/>
          </a:p>
        </p:txBody>
      </p:sp>
      <p:sp>
        <p:nvSpPr>
          <p:cNvPr id="40" name="Text 38"/>
          <p:cNvSpPr/>
          <p:nvPr/>
        </p:nvSpPr>
        <p:spPr>
          <a:xfrm>
            <a:off x="4938604" y="4616165"/>
            <a:ext cx="289466"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15</a:t>
            </a:r>
            <a:endParaRPr lang="en-US" sz="1200" dirty="0"/>
          </a:p>
        </p:txBody>
      </p:sp>
      <p:sp>
        <p:nvSpPr>
          <p:cNvPr id="41" name="Text 39"/>
          <p:cNvSpPr/>
          <p:nvPr/>
        </p:nvSpPr>
        <p:spPr>
          <a:xfrm>
            <a:off x="5492137" y="4616165"/>
            <a:ext cx="289466"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17</a:t>
            </a:r>
            <a:endParaRPr lang="en-US" sz="1200" dirty="0"/>
          </a:p>
        </p:txBody>
      </p:sp>
      <p:sp>
        <p:nvSpPr>
          <p:cNvPr id="42" name="Text 40"/>
          <p:cNvSpPr/>
          <p:nvPr/>
        </p:nvSpPr>
        <p:spPr>
          <a:xfrm>
            <a:off x="6045669" y="4616165"/>
            <a:ext cx="289466"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19</a:t>
            </a:r>
            <a:endParaRPr lang="en-US" sz="1200" dirty="0"/>
          </a:p>
        </p:txBody>
      </p:sp>
      <p:sp>
        <p:nvSpPr>
          <p:cNvPr id="43" name="Text 41"/>
          <p:cNvSpPr/>
          <p:nvPr/>
        </p:nvSpPr>
        <p:spPr>
          <a:xfrm>
            <a:off x="6599202" y="4616165"/>
            <a:ext cx="289466"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21</a:t>
            </a:r>
            <a:endParaRPr lang="en-US" sz="1200" dirty="0"/>
          </a:p>
        </p:txBody>
      </p:sp>
      <p:sp>
        <p:nvSpPr>
          <p:cNvPr id="44" name="Text 42"/>
          <p:cNvSpPr/>
          <p:nvPr/>
        </p:nvSpPr>
        <p:spPr>
          <a:xfrm>
            <a:off x="7152734" y="4616165"/>
            <a:ext cx="289466"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23</a:t>
            </a:r>
            <a:endParaRPr lang="en-US" sz="1200" dirty="0"/>
          </a:p>
        </p:txBody>
      </p:sp>
      <p:sp>
        <p:nvSpPr>
          <p:cNvPr id="45" name="Shape 43"/>
          <p:cNvSpPr/>
          <p:nvPr/>
        </p:nvSpPr>
        <p:spPr>
          <a:xfrm>
            <a:off x="812800" y="4955456"/>
            <a:ext cx="152400" cy="152400"/>
          </a:xfrm>
          <a:prstGeom prst="rect">
            <a:avLst/>
          </a:prstGeom>
          <a:solidFill>
            <a:srgbClr val="8FB3DA"/>
          </a:solidFill>
          <a:ln/>
        </p:spPr>
      </p:sp>
      <p:sp>
        <p:nvSpPr>
          <p:cNvPr id="46" name="Text 44"/>
          <p:cNvSpPr/>
          <p:nvPr/>
        </p:nvSpPr>
        <p:spPr>
          <a:xfrm>
            <a:off x="1028700" y="4914329"/>
            <a:ext cx="1677988"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0–10 ชม.: 61–77%</a:t>
            </a:r>
            <a:endParaRPr lang="en-US" sz="1200" dirty="0"/>
          </a:p>
        </p:txBody>
      </p:sp>
      <p:sp>
        <p:nvSpPr>
          <p:cNvPr id="47" name="Shape 45"/>
          <p:cNvSpPr/>
          <p:nvPr/>
        </p:nvSpPr>
        <p:spPr>
          <a:xfrm>
            <a:off x="2706688" y="4955456"/>
            <a:ext cx="152400" cy="152400"/>
          </a:xfrm>
          <a:prstGeom prst="rect">
            <a:avLst/>
          </a:prstGeom>
          <a:solidFill>
            <a:srgbClr val="E07A1F"/>
          </a:solidFill>
          <a:ln/>
        </p:spPr>
      </p:sp>
      <p:sp>
        <p:nvSpPr>
          <p:cNvPr id="48" name="Text 46"/>
          <p:cNvSpPr/>
          <p:nvPr/>
        </p:nvSpPr>
        <p:spPr>
          <a:xfrm>
            <a:off x="2922588" y="4914329"/>
            <a:ext cx="1829493"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nuphan" pitchFamily="34" charset="0"/>
                <a:ea typeface="Anuphan" pitchFamily="34" charset="-122"/>
                <a:cs typeface="Anuphan" pitchFamily="34" charset="-120"/>
              </a:rPr>
              <a:t>11–23 ชม.: 91–99%</a:t>
            </a:r>
            <a:endParaRPr lang="en-US" sz="1200" dirty="0"/>
          </a:p>
        </p:txBody>
      </p:sp>
      <p:sp>
        <p:nvSpPr>
          <p:cNvPr id="49" name="Text 47"/>
          <p:cNvSpPr/>
          <p:nvPr/>
        </p:nvSpPr>
        <p:spPr>
          <a:xfrm>
            <a:off x="7772400" y="1714500"/>
            <a:ext cx="3715004" cy="578572"/>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04E0A"/>
                </a:solidFill>
                <a:latin typeface="Prompt" pitchFamily="34" charset="0"/>
                <a:ea typeface="Prompt" pitchFamily="34" charset="-122"/>
                <a:cs typeface="Prompt" pitchFamily="34" charset="-120"/>
              </a:rPr>
              <a:t>95.6%</a:t>
            </a:r>
            <a:endParaRPr lang="en-US" sz="3600" dirty="0"/>
          </a:p>
        </p:txBody>
      </p:sp>
      <p:sp>
        <p:nvSpPr>
          <p:cNvPr id="50" name="Text 48"/>
          <p:cNvSpPr/>
          <p:nvPr/>
        </p:nvSpPr>
        <p:spPr>
          <a:xfrm>
            <a:off x="7772400" y="2293069"/>
            <a:ext cx="3715004" cy="53390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966"/>
                </a:solidFill>
                <a:latin typeface="Anuphan" pitchFamily="34" charset="0"/>
                <a:ea typeface="Anuphan" pitchFamily="34" charset="-122"/>
                <a:cs typeface="Anuphan" pitchFamily="34" charset="-120"/>
              </a:rPr>
              <a:t>เมื่อซ่อม &gt; 10 ชม. เทียบกับ </a:t>
            </a:r>
            <a:r>
              <a:rPr lang="en-US" sz="1300" b="1" dirty="0">
                <a:solidFill>
                  <a:srgbClr val="2563A8"/>
                </a:solidFill>
                <a:latin typeface="Anuphan" pitchFamily="34" charset="0"/>
                <a:ea typeface="Anuphan" pitchFamily="34" charset="-122"/>
                <a:cs typeface="Anuphan" pitchFamily="34" charset="-120"/>
              </a:rPr>
              <a:t>69.9%</a:t>
            </a:r>
            <a:r>
              <a:rPr lang="en-US" sz="1300" dirty="0">
                <a:solidFill>
                  <a:srgbClr val="4F5966"/>
                </a:solidFill>
                <a:latin typeface="Anuphan" pitchFamily="34" charset="0"/>
                <a:ea typeface="Anuphan" pitchFamily="34" charset="-122"/>
                <a:cs typeface="Anuphan" pitchFamily="34" charset="-120"/>
              </a:rPr>
              <a:t> เมื่อ ≤ 10 ชม. (ต่าง 25.7 pp)</a:t>
            </a:r>
            <a:endParaRPr lang="en-US" sz="1300" dirty="0"/>
          </a:p>
        </p:txBody>
      </p:sp>
      <p:sp>
        <p:nvSpPr>
          <p:cNvPr id="51" name="Text 49"/>
          <p:cNvSpPr/>
          <p:nvPr/>
        </p:nvSpPr>
        <p:spPr>
          <a:xfrm>
            <a:off x="7772400" y="2953978"/>
            <a:ext cx="3715004" cy="84271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ความหมาย:</a:t>
            </a:r>
            <a:r>
              <a:rPr lang="en-US" sz="1300" dirty="0">
                <a:solidFill>
                  <a:srgbClr val="1B2430"/>
                </a:solidFill>
                <a:latin typeface="Anuphan" pitchFamily="34" charset="0"/>
                <a:ea typeface="Anuphan" pitchFamily="34" charset="-122"/>
                <a:cs typeface="Anuphan" pitchFamily="34" charset="-120"/>
              </a:rPr>
              <a:t> เครื่องที่ต้องซ่อมบ่อยคือเครื่องที่ไม่เสถียร ชั่วโมงซ่อมน่าจะเป็น “อาการ” ไม่ใช่ “สาเหตุ” — ลดชั่วโมงซ่อมเฉย ๆ ไม่ช่วย</a:t>
            </a:r>
            <a:endParaRPr lang="en-US" sz="1300" dirty="0"/>
          </a:p>
        </p:txBody>
      </p:sp>
      <p:sp>
        <p:nvSpPr>
          <p:cNvPr id="52" name="Text 50"/>
          <p:cNvSpPr/>
          <p:nvPr/>
        </p:nvSpPr>
        <p:spPr>
          <a:xfrm>
            <a:off x="7772400" y="3923692"/>
            <a:ext cx="3606800" cy="773473"/>
          </a:xfrm>
          <a:prstGeom prst="roundRect">
            <a:avLst>
              <a:gd name="adj" fmla="val 8210"/>
            </a:avLst>
          </a:prstGeom>
          <a:solidFill>
            <a:srgbClr val="E3ECF6"/>
          </a:solidFill>
          <a:ln/>
        </p:spPr>
        <p:txBody>
          <a:bodyPr wrap="square" lIns="121101" tIns="95701" rIns="21279" bIns="70301"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Action:</a:t>
            </a:r>
            <a:r>
              <a:rPr lang="en-US" sz="1300" dirty="0">
                <a:solidFill>
                  <a:srgbClr val="1B2430"/>
                </a:solidFill>
                <a:latin typeface="Anuphan" pitchFamily="34" charset="0"/>
                <a:ea typeface="Anuphan" pitchFamily="34" charset="-122"/>
                <a:cs typeface="Anuphan" pitchFamily="34" charset="-120"/>
              </a:rPr>
              <a:t> ทำ Predictive maintenance / overhaul เครื่องกลุ่มที่ซ่อมเกิน 10 ชม. ก่อน</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Q4–Q5 · defect rate และ quality score ระดับใดควรใช้เป็น QC alert</a:t>
            </a:r>
            <a:endParaRPr lang="en-US" sz="1200" dirty="0"/>
          </a:p>
        </p:txBody>
      </p:sp>
      <p:sp>
        <p:nvSpPr>
          <p:cNvPr id="3" name="Text 1"/>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อัตราของเสียและคะแนนคุณภาพ: ใช้เป็น QC alert หลังผลิต</a:t>
            </a:r>
            <a:endParaRPr lang="en-US" sz="2800" dirty="0"/>
          </a:p>
        </p:txBody>
      </p:sp>
      <p:sp>
        <p:nvSpPr>
          <p:cNvPr id="4" name="Text 2"/>
          <p:cNvSpPr/>
          <p:nvPr/>
        </p:nvSpPr>
        <p:spPr>
          <a:xfrm>
            <a:off x="812800" y="1688815"/>
            <a:ext cx="5232400"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nuphan" pitchFamily="34" charset="0"/>
                <a:ea typeface="Anuphan" pitchFamily="34" charset="-122"/>
                <a:cs typeface="Anuphan" pitchFamily="34" charset="-120"/>
              </a:rPr>
              <a:t>อัตราของเสีย (ต่อ 1,000 หน่วย)</a:t>
            </a:r>
            <a:endParaRPr lang="en-US" sz="1300" dirty="0"/>
          </a:p>
        </p:txBody>
      </p:sp>
      <p:sp>
        <p:nvSpPr>
          <p:cNvPr id="5" name="Shape 3"/>
          <p:cNvSpPr/>
          <p:nvPr/>
        </p:nvSpPr>
        <p:spPr>
          <a:xfrm>
            <a:off x="812800" y="4171913"/>
            <a:ext cx="5080000" cy="0"/>
          </a:xfrm>
          <a:prstGeom prst="line">
            <a:avLst/>
          </a:prstGeom>
          <a:noFill/>
          <a:ln w="12700">
            <a:solidFill>
              <a:srgbClr val="5B6470"/>
            </a:solidFill>
            <a:prstDash val="solid"/>
          </a:ln>
        </p:spPr>
      </p:sp>
      <p:sp>
        <p:nvSpPr>
          <p:cNvPr id="6" name="Text 4"/>
          <p:cNvSpPr/>
          <p:nvPr/>
        </p:nvSpPr>
        <p:spPr>
          <a:xfrm>
            <a:off x="973412" y="2236614"/>
            <a:ext cx="60327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74.6%</a:t>
            </a:r>
            <a:endParaRPr lang="en-US" sz="1200" dirty="0"/>
          </a:p>
        </p:txBody>
      </p:sp>
      <p:sp>
        <p:nvSpPr>
          <p:cNvPr id="7" name="Shape 5"/>
          <p:cNvSpPr/>
          <p:nvPr/>
        </p:nvSpPr>
        <p:spPr>
          <a:xfrm>
            <a:off x="812800" y="2509366"/>
            <a:ext cx="924538" cy="1657350"/>
          </a:xfrm>
          <a:prstGeom prst="rect">
            <a:avLst/>
          </a:prstGeom>
          <a:solidFill>
            <a:srgbClr val="8FB3DA"/>
          </a:solidFill>
          <a:ln/>
        </p:spPr>
      </p:sp>
      <p:sp>
        <p:nvSpPr>
          <p:cNvPr id="8" name="Text 6"/>
          <p:cNvSpPr/>
          <p:nvPr/>
        </p:nvSpPr>
        <p:spPr>
          <a:xfrm>
            <a:off x="2012286" y="2198514"/>
            <a:ext cx="60327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76.3%</a:t>
            </a:r>
            <a:endParaRPr lang="en-US" sz="1200" dirty="0"/>
          </a:p>
        </p:txBody>
      </p:sp>
      <p:sp>
        <p:nvSpPr>
          <p:cNvPr id="9" name="Shape 7"/>
          <p:cNvSpPr/>
          <p:nvPr/>
        </p:nvSpPr>
        <p:spPr>
          <a:xfrm>
            <a:off x="1851638" y="2471266"/>
            <a:ext cx="924574" cy="1695450"/>
          </a:xfrm>
          <a:prstGeom prst="rect">
            <a:avLst/>
          </a:prstGeom>
          <a:solidFill>
            <a:srgbClr val="8FB3DA"/>
          </a:solidFill>
          <a:ln/>
        </p:spPr>
      </p:sp>
      <p:sp>
        <p:nvSpPr>
          <p:cNvPr id="10" name="Text 8"/>
          <p:cNvSpPr/>
          <p:nvPr/>
        </p:nvSpPr>
        <p:spPr>
          <a:xfrm>
            <a:off x="3051125" y="2287414"/>
            <a:ext cx="60327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72.2%</a:t>
            </a:r>
            <a:endParaRPr lang="en-US" sz="1200" dirty="0"/>
          </a:p>
        </p:txBody>
      </p:sp>
      <p:sp>
        <p:nvSpPr>
          <p:cNvPr id="11" name="Shape 9"/>
          <p:cNvSpPr/>
          <p:nvPr/>
        </p:nvSpPr>
        <p:spPr>
          <a:xfrm>
            <a:off x="2890513" y="2560166"/>
            <a:ext cx="924538" cy="1606550"/>
          </a:xfrm>
          <a:prstGeom prst="rect">
            <a:avLst/>
          </a:prstGeom>
          <a:solidFill>
            <a:srgbClr val="8FB3DA"/>
          </a:solidFill>
          <a:ln/>
        </p:spPr>
      </p:sp>
      <p:sp>
        <p:nvSpPr>
          <p:cNvPr id="12" name="Text 10"/>
          <p:cNvSpPr/>
          <p:nvPr/>
        </p:nvSpPr>
        <p:spPr>
          <a:xfrm>
            <a:off x="4084371" y="1747664"/>
            <a:ext cx="614536"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04E0A"/>
                </a:solidFill>
                <a:latin typeface="Anuphan" pitchFamily="34" charset="0"/>
                <a:ea typeface="Anuphan" pitchFamily="34" charset="-122"/>
                <a:cs typeface="Anuphan" pitchFamily="34" charset="-120"/>
              </a:rPr>
              <a:t>96.6%</a:t>
            </a:r>
            <a:endParaRPr lang="en-US" sz="1200" dirty="0"/>
          </a:p>
        </p:txBody>
      </p:sp>
      <p:sp>
        <p:nvSpPr>
          <p:cNvPr id="13" name="Shape 11"/>
          <p:cNvSpPr/>
          <p:nvPr/>
        </p:nvSpPr>
        <p:spPr>
          <a:xfrm>
            <a:off x="3929351" y="2020416"/>
            <a:ext cx="924574" cy="2146300"/>
          </a:xfrm>
          <a:prstGeom prst="rect">
            <a:avLst/>
          </a:prstGeom>
          <a:solidFill>
            <a:srgbClr val="E07A1F"/>
          </a:solidFill>
          <a:ln/>
        </p:spPr>
      </p:sp>
      <p:sp>
        <p:nvSpPr>
          <p:cNvPr id="14" name="Text 12"/>
          <p:cNvSpPr/>
          <p:nvPr/>
        </p:nvSpPr>
        <p:spPr>
          <a:xfrm>
            <a:off x="5123245" y="1766714"/>
            <a:ext cx="614536"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04E0A"/>
                </a:solidFill>
                <a:latin typeface="Anuphan" pitchFamily="34" charset="0"/>
                <a:ea typeface="Anuphan" pitchFamily="34" charset="-122"/>
                <a:cs typeface="Anuphan" pitchFamily="34" charset="-120"/>
              </a:rPr>
              <a:t>95.8%</a:t>
            </a:r>
            <a:endParaRPr lang="en-US" sz="1200" dirty="0"/>
          </a:p>
        </p:txBody>
      </p:sp>
      <p:sp>
        <p:nvSpPr>
          <p:cNvPr id="15" name="Shape 13"/>
          <p:cNvSpPr/>
          <p:nvPr/>
        </p:nvSpPr>
        <p:spPr>
          <a:xfrm>
            <a:off x="4968226" y="2039466"/>
            <a:ext cx="924574" cy="2127250"/>
          </a:xfrm>
          <a:prstGeom prst="rect">
            <a:avLst/>
          </a:prstGeom>
          <a:solidFill>
            <a:srgbClr val="E07A1F"/>
          </a:solidFill>
          <a:ln/>
        </p:spPr>
      </p:sp>
      <p:sp>
        <p:nvSpPr>
          <p:cNvPr id="16" name="Text 14"/>
          <p:cNvSpPr/>
          <p:nvPr/>
        </p:nvSpPr>
        <p:spPr>
          <a:xfrm>
            <a:off x="787400" y="4254463"/>
            <a:ext cx="975338"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0.5–1</a:t>
            </a:r>
            <a:endParaRPr lang="en-US" sz="1200" dirty="0"/>
          </a:p>
        </p:txBody>
      </p:sp>
      <p:sp>
        <p:nvSpPr>
          <p:cNvPr id="17" name="Text 15"/>
          <p:cNvSpPr/>
          <p:nvPr/>
        </p:nvSpPr>
        <p:spPr>
          <a:xfrm>
            <a:off x="1826238" y="4254463"/>
            <a:ext cx="975374"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1–2</a:t>
            </a:r>
            <a:endParaRPr lang="en-US" sz="1200" dirty="0"/>
          </a:p>
        </p:txBody>
      </p:sp>
      <p:sp>
        <p:nvSpPr>
          <p:cNvPr id="18" name="Text 16"/>
          <p:cNvSpPr/>
          <p:nvPr/>
        </p:nvSpPr>
        <p:spPr>
          <a:xfrm>
            <a:off x="2865113" y="4254463"/>
            <a:ext cx="975338"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2–3</a:t>
            </a:r>
            <a:endParaRPr lang="en-US" sz="1200" dirty="0"/>
          </a:p>
        </p:txBody>
      </p:sp>
      <p:sp>
        <p:nvSpPr>
          <p:cNvPr id="19" name="Text 17"/>
          <p:cNvSpPr/>
          <p:nvPr/>
        </p:nvSpPr>
        <p:spPr>
          <a:xfrm>
            <a:off x="3903951" y="4254463"/>
            <a:ext cx="975374"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3–4</a:t>
            </a:r>
            <a:endParaRPr lang="en-US" sz="1200" dirty="0"/>
          </a:p>
        </p:txBody>
      </p:sp>
      <p:sp>
        <p:nvSpPr>
          <p:cNvPr id="20" name="Text 18"/>
          <p:cNvSpPr/>
          <p:nvPr/>
        </p:nvSpPr>
        <p:spPr>
          <a:xfrm>
            <a:off x="4942826" y="4254463"/>
            <a:ext cx="975374"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4–5</a:t>
            </a:r>
            <a:endParaRPr lang="en-US" sz="1200" dirty="0"/>
          </a:p>
        </p:txBody>
      </p:sp>
      <p:sp>
        <p:nvSpPr>
          <p:cNvPr id="21" name="Text 19"/>
          <p:cNvSpPr/>
          <p:nvPr/>
        </p:nvSpPr>
        <p:spPr>
          <a:xfrm>
            <a:off x="812800" y="4565328"/>
            <a:ext cx="5080000" cy="466545"/>
          </a:xfrm>
          <a:prstGeom prst="roundRect">
            <a:avLst>
              <a:gd name="adj" fmla="val 13611"/>
            </a:avLst>
          </a:prstGeom>
          <a:solidFill>
            <a:srgbClr val="FBE9DA"/>
          </a:solidFill>
          <a:ln/>
        </p:spPr>
        <p:txBody>
          <a:bodyPr wrap="square" lIns="108401" tIns="83001" rIns="0" bIns="57601" rtlCol="0" anchor="t">
            <a:normAutofit/>
          </a:bodyPr>
          <a:lstStyle/>
          <a:p>
            <a:pPr algn="l" indent="0" marL="0">
              <a:lnSpc>
                <a:spcPts val="1885"/>
              </a:lnSpc>
              <a:buNone/>
            </a:pPr>
            <a:r>
              <a:rPr lang="en-US" sz="1300" b="1" dirty="0">
                <a:solidFill>
                  <a:srgbClr val="1B2430"/>
                </a:solidFill>
                <a:latin typeface="Anuphan" pitchFamily="34" charset="0"/>
                <a:ea typeface="Anuphan" pitchFamily="34" charset="-122"/>
                <a:cs typeface="Anuphan" pitchFamily="34" charset="-120"/>
              </a:rPr>
              <a:t>SPC alert เมื่อ &gt; 3.0</a:t>
            </a:r>
            <a:r>
              <a:rPr lang="en-US" sz="1300" dirty="0">
                <a:solidFill>
                  <a:srgbClr val="1B2430"/>
                </a:solidFill>
                <a:latin typeface="Anuphan" pitchFamily="34" charset="0"/>
                <a:ea typeface="Anuphan" pitchFamily="34" charset="-122"/>
                <a:cs typeface="Anuphan" pitchFamily="34" charset="-120"/>
              </a:rPr>
              <a:t> · 96.2% เทียบ 74.4%</a:t>
            </a:r>
            <a:endParaRPr lang="en-US" sz="1300" dirty="0"/>
          </a:p>
        </p:txBody>
      </p:sp>
      <p:sp>
        <p:nvSpPr>
          <p:cNvPr id="22" name="Text 20"/>
          <p:cNvSpPr/>
          <p:nvPr/>
        </p:nvSpPr>
        <p:spPr>
          <a:xfrm>
            <a:off x="6299200" y="1688815"/>
            <a:ext cx="5232400" cy="27965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nuphan" pitchFamily="34" charset="0"/>
                <a:ea typeface="Anuphan" pitchFamily="34" charset="-122"/>
                <a:cs typeface="Anuphan" pitchFamily="34" charset="-120"/>
              </a:rPr>
              <a:t>คะแนนคุณภาพ (เต็ม 100)</a:t>
            </a:r>
            <a:endParaRPr lang="en-US" sz="1300" dirty="0"/>
          </a:p>
        </p:txBody>
      </p:sp>
      <p:sp>
        <p:nvSpPr>
          <p:cNvPr id="23" name="Shape 21"/>
          <p:cNvSpPr/>
          <p:nvPr/>
        </p:nvSpPr>
        <p:spPr>
          <a:xfrm>
            <a:off x="6299200" y="4171913"/>
            <a:ext cx="5080000" cy="0"/>
          </a:xfrm>
          <a:prstGeom prst="line">
            <a:avLst/>
          </a:prstGeom>
          <a:noFill/>
          <a:ln w="12700">
            <a:solidFill>
              <a:srgbClr val="5B6470"/>
            </a:solidFill>
            <a:prstDash val="solid"/>
          </a:ln>
        </p:spPr>
      </p:sp>
      <p:sp>
        <p:nvSpPr>
          <p:cNvPr id="24" name="Text 22"/>
          <p:cNvSpPr/>
          <p:nvPr/>
        </p:nvSpPr>
        <p:spPr>
          <a:xfrm>
            <a:off x="6584070" y="1766714"/>
            <a:ext cx="614536"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04E0A"/>
                </a:solidFill>
                <a:latin typeface="Anuphan" pitchFamily="34" charset="0"/>
                <a:ea typeface="Anuphan" pitchFamily="34" charset="-122"/>
                <a:cs typeface="Anuphan" pitchFamily="34" charset="-120"/>
              </a:rPr>
              <a:t>95.8%</a:t>
            </a:r>
            <a:endParaRPr lang="en-US" sz="1200" dirty="0"/>
          </a:p>
        </p:txBody>
      </p:sp>
      <p:sp>
        <p:nvSpPr>
          <p:cNvPr id="25" name="Shape 23"/>
          <p:cNvSpPr/>
          <p:nvPr/>
        </p:nvSpPr>
        <p:spPr>
          <a:xfrm>
            <a:off x="6299200" y="2039466"/>
            <a:ext cx="1184275" cy="2127250"/>
          </a:xfrm>
          <a:prstGeom prst="rect">
            <a:avLst/>
          </a:prstGeom>
          <a:solidFill>
            <a:srgbClr val="E07A1F"/>
          </a:solidFill>
          <a:ln/>
        </p:spPr>
      </p:sp>
      <p:sp>
        <p:nvSpPr>
          <p:cNvPr id="26" name="Text 24"/>
          <p:cNvSpPr/>
          <p:nvPr/>
        </p:nvSpPr>
        <p:spPr>
          <a:xfrm>
            <a:off x="7888273" y="2166764"/>
            <a:ext cx="60327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77.6%</a:t>
            </a:r>
            <a:endParaRPr lang="en-US" sz="1200" dirty="0"/>
          </a:p>
        </p:txBody>
      </p:sp>
      <p:sp>
        <p:nvSpPr>
          <p:cNvPr id="27" name="Shape 25"/>
          <p:cNvSpPr/>
          <p:nvPr/>
        </p:nvSpPr>
        <p:spPr>
          <a:xfrm>
            <a:off x="7597775" y="2439516"/>
            <a:ext cx="1184275" cy="1727200"/>
          </a:xfrm>
          <a:prstGeom prst="rect">
            <a:avLst/>
          </a:prstGeom>
          <a:solidFill>
            <a:srgbClr val="8FB3DA"/>
          </a:solidFill>
          <a:ln/>
        </p:spPr>
      </p:sp>
      <p:sp>
        <p:nvSpPr>
          <p:cNvPr id="28" name="Text 26"/>
          <p:cNvSpPr/>
          <p:nvPr/>
        </p:nvSpPr>
        <p:spPr>
          <a:xfrm>
            <a:off x="9186848" y="2185814"/>
            <a:ext cx="60327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76.8%</a:t>
            </a:r>
            <a:endParaRPr lang="en-US" sz="1200" dirty="0"/>
          </a:p>
        </p:txBody>
      </p:sp>
      <p:sp>
        <p:nvSpPr>
          <p:cNvPr id="29" name="Shape 27"/>
          <p:cNvSpPr/>
          <p:nvPr/>
        </p:nvSpPr>
        <p:spPr>
          <a:xfrm>
            <a:off x="8896350" y="2458566"/>
            <a:ext cx="1184275" cy="1708150"/>
          </a:xfrm>
          <a:prstGeom prst="rect">
            <a:avLst/>
          </a:prstGeom>
          <a:solidFill>
            <a:srgbClr val="8FB3DA"/>
          </a:solidFill>
          <a:ln/>
        </p:spPr>
      </p:sp>
      <p:sp>
        <p:nvSpPr>
          <p:cNvPr id="30" name="Text 28"/>
          <p:cNvSpPr/>
          <p:nvPr/>
        </p:nvSpPr>
        <p:spPr>
          <a:xfrm>
            <a:off x="10485423" y="2173114"/>
            <a:ext cx="60327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77.4%</a:t>
            </a:r>
            <a:endParaRPr lang="en-US" sz="1200" dirty="0"/>
          </a:p>
        </p:txBody>
      </p:sp>
      <p:sp>
        <p:nvSpPr>
          <p:cNvPr id="31" name="Shape 29"/>
          <p:cNvSpPr/>
          <p:nvPr/>
        </p:nvSpPr>
        <p:spPr>
          <a:xfrm>
            <a:off x="10194925" y="2445866"/>
            <a:ext cx="1184275" cy="1720850"/>
          </a:xfrm>
          <a:prstGeom prst="rect">
            <a:avLst/>
          </a:prstGeom>
          <a:solidFill>
            <a:srgbClr val="8FB3DA"/>
          </a:solidFill>
          <a:ln/>
        </p:spPr>
      </p:sp>
      <p:sp>
        <p:nvSpPr>
          <p:cNvPr id="32" name="Text 30"/>
          <p:cNvSpPr/>
          <p:nvPr/>
        </p:nvSpPr>
        <p:spPr>
          <a:xfrm>
            <a:off x="6273800" y="4254463"/>
            <a:ext cx="1235075"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60–75</a:t>
            </a:r>
            <a:endParaRPr lang="en-US" sz="1200" dirty="0"/>
          </a:p>
        </p:txBody>
      </p:sp>
      <p:sp>
        <p:nvSpPr>
          <p:cNvPr id="33" name="Text 31"/>
          <p:cNvSpPr/>
          <p:nvPr/>
        </p:nvSpPr>
        <p:spPr>
          <a:xfrm>
            <a:off x="7572375" y="4254463"/>
            <a:ext cx="1235075"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75–80</a:t>
            </a:r>
            <a:endParaRPr lang="en-US" sz="1200" dirty="0"/>
          </a:p>
        </p:txBody>
      </p:sp>
      <p:sp>
        <p:nvSpPr>
          <p:cNvPr id="34" name="Text 32"/>
          <p:cNvSpPr/>
          <p:nvPr/>
        </p:nvSpPr>
        <p:spPr>
          <a:xfrm>
            <a:off x="8870950" y="4254463"/>
            <a:ext cx="1235075"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80–90</a:t>
            </a:r>
            <a:endParaRPr lang="en-US" sz="1200" dirty="0"/>
          </a:p>
        </p:txBody>
      </p:sp>
      <p:sp>
        <p:nvSpPr>
          <p:cNvPr id="35" name="Text 33"/>
          <p:cNvSpPr/>
          <p:nvPr/>
        </p:nvSpPr>
        <p:spPr>
          <a:xfrm>
            <a:off x="10169525" y="4254463"/>
            <a:ext cx="1235075"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90–100</a:t>
            </a:r>
            <a:endParaRPr lang="en-US" sz="1200" dirty="0"/>
          </a:p>
        </p:txBody>
      </p:sp>
      <p:sp>
        <p:nvSpPr>
          <p:cNvPr id="36" name="Text 34"/>
          <p:cNvSpPr/>
          <p:nvPr/>
        </p:nvSpPr>
        <p:spPr>
          <a:xfrm>
            <a:off x="6299200" y="4565328"/>
            <a:ext cx="5080000" cy="466545"/>
          </a:xfrm>
          <a:prstGeom prst="roundRect">
            <a:avLst>
              <a:gd name="adj" fmla="val 13611"/>
            </a:avLst>
          </a:prstGeom>
          <a:solidFill>
            <a:srgbClr val="FBE9DA"/>
          </a:solidFill>
          <a:ln/>
        </p:spPr>
        <p:txBody>
          <a:bodyPr wrap="square" lIns="108401" tIns="83001" rIns="0" bIns="57601" rtlCol="0" anchor="t">
            <a:normAutofit/>
          </a:bodyPr>
          <a:lstStyle/>
          <a:p>
            <a:pPr algn="l" indent="0" marL="0">
              <a:lnSpc>
                <a:spcPts val="1885"/>
              </a:lnSpc>
              <a:buNone/>
            </a:pPr>
            <a:r>
              <a:rPr lang="en-US" sz="1300" b="1" dirty="0">
                <a:solidFill>
                  <a:srgbClr val="1B2430"/>
                </a:solidFill>
                <a:latin typeface="Anuphan" pitchFamily="34" charset="0"/>
                <a:ea typeface="Anuphan" pitchFamily="34" charset="-122"/>
                <a:cs typeface="Anuphan" pitchFamily="34" charset="-120"/>
              </a:rPr>
              <a:t>QC gate ที่ &lt; 75</a:t>
            </a:r>
            <a:r>
              <a:rPr lang="en-US" sz="1300" dirty="0">
                <a:solidFill>
                  <a:srgbClr val="1B2430"/>
                </a:solidFill>
                <a:latin typeface="Anuphan" pitchFamily="34" charset="0"/>
                <a:ea typeface="Anuphan" pitchFamily="34" charset="-122"/>
                <a:cs typeface="Anuphan" pitchFamily="34" charset="-120"/>
              </a:rPr>
              <a:t> · 95.8% เทียบ 77.2%</a:t>
            </a:r>
            <a:endParaRPr lang="en-US" sz="1300" dirty="0"/>
          </a:p>
        </p:txBody>
      </p:sp>
      <p:sp>
        <p:nvSpPr>
          <p:cNvPr id="37" name="Text 35"/>
          <p:cNvSpPr/>
          <p:nvPr/>
        </p:nvSpPr>
        <p:spPr>
          <a:xfrm>
            <a:off x="812800" y="5235079"/>
            <a:ext cx="10883392" cy="2978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F5966"/>
                </a:solidFill>
                <a:latin typeface="Anuphan" pitchFamily="34" charset="0"/>
                <a:ea typeface="Anuphan" pitchFamily="34" charset="-122"/>
                <a:cs typeface="Anuphan" pitchFamily="34" charset="-120"/>
              </a:rPr>
              <a:t>ทั้งสองตัว “รู้หลังผลิต” จึงเป็น QC alert ไม่ใช่ Controllable factor · ปัจจุบัน 63.8% ของ batch เข้าเงื่อนไขเตือนอย่างน้อย 1 ข้อ</a:t>
            </a:r>
            <a:endParaRPr lang="en-US" sz="1300" dirty="0"/>
          </a:p>
        </p:txBody>
      </p:sp>
      <p:sp>
        <p:nvSpPr>
          <p:cNvPr id="38" name="Text 36"/>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9" name="Text 37"/>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19 / 27</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5915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Q6 · ผลิต batch ใหญ่ เสี่ยงกว่าหรือไม่</a:t>
            </a:r>
            <a:endParaRPr lang="en-US" sz="1200" dirty="0"/>
          </a:p>
        </p:txBody>
      </p:sp>
      <p:sp>
        <p:nvSpPr>
          <p:cNvPr id="3" name="Text 1"/>
          <p:cNvSpPr/>
          <p:nvPr>
            <p:ph type="title"/>
          </p:nvPr>
        </p:nvSpPr>
        <p:spPr>
          <a:xfrm>
            <a:off x="812800" y="995759"/>
            <a:ext cx="11379200" cy="51251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batch ใหญ่เกิน 800 หน่วย เสี่ยงขึ้น แต่ต้นทุนต่อหน่วยถูกที่สุด</a:t>
            </a:r>
            <a:endParaRPr lang="en-US" sz="2800" dirty="0"/>
          </a:p>
        </p:txBody>
      </p:sp>
      <p:sp>
        <p:nvSpPr>
          <p:cNvPr id="4" name="Text 2"/>
          <p:cNvSpPr/>
          <p:nvPr/>
        </p:nvSpPr>
        <p:spPr>
          <a:xfrm>
            <a:off x="812800" y="1711474"/>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6"/>
                </a:solidFill>
                <a:latin typeface="Anuphan" pitchFamily="34" charset="0"/>
                <a:ea typeface="Anuphan" pitchFamily="34" charset="-122"/>
                <a:cs typeface="Anuphan" pitchFamily="34" charset="-120"/>
              </a:rPr>
              <a:t>% batch ที่เป็น High defect แยกตามขนาด batch (หน่วย)</a:t>
            </a:r>
            <a:endParaRPr lang="en-US" sz="1200" dirty="0"/>
          </a:p>
        </p:txBody>
      </p:sp>
      <p:sp>
        <p:nvSpPr>
          <p:cNvPr id="5" name="Shape 3"/>
          <p:cNvSpPr/>
          <p:nvPr/>
        </p:nvSpPr>
        <p:spPr>
          <a:xfrm>
            <a:off x="812800" y="4555989"/>
            <a:ext cx="6350000" cy="0"/>
          </a:xfrm>
          <a:prstGeom prst="line">
            <a:avLst/>
          </a:prstGeom>
          <a:noFill/>
          <a:ln w="12700">
            <a:solidFill>
              <a:srgbClr val="5B6470"/>
            </a:solidFill>
            <a:prstDash val="solid"/>
          </a:ln>
        </p:spPr>
      </p:sp>
      <p:sp>
        <p:nvSpPr>
          <p:cNvPr id="6" name="Text 4"/>
          <p:cNvSpPr/>
          <p:nvPr/>
        </p:nvSpPr>
        <p:spPr>
          <a:xfrm>
            <a:off x="1053970" y="2175632"/>
            <a:ext cx="665711" cy="27965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430"/>
                </a:solidFill>
                <a:latin typeface="Anuphan" pitchFamily="34" charset="0"/>
                <a:ea typeface="Anuphan" pitchFamily="34" charset="-122"/>
                <a:cs typeface="Anuphan" pitchFamily="34" charset="-120"/>
              </a:rPr>
              <a:t>81.6%</a:t>
            </a:r>
            <a:endParaRPr lang="en-US" sz="1300" dirty="0"/>
          </a:p>
        </p:txBody>
      </p:sp>
      <p:sp>
        <p:nvSpPr>
          <p:cNvPr id="7" name="Shape 5"/>
          <p:cNvSpPr/>
          <p:nvPr/>
        </p:nvSpPr>
        <p:spPr>
          <a:xfrm>
            <a:off x="812800" y="2480692"/>
            <a:ext cx="1148051" cy="2070100"/>
          </a:xfrm>
          <a:prstGeom prst="rect">
            <a:avLst/>
          </a:prstGeom>
          <a:solidFill>
            <a:srgbClr val="8FB3DA"/>
          </a:solidFill>
          <a:ln/>
        </p:spPr>
      </p:sp>
      <p:sp>
        <p:nvSpPr>
          <p:cNvPr id="8" name="Text 6"/>
          <p:cNvSpPr/>
          <p:nvPr/>
        </p:nvSpPr>
        <p:spPr>
          <a:xfrm>
            <a:off x="2354421" y="2201032"/>
            <a:ext cx="665711" cy="27965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430"/>
                </a:solidFill>
                <a:latin typeface="Anuphan" pitchFamily="34" charset="0"/>
                <a:ea typeface="Anuphan" pitchFamily="34" charset="-122"/>
                <a:cs typeface="Anuphan" pitchFamily="34" charset="-120"/>
              </a:rPr>
              <a:t>80.4%</a:t>
            </a:r>
            <a:endParaRPr lang="en-US" sz="1300" dirty="0"/>
          </a:p>
        </p:txBody>
      </p:sp>
      <p:sp>
        <p:nvSpPr>
          <p:cNvPr id="9" name="Shape 7"/>
          <p:cNvSpPr/>
          <p:nvPr/>
        </p:nvSpPr>
        <p:spPr>
          <a:xfrm>
            <a:off x="2113251" y="2506092"/>
            <a:ext cx="1148087" cy="2044700"/>
          </a:xfrm>
          <a:prstGeom prst="rect">
            <a:avLst/>
          </a:prstGeom>
          <a:solidFill>
            <a:srgbClr val="8FB3DA"/>
          </a:solidFill>
          <a:ln/>
        </p:spPr>
      </p:sp>
      <p:sp>
        <p:nvSpPr>
          <p:cNvPr id="10" name="Text 8"/>
          <p:cNvSpPr/>
          <p:nvPr/>
        </p:nvSpPr>
        <p:spPr>
          <a:xfrm>
            <a:off x="3654908" y="2239132"/>
            <a:ext cx="665711" cy="27965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430"/>
                </a:solidFill>
                <a:latin typeface="Anuphan" pitchFamily="34" charset="0"/>
                <a:ea typeface="Anuphan" pitchFamily="34" charset="-122"/>
                <a:cs typeface="Anuphan" pitchFamily="34" charset="-120"/>
              </a:rPr>
              <a:t>79.0%</a:t>
            </a:r>
            <a:endParaRPr lang="en-US" sz="1300" dirty="0"/>
          </a:p>
        </p:txBody>
      </p:sp>
      <p:sp>
        <p:nvSpPr>
          <p:cNvPr id="11" name="Shape 9"/>
          <p:cNvSpPr/>
          <p:nvPr/>
        </p:nvSpPr>
        <p:spPr>
          <a:xfrm>
            <a:off x="3413739" y="2544192"/>
            <a:ext cx="1148087" cy="2006600"/>
          </a:xfrm>
          <a:prstGeom prst="rect">
            <a:avLst/>
          </a:prstGeom>
          <a:solidFill>
            <a:srgbClr val="8FB3DA"/>
          </a:solidFill>
          <a:ln/>
        </p:spPr>
      </p:sp>
      <p:sp>
        <p:nvSpPr>
          <p:cNvPr id="12" name="Text 10"/>
          <p:cNvSpPr/>
          <p:nvPr/>
        </p:nvSpPr>
        <p:spPr>
          <a:xfrm>
            <a:off x="4955396" y="2194682"/>
            <a:ext cx="665711" cy="27965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430"/>
                </a:solidFill>
                <a:latin typeface="Anuphan" pitchFamily="34" charset="0"/>
                <a:ea typeface="Anuphan" pitchFamily="34" charset="-122"/>
                <a:cs typeface="Anuphan" pitchFamily="34" charset="-120"/>
              </a:rPr>
              <a:t>80.8%</a:t>
            </a:r>
            <a:endParaRPr lang="en-US" sz="1300" dirty="0"/>
          </a:p>
        </p:txBody>
      </p:sp>
      <p:sp>
        <p:nvSpPr>
          <p:cNvPr id="13" name="Shape 11"/>
          <p:cNvSpPr/>
          <p:nvPr/>
        </p:nvSpPr>
        <p:spPr>
          <a:xfrm>
            <a:off x="4714226" y="2499742"/>
            <a:ext cx="1148087" cy="2051050"/>
          </a:xfrm>
          <a:prstGeom prst="rect">
            <a:avLst/>
          </a:prstGeom>
          <a:solidFill>
            <a:srgbClr val="8FB3DA"/>
          </a:solidFill>
          <a:ln/>
        </p:spPr>
      </p:sp>
      <p:sp>
        <p:nvSpPr>
          <p:cNvPr id="14" name="Text 12"/>
          <p:cNvSpPr/>
          <p:nvPr/>
        </p:nvSpPr>
        <p:spPr>
          <a:xfrm>
            <a:off x="6255883" y="1788282"/>
            <a:ext cx="665711" cy="27965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B04E0A"/>
                </a:solidFill>
                <a:latin typeface="Anuphan" pitchFamily="34" charset="0"/>
                <a:ea typeface="Anuphan" pitchFamily="34" charset="-122"/>
                <a:cs typeface="Anuphan" pitchFamily="34" charset="-120"/>
              </a:rPr>
              <a:t>96.7%</a:t>
            </a:r>
            <a:endParaRPr lang="en-US" sz="1300" dirty="0"/>
          </a:p>
        </p:txBody>
      </p:sp>
      <p:sp>
        <p:nvSpPr>
          <p:cNvPr id="15" name="Shape 13"/>
          <p:cNvSpPr/>
          <p:nvPr/>
        </p:nvSpPr>
        <p:spPr>
          <a:xfrm>
            <a:off x="6014713" y="2093342"/>
            <a:ext cx="1148087" cy="2457450"/>
          </a:xfrm>
          <a:prstGeom prst="rect">
            <a:avLst/>
          </a:prstGeom>
          <a:solidFill>
            <a:srgbClr val="E07A1F"/>
          </a:solidFill>
          <a:ln/>
        </p:spPr>
      </p:sp>
      <p:sp>
        <p:nvSpPr>
          <p:cNvPr id="16" name="Text 14"/>
          <p:cNvSpPr/>
          <p:nvPr/>
        </p:nvSpPr>
        <p:spPr>
          <a:xfrm>
            <a:off x="787400" y="4638539"/>
            <a:ext cx="1198851" cy="494723"/>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100–300</a:t>
            </a:r>
            <a:endParaRPr lang="en-US" sz="1200" dirty="0"/>
          </a:p>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739 batch</a:t>
            </a:r>
            <a:endParaRPr lang="en-US" sz="1200" dirty="0"/>
          </a:p>
        </p:txBody>
      </p:sp>
      <p:sp>
        <p:nvSpPr>
          <p:cNvPr id="17" name="Text 15"/>
          <p:cNvSpPr/>
          <p:nvPr/>
        </p:nvSpPr>
        <p:spPr>
          <a:xfrm>
            <a:off x="2087851" y="4638539"/>
            <a:ext cx="1198887" cy="494723"/>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301–500</a:t>
            </a:r>
            <a:endParaRPr lang="en-US" sz="1200" dirty="0"/>
          </a:p>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729 batch</a:t>
            </a:r>
            <a:endParaRPr lang="en-US" sz="1200" dirty="0"/>
          </a:p>
        </p:txBody>
      </p:sp>
      <p:sp>
        <p:nvSpPr>
          <p:cNvPr id="18" name="Text 16"/>
          <p:cNvSpPr/>
          <p:nvPr/>
        </p:nvSpPr>
        <p:spPr>
          <a:xfrm>
            <a:off x="3388339" y="4638539"/>
            <a:ext cx="1198887" cy="494723"/>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501–700</a:t>
            </a:r>
            <a:endParaRPr lang="en-US" sz="1200" dirty="0"/>
          </a:p>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668 batch</a:t>
            </a:r>
            <a:endParaRPr lang="en-US" sz="1200" dirty="0"/>
          </a:p>
        </p:txBody>
      </p:sp>
      <p:sp>
        <p:nvSpPr>
          <p:cNvPr id="19" name="Text 17"/>
          <p:cNvSpPr/>
          <p:nvPr/>
        </p:nvSpPr>
        <p:spPr>
          <a:xfrm>
            <a:off x="4688826" y="4638539"/>
            <a:ext cx="1198887" cy="494723"/>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701–800</a:t>
            </a:r>
            <a:endParaRPr lang="en-US" sz="1200" dirty="0"/>
          </a:p>
          <a:p>
            <a:pPr algn="ctr" indent="0" marL="0">
              <a:lnSpc>
                <a:spcPts val="1680"/>
              </a:lnSpc>
              <a:buNone/>
            </a:pPr>
            <a:r>
              <a:rPr lang="en-US" sz="1200" dirty="0">
                <a:solidFill>
                  <a:srgbClr val="5B6470"/>
                </a:solidFill>
                <a:latin typeface="Anuphan" pitchFamily="34" charset="0"/>
                <a:ea typeface="Anuphan" pitchFamily="34" charset="-122"/>
                <a:cs typeface="Anuphan" pitchFamily="34" charset="-120"/>
              </a:rPr>
              <a:t>385 batch</a:t>
            </a:r>
            <a:endParaRPr lang="en-US" sz="1200" dirty="0"/>
          </a:p>
        </p:txBody>
      </p:sp>
      <p:sp>
        <p:nvSpPr>
          <p:cNvPr id="20" name="Text 18"/>
          <p:cNvSpPr/>
          <p:nvPr/>
        </p:nvSpPr>
        <p:spPr>
          <a:xfrm>
            <a:off x="5989313" y="4638539"/>
            <a:ext cx="1198887" cy="494723"/>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801+</a:t>
            </a:r>
            <a:endParaRPr lang="en-US" sz="1200" dirty="0"/>
          </a:p>
          <a:p>
            <a:pPr algn="ctr" indent="0" marL="0">
              <a:lnSpc>
                <a:spcPts val="1680"/>
              </a:lnSpc>
              <a:buNone/>
            </a:pPr>
            <a:r>
              <a:rPr lang="en-US" sz="1200" b="1" dirty="0">
                <a:solidFill>
                  <a:srgbClr val="5B6470"/>
                </a:solidFill>
                <a:latin typeface="Anuphan" pitchFamily="34" charset="0"/>
                <a:ea typeface="Anuphan" pitchFamily="34" charset="-122"/>
                <a:cs typeface="Anuphan" pitchFamily="34" charset="-120"/>
              </a:rPr>
              <a:t>719 batch</a:t>
            </a:r>
            <a:endParaRPr lang="en-US" sz="1200" dirty="0"/>
          </a:p>
        </p:txBody>
      </p:sp>
      <p:sp>
        <p:nvSpPr>
          <p:cNvPr id="21" name="Shape 19"/>
          <p:cNvSpPr/>
          <p:nvPr/>
        </p:nvSpPr>
        <p:spPr>
          <a:xfrm>
            <a:off x="812800" y="5184056"/>
            <a:ext cx="6350000" cy="361661"/>
          </a:xfrm>
          <a:prstGeom prst="roundRect">
            <a:avLst>
              <a:gd name="adj" fmla="val 14046"/>
            </a:avLst>
          </a:prstGeom>
          <a:solidFill>
            <a:srgbClr val="E3ECF6"/>
          </a:solidFill>
          <a:ln/>
        </p:spPr>
      </p:sp>
      <p:sp>
        <p:nvSpPr>
          <p:cNvPr id="22" name="Text 20"/>
          <p:cNvSpPr/>
          <p:nvPr/>
        </p:nvSpPr>
        <p:spPr>
          <a:xfrm>
            <a:off x="787400" y="5247556"/>
            <a:ext cx="1198851"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$61.70</a:t>
            </a:r>
            <a:endParaRPr lang="en-US" sz="1200" dirty="0"/>
          </a:p>
        </p:txBody>
      </p:sp>
      <p:sp>
        <p:nvSpPr>
          <p:cNvPr id="23" name="Text 21"/>
          <p:cNvSpPr/>
          <p:nvPr/>
        </p:nvSpPr>
        <p:spPr>
          <a:xfrm>
            <a:off x="2087851" y="5247556"/>
            <a:ext cx="1198887"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$30.70</a:t>
            </a:r>
            <a:endParaRPr lang="en-US" sz="1200" dirty="0"/>
          </a:p>
        </p:txBody>
      </p:sp>
      <p:sp>
        <p:nvSpPr>
          <p:cNvPr id="24" name="Text 22"/>
          <p:cNvSpPr/>
          <p:nvPr/>
        </p:nvSpPr>
        <p:spPr>
          <a:xfrm>
            <a:off x="3388339" y="5247556"/>
            <a:ext cx="1198887"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$20.50</a:t>
            </a:r>
            <a:endParaRPr lang="en-US" sz="1200" dirty="0"/>
          </a:p>
        </p:txBody>
      </p:sp>
      <p:sp>
        <p:nvSpPr>
          <p:cNvPr id="25" name="Text 23"/>
          <p:cNvSpPr/>
          <p:nvPr/>
        </p:nvSpPr>
        <p:spPr>
          <a:xfrm>
            <a:off x="4688826" y="5247556"/>
            <a:ext cx="1198887"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$17.50</a:t>
            </a:r>
            <a:endParaRPr lang="en-US" sz="1200" dirty="0"/>
          </a:p>
        </p:txBody>
      </p:sp>
      <p:sp>
        <p:nvSpPr>
          <p:cNvPr id="26" name="Text 24"/>
          <p:cNvSpPr/>
          <p:nvPr/>
        </p:nvSpPr>
        <p:spPr>
          <a:xfrm>
            <a:off x="5989313" y="5247556"/>
            <a:ext cx="1198887"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563A8"/>
                </a:solidFill>
                <a:latin typeface="Anuphan" pitchFamily="34" charset="0"/>
                <a:ea typeface="Anuphan" pitchFamily="34" charset="-122"/>
                <a:cs typeface="Anuphan" pitchFamily="34" charset="-120"/>
              </a:rPr>
              <a:t>$13.82</a:t>
            </a:r>
            <a:endParaRPr lang="en-US" sz="1200" dirty="0"/>
          </a:p>
        </p:txBody>
      </p:sp>
      <p:sp>
        <p:nvSpPr>
          <p:cNvPr id="27" name="Text 25"/>
          <p:cNvSpPr/>
          <p:nvPr/>
        </p:nvSpPr>
        <p:spPr>
          <a:xfrm>
            <a:off x="812800" y="5621920"/>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6"/>
                </a:solidFill>
                <a:latin typeface="Anuphan" pitchFamily="34" charset="0"/>
                <a:ea typeface="Anuphan" pitchFamily="34" charset="-122"/>
                <a:cs typeface="Anuphan" pitchFamily="34" charset="-120"/>
              </a:rPr>
              <a:t>แถบสีฟ้า = ต้นทุนต่อหน่วย</a:t>
            </a:r>
            <a:endParaRPr lang="en-US" sz="1200" dirty="0"/>
          </a:p>
        </p:txBody>
      </p:sp>
      <p:sp>
        <p:nvSpPr>
          <p:cNvPr id="28" name="Text 26"/>
          <p:cNvSpPr/>
          <p:nvPr/>
        </p:nvSpPr>
        <p:spPr>
          <a:xfrm>
            <a:off x="7518400" y="1711474"/>
            <a:ext cx="3976624" cy="84271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ช่วง 100–800 ความเสี่ยงคงที่ราว 80% (เท่าค่าเฉลี่ย) </a:t>
            </a:r>
            <a:r>
              <a:rPr lang="en-US" sz="1300" b="1" dirty="0">
                <a:solidFill>
                  <a:srgbClr val="1B2430"/>
                </a:solidFill>
                <a:latin typeface="Anuphan" pitchFamily="34" charset="0"/>
                <a:ea typeface="Anuphan" pitchFamily="34" charset="-122"/>
                <a:cs typeface="Anuphan" pitchFamily="34" charset="-120"/>
              </a:rPr>
              <a:t>เพิ่มขึ้นเฉพาะเมื่อเกิน 800</a:t>
            </a:r>
            <a:r>
              <a:rPr lang="en-US" sz="1300" dirty="0">
                <a:solidFill>
                  <a:srgbClr val="1B2430"/>
                </a:solidFill>
                <a:latin typeface="Anuphan" pitchFamily="34" charset="0"/>
                <a:ea typeface="Anuphan" pitchFamily="34" charset="-122"/>
                <a:cs typeface="Anuphan" pitchFamily="34" charset="-120"/>
              </a:rPr>
              <a:t> → 96.7% เทียบ 80.4%</a:t>
            </a:r>
            <a:endParaRPr lang="en-US" sz="1300" dirty="0"/>
          </a:p>
        </p:txBody>
      </p:sp>
      <p:sp>
        <p:nvSpPr>
          <p:cNvPr id="29" name="Text 27"/>
          <p:cNvSpPr/>
          <p:nvPr/>
        </p:nvSpPr>
        <p:spPr>
          <a:xfrm>
            <a:off x="7518400" y="2681188"/>
            <a:ext cx="3976624" cy="570273"/>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ความหมาย:</a:t>
            </a:r>
            <a:r>
              <a:rPr lang="en-US" sz="1300" dirty="0">
                <a:solidFill>
                  <a:srgbClr val="1B2430"/>
                </a:solidFill>
                <a:latin typeface="Anuphan" pitchFamily="34" charset="0"/>
                <a:ea typeface="Anuphan" pitchFamily="34" charset="-122"/>
                <a:cs typeface="Anuphan" pitchFamily="34" charset="-120"/>
              </a:rPr>
              <a:t> Trade-off ระหว่างต้นทุนกับคุณภาพ batch ใหญ่ถูกกว่าต่อหน่วยถึง 4 เท่าของ batch เล็ก</a:t>
            </a:r>
            <a:endParaRPr lang="en-US" sz="1300" dirty="0"/>
          </a:p>
        </p:txBody>
      </p:sp>
      <p:sp>
        <p:nvSpPr>
          <p:cNvPr id="30" name="Text 28"/>
          <p:cNvSpPr/>
          <p:nvPr/>
        </p:nvSpPr>
        <p:spPr>
          <a:xfrm>
            <a:off x="7518400" y="3378460"/>
            <a:ext cx="3860800" cy="773473"/>
          </a:xfrm>
          <a:prstGeom prst="roundRect">
            <a:avLst>
              <a:gd name="adj" fmla="val 8210"/>
            </a:avLst>
          </a:prstGeom>
          <a:solidFill>
            <a:srgbClr val="E3ECF6"/>
          </a:solidFill>
          <a:ln/>
        </p:spPr>
        <p:txBody>
          <a:bodyPr wrap="square" lIns="121101" tIns="95701" rIns="13659" bIns="70301"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Action:</a:t>
            </a:r>
            <a:r>
              <a:rPr lang="en-US" sz="1300" dirty="0">
                <a:solidFill>
                  <a:srgbClr val="1B2430"/>
                </a:solidFill>
                <a:latin typeface="Anuphan" pitchFamily="34" charset="0"/>
                <a:ea typeface="Anuphan" pitchFamily="34" charset="-122"/>
                <a:cs typeface="Anuphan" pitchFamily="34" charset="-120"/>
              </a:rPr>
              <a:t> ไม่ต้องลดขนาด batch แต่เพิ่มการสุ่มตรวจ QC ใน batch ที่เกิน 800 หน่วย</a:t>
            </a:r>
            <a:endParaRPr lang="en-US" sz="1300" dirty="0"/>
          </a:p>
        </p:txBody>
      </p:sp>
      <p:sp>
        <p:nvSpPr>
          <p:cNvPr id="31" name="Text 29"/>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2" name="Text 30"/>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20 / 27</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41516"/>
          </a:xfrm>
          <a:prstGeom prst="rect">
            <a:avLst/>
          </a:prstGeom>
          <a:noFill/>
          <a:ln/>
        </p:spPr>
        <p:txBody>
          <a:bodyPr wrap="square" lIns="0" tIns="0" rIns="0" bIns="0" rtlCol="0" anchor="t">
            <a:normAutofit/>
          </a:bodyPr>
          <a:lstStyle/>
          <a:p>
            <a:pPr algn="l" indent="0" marL="0">
              <a:lnSpc>
                <a:spcPts val="1565"/>
              </a:lnSpc>
              <a:buNone/>
            </a:pPr>
            <a:r>
              <a:rPr lang="en-US" sz="1118" b="1" spc="50" kern="0" dirty="0">
                <a:solidFill>
                  <a:srgbClr val="B04E0A"/>
                </a:solidFill>
                <a:latin typeface="Anuphan" pitchFamily="34" charset="0"/>
                <a:ea typeface="Anuphan" pitchFamily="34" charset="-122"/>
                <a:cs typeface="Anuphan" pitchFamily="34" charset="-120"/>
              </a:rPr>
              <a:t>Q7 · ปัจจัยใดไม่ช่วยอธิบาย defect (ไม่ควรลงทุนเป็นหลัก)</a:t>
            </a:r>
            <a:endParaRPr lang="en-US" sz="1118" dirty="0"/>
          </a:p>
        </p:txBody>
      </p:sp>
      <p:sp>
        <p:nvSpPr>
          <p:cNvPr id="3" name="Text 1"/>
          <p:cNvSpPr/>
          <p:nvPr>
            <p:ph type="title"/>
          </p:nvPr>
        </p:nvSpPr>
        <p:spPr>
          <a:xfrm>
            <a:off x="812800" y="978123"/>
            <a:ext cx="10883392" cy="475817"/>
          </a:xfrm>
          <a:prstGeom prst="rect">
            <a:avLst/>
          </a:prstGeom>
          <a:noFill/>
          <a:ln/>
        </p:spPr>
        <p:txBody>
          <a:bodyPr wrap="square" lIns="0" tIns="0" rIns="0" bIns="0" rtlCol="0" anchor="t">
            <a:normAutofit/>
          </a:bodyPr>
          <a:lstStyle/>
          <a:p>
            <a:pPr algn="l" indent="0" marL="0">
              <a:lnSpc>
                <a:spcPts val="3248"/>
              </a:lnSpc>
              <a:buNone/>
            </a:pPr>
            <a:r>
              <a:rPr lang="en-US" sz="2599" b="1" i="0" dirty="0">
                <a:solidFill>
                  <a:srgbClr val="1B2430"/>
                </a:solidFill>
                <a:latin typeface="Prompt" pitchFamily="34" charset="0"/>
                <a:ea typeface="Prompt" pitchFamily="34" charset="-122"/>
                <a:cs typeface="Prompt" pitchFamily="34" charset="-120"/>
              </a:rPr>
              <a:t>6 ปัจจัยที่แทบไม่ช่วยอธิบายของเสีย ไม่ควรเป็นงบลงทุนหลัก</a:t>
            </a:r>
            <a:endParaRPr lang="en-US" sz="2599"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643285"/>
          <a:ext cx="10554855" cy="3061458"/>
        </p:xfrm>
        <a:graphic>
          <a:graphicData uri="http://schemas.openxmlformats.org/drawingml/2006/table">
            <a:tbl>
              <a:tblPr/>
              <a:tblGrid>
                <a:gridCol w="2955359"/>
                <a:gridCol w="1477680"/>
                <a:gridCol w="2110971"/>
                <a:gridCol w="2110971"/>
                <a:gridCol w="1899874"/>
              </a:tblGrid>
              <a:tr h="586401">
                <a:tc>
                  <a:txBody>
                    <a:bodyPr/>
                    <a:lstStyle/>
                    <a:p>
                      <a:pPr indent="0" marL="0">
                        <a:lnSpc>
                          <a:spcPts val="1684"/>
                        </a:lnSpc>
                        <a:buNone/>
                      </a:pPr>
                      <a:r>
                        <a:rPr lang="en-US" sz="1203" b="1" dirty="0">
                          <a:solidFill>
                            <a:srgbClr val="F6F4EF"/>
                          </a:solidFill>
                          <a:latin typeface="Anuphan" pitchFamily="34" charset="0"/>
                          <a:ea typeface="Anuphan" pitchFamily="34" charset="-122"/>
                          <a:cs typeface="Anuphan" pitchFamily="34" charset="-120"/>
                        </a:rPr>
                        <a:t>Controllable factor</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684"/>
                        </a:lnSpc>
                        <a:buNone/>
                      </a:pPr>
                      <a:r>
                        <a:rPr lang="en-US" sz="1203" b="1" dirty="0">
                          <a:solidFill>
                            <a:srgbClr val="F6F4EF"/>
                          </a:solidFill>
                          <a:latin typeface="Anuphan" pitchFamily="34" charset="0"/>
                          <a:ea typeface="Anuphan" pitchFamily="34" charset="-122"/>
                          <a:cs typeface="Anuphan" pitchFamily="34" charset="-120"/>
                        </a:rPr>
                        <a:t>Threshold</a:t>
                      </a:r>
                      <a:endParaRPr lang="en-US" sz="1203" dirty="0">
                        <a:latin typeface="Anuphan" charset="0"/>
                        <a:ea typeface="Anuphan" charset="0"/>
                        <a:cs typeface="Anuphan" charset="0"/>
                      </a:endParaRPr>
                    </a:p>
                  </a:txBody>
                  <a:tcPr marL="53451" marR="53451" marT="53451" marB="53451"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1684"/>
                        </a:lnSpc>
                        <a:buNone/>
                      </a:pPr>
                      <a:r>
                        <a:rPr lang="en-US" sz="1203" b="1" dirty="0">
                          <a:solidFill>
                            <a:srgbClr val="F6F4EF"/>
                          </a:solidFill>
                          <a:latin typeface="Anuphan" pitchFamily="34" charset="0"/>
                          <a:ea typeface="Anuphan" pitchFamily="34" charset="-122"/>
                          <a:cs typeface="Anuphan" pitchFamily="34" charset="-120"/>
                        </a:rPr>
                        <a:t>% High defect (meets threshold)</a:t>
                      </a:r>
                      <a:endParaRPr lang="en-US" sz="1203" dirty="0">
                        <a:latin typeface="Anuphan" charset="0"/>
                        <a:ea typeface="Anuphan" charset="0"/>
                        <a:cs typeface="Anuphan" charset="0"/>
                      </a:endParaRPr>
                    </a:p>
                  </a:txBody>
                  <a:tcPr marL="53451" marR="53451" marT="53451" marB="53451"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1684"/>
                        </a:lnSpc>
                        <a:buNone/>
                      </a:pPr>
                      <a:r>
                        <a:rPr lang="en-US" sz="1203" b="1" dirty="0">
                          <a:solidFill>
                            <a:srgbClr val="F6F4EF"/>
                          </a:solidFill>
                          <a:latin typeface="Anuphan" pitchFamily="34" charset="0"/>
                          <a:ea typeface="Anuphan" pitchFamily="34" charset="-122"/>
                          <a:cs typeface="Anuphan" pitchFamily="34" charset="-120"/>
                        </a:rPr>
                        <a:t>% High defect (otherwise)</a:t>
                      </a:r>
                      <a:endParaRPr lang="en-US" sz="1203" dirty="0">
                        <a:latin typeface="Anuphan" charset="0"/>
                        <a:ea typeface="Anuphan" charset="0"/>
                        <a:cs typeface="Anuphan" charset="0"/>
                      </a:endParaRPr>
                    </a:p>
                  </a:txBody>
                  <a:tcPr marL="53451" marR="53451" marT="53451" marB="53451"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1684"/>
                        </a:lnSpc>
                        <a:buNone/>
                      </a:pPr>
                      <a:r>
                        <a:rPr lang="en-US" sz="1203" b="1" dirty="0">
                          <a:solidFill>
                            <a:srgbClr val="F6F4EF"/>
                          </a:solidFill>
                          <a:latin typeface="Anuphan" pitchFamily="34" charset="0"/>
                          <a:ea typeface="Anuphan" pitchFamily="34" charset="-122"/>
                          <a:cs typeface="Anuphan" pitchFamily="34" charset="-120"/>
                        </a:rPr>
                        <a:t>Gap (pp)</a:t>
                      </a:r>
                      <a:endParaRPr lang="en-US" sz="1203" dirty="0">
                        <a:latin typeface="Anuphan" charset="0"/>
                        <a:ea typeface="Anuphan" charset="0"/>
                        <a:cs typeface="Anuphan" charset="0"/>
                      </a:endParaRPr>
                    </a:p>
                  </a:txBody>
                  <a:tcPr marL="53451" marR="53451" marT="53451" marB="53451"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353580">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ขาดสต็อก</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&gt; 1%</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84.9%</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76.4%</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8.4 (ปานกลาง)</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53580">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ประสิทธิภาพพลังงาน</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&lt; 0.48</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84.3%</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79.1%</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5.2</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3580">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คุณภาพ supplier</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&gt; 83</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84.6%</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80.8%</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3.8</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53580">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เครื่องหยุด (downtime)</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&gt; 4.7%</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87.2%</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83.8%</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3.4</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3580">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ผลิตภาพแรงงาน</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&lt; 99%</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84.1%</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82.3%</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1.8</a:t>
                      </a:r>
                      <a:endParaRPr lang="en-US" sz="1203" dirty="0">
                        <a:latin typeface="Anuphan" charset="0"/>
                        <a:ea typeface="Anuphan" charset="0"/>
                        <a:cs typeface="Anuphan" charset="0"/>
                      </a:endParaRPr>
                    </a:p>
                  </a:txBody>
                  <a:tcPr marL="53451" marR="53451" marT="53451" marB="53451"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53580">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ส่งวัตถุดิบช้า</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&gt; 2 วัน</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84.7%</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83.3%</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1.3</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3580">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เทียบ: ชั่วโมงซ่อมบำรุง</a:t>
                      </a:r>
                      <a:endParaRPr lang="en-US" sz="1203" dirty="0">
                        <a:latin typeface="Anuphan" charset="0"/>
                        <a:ea typeface="Anuphan" charset="0"/>
                        <a:cs typeface="Anuphan" charset="0"/>
                      </a:endParaRPr>
                    </a:p>
                  </a:txBody>
                  <a:tcPr marL="53451" marR="53451" marT="53451" marB="53451" anchor="t">
                    <a:lnL w="12700" cap="flat" cmpd="sng" algn="ctr">
                      <a:solidFill>
                        <a:srgbClr val="C4C3BF"/>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684"/>
                        </a:lnSpc>
                        <a:buNone/>
                      </a:pPr>
                      <a:r>
                        <a:rPr lang="en-US" sz="1203" dirty="0">
                          <a:solidFill>
                            <a:srgbClr val="1B2430"/>
                          </a:solidFill>
                          <a:latin typeface="Anuphan" pitchFamily="34" charset="0"/>
                          <a:ea typeface="Anuphan" pitchFamily="34" charset="-122"/>
                          <a:cs typeface="Anuphan" pitchFamily="34" charset="-120"/>
                        </a:rPr>
                        <a:t>&gt; 10 ชม.</a:t>
                      </a:r>
                      <a:endParaRPr lang="en-US" sz="1203" dirty="0">
                        <a:latin typeface="Anuphan" charset="0"/>
                        <a:ea typeface="Anuphan" charset="0"/>
                        <a:cs typeface="Anuphan" charset="0"/>
                      </a:endParaRPr>
                    </a:p>
                  </a:txBody>
                  <a:tcPr marL="53451" marR="53451" marT="53451" marB="53451"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95.6%</a:t>
                      </a:r>
                      <a:endParaRPr lang="en-US" sz="1203" dirty="0">
                        <a:latin typeface="Anuphan" charset="0"/>
                        <a:ea typeface="Anuphan" charset="0"/>
                        <a:cs typeface="Anuphan" charset="0"/>
                      </a:endParaRPr>
                    </a:p>
                  </a:txBody>
                  <a:tcPr marL="53451" marR="53451" marT="53451" marB="53451"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69.9%</a:t>
                      </a:r>
                      <a:endParaRPr lang="en-US" sz="1203" dirty="0">
                        <a:latin typeface="Anuphan" charset="0"/>
                        <a:ea typeface="Anuphan" charset="0"/>
                        <a:cs typeface="Anuphan" charset="0"/>
                      </a:endParaRPr>
                    </a:p>
                  </a:txBody>
                  <a:tcPr marL="53451" marR="53451" marT="53451" marB="53451"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4"/>
                        </a:lnSpc>
                        <a:buNone/>
                      </a:pPr>
                      <a:r>
                        <a:rPr lang="en-US" sz="1203" dirty="0">
                          <a:solidFill>
                            <a:srgbClr val="1B2430"/>
                          </a:solidFill>
                          <a:latin typeface="Anuphan" pitchFamily="34" charset="0"/>
                          <a:ea typeface="Anuphan" pitchFamily="34" charset="-122"/>
                          <a:cs typeface="Anuphan" pitchFamily="34" charset="-120"/>
                        </a:rPr>
                        <a:t>25.7</a:t>
                      </a:r>
                      <a:endParaRPr lang="en-US" sz="1203" dirty="0">
                        <a:latin typeface="Anuphan" charset="0"/>
                        <a:ea typeface="Anuphan" charset="0"/>
                        <a:cs typeface="Anuphan" charset="0"/>
                      </a:endParaRPr>
                    </a:p>
                  </a:txBody>
                  <a:tcPr marL="53451" marR="53451" marT="53451" marB="53451"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bl>
          </a:graphicData>
        </a:graphic>
      </p:graphicFrame>
      <p:sp>
        <p:nvSpPr>
          <p:cNvPr id="5" name="Text 2"/>
          <p:cNvSpPr/>
          <p:nvPr/>
        </p:nvSpPr>
        <p:spPr>
          <a:xfrm>
            <a:off x="812800" y="4907942"/>
            <a:ext cx="5359400" cy="934063"/>
          </a:xfrm>
          <a:prstGeom prst="roundRect">
            <a:avLst>
              <a:gd name="adj" fmla="val 6798"/>
            </a:avLst>
          </a:prstGeom>
          <a:solidFill>
            <a:srgbClr val="FBE9DA"/>
          </a:solidFill>
          <a:ln/>
        </p:spPr>
        <p:txBody>
          <a:bodyPr wrap="square" lIns="133801" tIns="108401" rIns="0" bIns="83001"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Action:</a:t>
            </a:r>
            <a:r>
              <a:rPr lang="en-US" sz="1300" dirty="0">
                <a:solidFill>
                  <a:srgbClr val="1B2430"/>
                </a:solidFill>
                <a:latin typeface="Anuphan" pitchFamily="34" charset="0"/>
                <a:ea typeface="Anuphan" pitchFamily="34" charset="-122"/>
                <a:cs typeface="Anuphan" pitchFamily="34" charset="-120"/>
              </a:rPr>
              <a:t> ปรับปัจจัยเหล่านี้ให้ดีขึ้น % High defect แทบไม่ขยับ (ต่างไม่เกิน 8.4 pp) → ทบทวนงบที่อาจไม่คุ้ม</a:t>
            </a:r>
            <a:endParaRPr lang="en-US" sz="1300" dirty="0"/>
          </a:p>
        </p:txBody>
      </p:sp>
      <p:sp>
        <p:nvSpPr>
          <p:cNvPr id="6" name="Text 3"/>
          <p:cNvSpPr/>
          <p:nvPr/>
        </p:nvSpPr>
        <p:spPr>
          <a:xfrm>
            <a:off x="6324600" y="5034942"/>
            <a:ext cx="5206238" cy="705463"/>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F5966"/>
                </a:solidFill>
                <a:latin typeface="Anuphan" pitchFamily="34" charset="0"/>
                <a:ea typeface="Anuphan" pitchFamily="34" charset="-122"/>
                <a:cs typeface="Anuphan" pitchFamily="34" charset="-120"/>
              </a:rPr>
              <a:t>ข้อระวัง: ไม่ได้แปลว่าไม่สำคัญต่อธุรกิจด้านอื่น เพียงแต่ไม่ช่วยอธิบาย “ของเสีย” ในข้อมูลชุดนี้ · ขาดสต็อกได้ระดับปานกลาง เพราะฝั่งปลอดภัยมีแค่ราว 10% ของ batch</a:t>
            </a:r>
            <a:endParaRPr lang="en-US" sz="1200" dirty="0"/>
          </a:p>
        </p:txBody>
      </p:sp>
      <p:sp>
        <p:nvSpPr>
          <p:cNvPr id="7" name="Text 4"/>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8" name="Text 5"/>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21 / 27</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Q8 (1/2) · ถ้าดู 2 Controllable factor พร้อมกัน · Risk matrix</a:t>
            </a:r>
            <a:endParaRPr lang="en-US" sz="1200" dirty="0"/>
          </a:p>
        </p:txBody>
      </p:sp>
      <p:sp>
        <p:nvSpPr>
          <p:cNvPr id="3" name="Text 1"/>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เกินเกณฑ์ข้อใดข้อหนึ่ง ความเสี่ยงก็พุ่งเป็น 93–97%</a:t>
            </a:r>
            <a:endParaRPr lang="en-US" sz="2800" dirty="0"/>
          </a:p>
        </p:txBody>
      </p:sp>
      <p:sp>
        <p:nvSpPr>
          <p:cNvPr id="4" name="Text 2"/>
          <p:cNvSpPr/>
          <p:nvPr/>
        </p:nvSpPr>
        <p:spPr>
          <a:xfrm>
            <a:off x="812800" y="1714215"/>
            <a:ext cx="640969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6"/>
                </a:solidFill>
                <a:latin typeface="Anuphan" pitchFamily="34" charset="0"/>
                <a:ea typeface="Anuphan" pitchFamily="34" charset="-122"/>
                <a:cs typeface="Anuphan" pitchFamily="34" charset="-120"/>
              </a:rPr>
              <a:t>% High defect · แถว = ชั่วโมงซ่อม/สัปดาห์ · คอลัมน์ = ขนาด batch</a:t>
            </a:r>
            <a:endParaRPr lang="en-US" sz="1200" dirty="0"/>
          </a:p>
        </p:txBody>
      </p:sp>
      <p:sp>
        <p:nvSpPr>
          <p:cNvPr id="5" name="Text 3"/>
          <p:cNvSpPr/>
          <p:nvPr/>
        </p:nvSpPr>
        <p:spPr>
          <a:xfrm>
            <a:off x="2095500" y="2012379"/>
            <a:ext cx="1003300"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100–300</a:t>
            </a:r>
            <a:endParaRPr lang="en-US" sz="1200" dirty="0"/>
          </a:p>
        </p:txBody>
      </p:sp>
      <p:sp>
        <p:nvSpPr>
          <p:cNvPr id="6" name="Text 4"/>
          <p:cNvSpPr/>
          <p:nvPr/>
        </p:nvSpPr>
        <p:spPr>
          <a:xfrm>
            <a:off x="3086100" y="2012379"/>
            <a:ext cx="1003300"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301–500</a:t>
            </a:r>
            <a:endParaRPr lang="en-US" sz="1200" dirty="0"/>
          </a:p>
        </p:txBody>
      </p:sp>
      <p:sp>
        <p:nvSpPr>
          <p:cNvPr id="7" name="Text 5"/>
          <p:cNvSpPr/>
          <p:nvPr/>
        </p:nvSpPr>
        <p:spPr>
          <a:xfrm>
            <a:off x="4076700" y="2012379"/>
            <a:ext cx="1003300"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501–700</a:t>
            </a:r>
            <a:endParaRPr lang="en-US" sz="1200" dirty="0"/>
          </a:p>
        </p:txBody>
      </p:sp>
      <p:sp>
        <p:nvSpPr>
          <p:cNvPr id="8" name="Text 6"/>
          <p:cNvSpPr/>
          <p:nvPr/>
        </p:nvSpPr>
        <p:spPr>
          <a:xfrm>
            <a:off x="5067300" y="2012379"/>
            <a:ext cx="1003300"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701–800</a:t>
            </a:r>
            <a:endParaRPr lang="en-US" sz="1200" dirty="0"/>
          </a:p>
        </p:txBody>
      </p:sp>
      <p:sp>
        <p:nvSpPr>
          <p:cNvPr id="9" name="Text 7"/>
          <p:cNvSpPr/>
          <p:nvPr/>
        </p:nvSpPr>
        <p:spPr>
          <a:xfrm>
            <a:off x="6057900" y="2012379"/>
            <a:ext cx="1003300"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04E0A"/>
                </a:solidFill>
                <a:latin typeface="Anuphan" pitchFamily="34" charset="0"/>
                <a:ea typeface="Anuphan" pitchFamily="34" charset="-122"/>
                <a:cs typeface="Anuphan" pitchFamily="34" charset="-120"/>
              </a:rPr>
              <a:t>801+</a:t>
            </a:r>
            <a:endParaRPr lang="en-US" sz="1200" dirty="0"/>
          </a:p>
        </p:txBody>
      </p:sp>
      <p:sp>
        <p:nvSpPr>
          <p:cNvPr id="10" name="Text 8"/>
          <p:cNvSpPr/>
          <p:nvPr/>
        </p:nvSpPr>
        <p:spPr>
          <a:xfrm>
            <a:off x="812800" y="2462944"/>
            <a:ext cx="1320800" cy="2992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nuphan" pitchFamily="34" charset="0"/>
                <a:ea typeface="Anuphan" pitchFamily="34" charset="-122"/>
                <a:cs typeface="Anuphan" pitchFamily="34" charset="-120"/>
              </a:rPr>
              <a:t>0–5 ชม.</a:t>
            </a:r>
            <a:endParaRPr lang="en-US" sz="1300" dirty="0"/>
          </a:p>
        </p:txBody>
      </p:sp>
      <p:sp>
        <p:nvSpPr>
          <p:cNvPr id="11" name="Text 9"/>
          <p:cNvSpPr/>
          <p:nvPr/>
        </p:nvSpPr>
        <p:spPr>
          <a:xfrm>
            <a:off x="2120900" y="228514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CFE0F1"/>
          </a:solidFill>
          <a:ln/>
        </p:spPr>
        <p:txBody>
          <a:bodyPr wrap="square" lIns="0" tIns="177800" rIns="0" bIns="152400" rtlCol="0" anchor="t">
            <a:normAutofit/>
          </a:bodyPr>
          <a:lstStyle/>
          <a:p>
            <a:pPr algn="ctr" indent="0" marL="0">
              <a:lnSpc>
                <a:spcPts val="1960"/>
              </a:lnSpc>
              <a:buNone/>
            </a:pPr>
            <a:r>
              <a:rPr lang="en-US" sz="1400" dirty="0">
                <a:solidFill>
                  <a:srgbClr val="1B2430"/>
                </a:solidFill>
                <a:latin typeface="Anuphan" pitchFamily="34" charset="0"/>
                <a:ea typeface="Anuphan" pitchFamily="34" charset="-122"/>
                <a:cs typeface="Anuphan" pitchFamily="34" charset="-120"/>
              </a:rPr>
              <a:t>64.2</a:t>
            </a:r>
            <a:endParaRPr lang="en-US" sz="1400" dirty="0"/>
          </a:p>
        </p:txBody>
      </p:sp>
      <p:sp>
        <p:nvSpPr>
          <p:cNvPr id="12" name="Text 10"/>
          <p:cNvSpPr/>
          <p:nvPr/>
        </p:nvSpPr>
        <p:spPr>
          <a:xfrm>
            <a:off x="3111500" y="228514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CFE0F1"/>
          </a:solidFill>
          <a:ln/>
        </p:spPr>
        <p:txBody>
          <a:bodyPr wrap="square" lIns="0" tIns="177800" rIns="0" bIns="152400" rtlCol="0" anchor="t">
            <a:normAutofit/>
          </a:bodyPr>
          <a:lstStyle/>
          <a:p>
            <a:pPr algn="ctr" indent="0" marL="0">
              <a:lnSpc>
                <a:spcPts val="1960"/>
              </a:lnSpc>
              <a:buNone/>
            </a:pPr>
            <a:r>
              <a:rPr lang="en-US" sz="1400" dirty="0">
                <a:solidFill>
                  <a:srgbClr val="1B2430"/>
                </a:solidFill>
                <a:latin typeface="Anuphan" pitchFamily="34" charset="0"/>
                <a:ea typeface="Anuphan" pitchFamily="34" charset="-122"/>
                <a:cs typeface="Anuphan" pitchFamily="34" charset="-120"/>
              </a:rPr>
              <a:t>63.0</a:t>
            </a:r>
            <a:endParaRPr lang="en-US" sz="1400" dirty="0"/>
          </a:p>
        </p:txBody>
      </p:sp>
      <p:sp>
        <p:nvSpPr>
          <p:cNvPr id="13" name="Text 11"/>
          <p:cNvSpPr/>
          <p:nvPr/>
        </p:nvSpPr>
        <p:spPr>
          <a:xfrm>
            <a:off x="4102100" y="228514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CFE0F1"/>
          </a:solidFill>
          <a:ln/>
        </p:spPr>
        <p:txBody>
          <a:bodyPr wrap="square" lIns="0" tIns="177800" rIns="0" bIns="152400" rtlCol="0" anchor="t">
            <a:normAutofit/>
          </a:bodyPr>
          <a:lstStyle/>
          <a:p>
            <a:pPr algn="ctr" indent="0" marL="0">
              <a:lnSpc>
                <a:spcPts val="1960"/>
              </a:lnSpc>
              <a:buNone/>
            </a:pPr>
            <a:r>
              <a:rPr lang="en-US" sz="1400" dirty="0">
                <a:solidFill>
                  <a:srgbClr val="1B2430"/>
                </a:solidFill>
                <a:latin typeface="Anuphan" pitchFamily="34" charset="0"/>
                <a:ea typeface="Anuphan" pitchFamily="34" charset="-122"/>
                <a:cs typeface="Anuphan" pitchFamily="34" charset="-120"/>
              </a:rPr>
              <a:t>62.2</a:t>
            </a:r>
            <a:endParaRPr lang="en-US" sz="1400" dirty="0"/>
          </a:p>
        </p:txBody>
      </p:sp>
      <p:sp>
        <p:nvSpPr>
          <p:cNvPr id="14" name="Text 12"/>
          <p:cNvSpPr/>
          <p:nvPr/>
        </p:nvSpPr>
        <p:spPr>
          <a:xfrm>
            <a:off x="5092700" y="228514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CFE0F1"/>
          </a:solidFill>
          <a:ln/>
        </p:spPr>
        <p:txBody>
          <a:bodyPr wrap="square" lIns="0" tIns="177800" rIns="0" bIns="152400" rtlCol="0" anchor="t">
            <a:normAutofit/>
          </a:bodyPr>
          <a:lstStyle/>
          <a:p>
            <a:pPr algn="ctr" indent="0" marL="0">
              <a:lnSpc>
                <a:spcPts val="1960"/>
              </a:lnSpc>
              <a:buNone/>
            </a:pPr>
            <a:r>
              <a:rPr lang="en-US" sz="1400" dirty="0">
                <a:solidFill>
                  <a:srgbClr val="1B2430"/>
                </a:solidFill>
                <a:latin typeface="Anuphan" pitchFamily="34" charset="0"/>
                <a:ea typeface="Anuphan" pitchFamily="34" charset="-122"/>
                <a:cs typeface="Anuphan" pitchFamily="34" charset="-120"/>
              </a:rPr>
              <a:t>60.0</a:t>
            </a:r>
            <a:endParaRPr lang="en-US" sz="1400" dirty="0"/>
          </a:p>
        </p:txBody>
      </p:sp>
      <p:sp>
        <p:nvSpPr>
          <p:cNvPr id="15" name="Text 13"/>
          <p:cNvSpPr/>
          <p:nvPr/>
        </p:nvSpPr>
        <p:spPr>
          <a:xfrm>
            <a:off x="6083300" y="228514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96.9</a:t>
            </a:r>
            <a:endParaRPr lang="en-US" sz="1400" dirty="0"/>
          </a:p>
        </p:txBody>
      </p:sp>
      <p:sp>
        <p:nvSpPr>
          <p:cNvPr id="16" name="Text 14"/>
          <p:cNvSpPr/>
          <p:nvPr/>
        </p:nvSpPr>
        <p:spPr>
          <a:xfrm>
            <a:off x="812800" y="3130451"/>
            <a:ext cx="1320800" cy="2992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nuphan" pitchFamily="34" charset="0"/>
                <a:ea typeface="Anuphan" pitchFamily="34" charset="-122"/>
                <a:cs typeface="Anuphan" pitchFamily="34" charset="-120"/>
              </a:rPr>
              <a:t>6–10 ชม.</a:t>
            </a:r>
            <a:endParaRPr lang="en-US" sz="1300" dirty="0"/>
          </a:p>
        </p:txBody>
      </p:sp>
      <p:sp>
        <p:nvSpPr>
          <p:cNvPr id="17" name="Text 15"/>
          <p:cNvSpPr/>
          <p:nvPr/>
        </p:nvSpPr>
        <p:spPr>
          <a:xfrm>
            <a:off x="2120900" y="2952651"/>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CFE0F1"/>
          </a:solidFill>
          <a:ln/>
        </p:spPr>
        <p:txBody>
          <a:bodyPr wrap="square" lIns="0" tIns="177800" rIns="0" bIns="152400" rtlCol="0" anchor="t">
            <a:normAutofit/>
          </a:bodyPr>
          <a:lstStyle/>
          <a:p>
            <a:pPr algn="ctr" indent="0" marL="0">
              <a:lnSpc>
                <a:spcPts val="1960"/>
              </a:lnSpc>
              <a:buNone/>
            </a:pPr>
            <a:r>
              <a:rPr lang="en-US" sz="1400" dirty="0">
                <a:solidFill>
                  <a:srgbClr val="1B2430"/>
                </a:solidFill>
                <a:latin typeface="Anuphan" pitchFamily="34" charset="0"/>
                <a:ea typeface="Anuphan" pitchFamily="34" charset="-122"/>
                <a:cs typeface="Anuphan" pitchFamily="34" charset="-120"/>
              </a:rPr>
              <a:t>59.2</a:t>
            </a:r>
            <a:endParaRPr lang="en-US" sz="1400" dirty="0"/>
          </a:p>
        </p:txBody>
      </p:sp>
      <p:sp>
        <p:nvSpPr>
          <p:cNvPr id="18" name="Text 16"/>
          <p:cNvSpPr/>
          <p:nvPr/>
        </p:nvSpPr>
        <p:spPr>
          <a:xfrm>
            <a:off x="3111500" y="2952651"/>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CFE0F1"/>
          </a:solidFill>
          <a:ln/>
        </p:spPr>
        <p:txBody>
          <a:bodyPr wrap="square" lIns="0" tIns="177800" rIns="0" bIns="152400" rtlCol="0" anchor="t">
            <a:normAutofit/>
          </a:bodyPr>
          <a:lstStyle/>
          <a:p>
            <a:pPr algn="ctr" indent="0" marL="0">
              <a:lnSpc>
                <a:spcPts val="1960"/>
              </a:lnSpc>
              <a:buNone/>
            </a:pPr>
            <a:r>
              <a:rPr lang="en-US" sz="1400" dirty="0">
                <a:solidFill>
                  <a:srgbClr val="1B2430"/>
                </a:solidFill>
                <a:latin typeface="Anuphan" pitchFamily="34" charset="0"/>
                <a:ea typeface="Anuphan" pitchFamily="34" charset="-122"/>
                <a:cs typeface="Anuphan" pitchFamily="34" charset="-120"/>
              </a:rPr>
              <a:t>64.6</a:t>
            </a:r>
            <a:endParaRPr lang="en-US" sz="1400" dirty="0"/>
          </a:p>
        </p:txBody>
      </p:sp>
      <p:sp>
        <p:nvSpPr>
          <p:cNvPr id="19" name="Text 17"/>
          <p:cNvSpPr/>
          <p:nvPr/>
        </p:nvSpPr>
        <p:spPr>
          <a:xfrm>
            <a:off x="4102100" y="2952651"/>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CFE0F1"/>
          </a:solidFill>
          <a:ln/>
        </p:spPr>
        <p:txBody>
          <a:bodyPr wrap="square" lIns="0" tIns="177800" rIns="0" bIns="152400" rtlCol="0" anchor="t">
            <a:normAutofit/>
          </a:bodyPr>
          <a:lstStyle/>
          <a:p>
            <a:pPr algn="ctr" indent="0" marL="0">
              <a:lnSpc>
                <a:spcPts val="1960"/>
              </a:lnSpc>
              <a:buNone/>
            </a:pPr>
            <a:r>
              <a:rPr lang="en-US" sz="1400" dirty="0">
                <a:solidFill>
                  <a:srgbClr val="1B2430"/>
                </a:solidFill>
                <a:latin typeface="Anuphan" pitchFamily="34" charset="0"/>
                <a:ea typeface="Anuphan" pitchFamily="34" charset="-122"/>
                <a:cs typeface="Anuphan" pitchFamily="34" charset="-120"/>
              </a:rPr>
              <a:t>59.7</a:t>
            </a:r>
            <a:endParaRPr lang="en-US" sz="1400" dirty="0"/>
          </a:p>
        </p:txBody>
      </p:sp>
      <p:sp>
        <p:nvSpPr>
          <p:cNvPr id="20" name="Text 18"/>
          <p:cNvSpPr/>
          <p:nvPr/>
        </p:nvSpPr>
        <p:spPr>
          <a:xfrm>
            <a:off x="5092700" y="2952651"/>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CFE0F1"/>
          </a:solidFill>
          <a:ln/>
        </p:spPr>
        <p:txBody>
          <a:bodyPr wrap="square" lIns="0" tIns="177800" rIns="0" bIns="152400" rtlCol="0" anchor="t">
            <a:normAutofit/>
          </a:bodyPr>
          <a:lstStyle/>
          <a:p>
            <a:pPr algn="ctr" indent="0" marL="0">
              <a:lnSpc>
                <a:spcPts val="1960"/>
              </a:lnSpc>
              <a:buNone/>
            </a:pPr>
            <a:r>
              <a:rPr lang="en-US" sz="1400" dirty="0">
                <a:solidFill>
                  <a:srgbClr val="1B2430"/>
                </a:solidFill>
                <a:latin typeface="Anuphan" pitchFamily="34" charset="0"/>
                <a:ea typeface="Anuphan" pitchFamily="34" charset="-122"/>
                <a:cs typeface="Anuphan" pitchFamily="34" charset="-120"/>
              </a:rPr>
              <a:t>61.6</a:t>
            </a:r>
            <a:endParaRPr lang="en-US" sz="1400" dirty="0"/>
          </a:p>
        </p:txBody>
      </p:sp>
      <p:sp>
        <p:nvSpPr>
          <p:cNvPr id="21" name="Text 19"/>
          <p:cNvSpPr/>
          <p:nvPr/>
        </p:nvSpPr>
        <p:spPr>
          <a:xfrm>
            <a:off x="6083300" y="2952651"/>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97.0</a:t>
            </a:r>
            <a:endParaRPr lang="en-US" sz="1400" dirty="0"/>
          </a:p>
        </p:txBody>
      </p:sp>
      <p:sp>
        <p:nvSpPr>
          <p:cNvPr id="22" name="Text 20"/>
          <p:cNvSpPr/>
          <p:nvPr/>
        </p:nvSpPr>
        <p:spPr>
          <a:xfrm>
            <a:off x="812800" y="3797957"/>
            <a:ext cx="1320800" cy="2992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E0A"/>
                </a:solidFill>
                <a:latin typeface="Anuphan" pitchFamily="34" charset="0"/>
                <a:ea typeface="Anuphan" pitchFamily="34" charset="-122"/>
                <a:cs typeface="Anuphan" pitchFamily="34" charset="-120"/>
              </a:rPr>
              <a:t>11–16 ชม.</a:t>
            </a:r>
            <a:endParaRPr lang="en-US" sz="1300" dirty="0"/>
          </a:p>
        </p:txBody>
      </p:sp>
      <p:sp>
        <p:nvSpPr>
          <p:cNvPr id="23" name="Text 21"/>
          <p:cNvSpPr/>
          <p:nvPr/>
        </p:nvSpPr>
        <p:spPr>
          <a:xfrm>
            <a:off x="2120900" y="3620157"/>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97.4</a:t>
            </a:r>
            <a:endParaRPr lang="en-US" sz="1400" dirty="0"/>
          </a:p>
        </p:txBody>
      </p:sp>
      <p:sp>
        <p:nvSpPr>
          <p:cNvPr id="24" name="Text 22"/>
          <p:cNvSpPr/>
          <p:nvPr/>
        </p:nvSpPr>
        <p:spPr>
          <a:xfrm>
            <a:off x="3111500" y="3620157"/>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93.7</a:t>
            </a:r>
            <a:endParaRPr lang="en-US" sz="1400" dirty="0"/>
          </a:p>
        </p:txBody>
      </p:sp>
      <p:sp>
        <p:nvSpPr>
          <p:cNvPr id="25" name="Text 23"/>
          <p:cNvSpPr/>
          <p:nvPr/>
        </p:nvSpPr>
        <p:spPr>
          <a:xfrm>
            <a:off x="4102100" y="3620157"/>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93.1</a:t>
            </a:r>
            <a:endParaRPr lang="en-US" sz="1400" dirty="0"/>
          </a:p>
        </p:txBody>
      </p:sp>
      <p:sp>
        <p:nvSpPr>
          <p:cNvPr id="26" name="Text 24"/>
          <p:cNvSpPr/>
          <p:nvPr/>
        </p:nvSpPr>
        <p:spPr>
          <a:xfrm>
            <a:off x="5092700" y="3620157"/>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92.6</a:t>
            </a:r>
            <a:endParaRPr lang="en-US" sz="1400" dirty="0"/>
          </a:p>
        </p:txBody>
      </p:sp>
      <p:sp>
        <p:nvSpPr>
          <p:cNvPr id="27" name="Text 25"/>
          <p:cNvSpPr/>
          <p:nvPr/>
        </p:nvSpPr>
        <p:spPr>
          <a:xfrm>
            <a:off x="6083300" y="3620157"/>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95.8</a:t>
            </a:r>
            <a:endParaRPr lang="en-US" sz="1400" dirty="0"/>
          </a:p>
        </p:txBody>
      </p:sp>
      <p:sp>
        <p:nvSpPr>
          <p:cNvPr id="28" name="Text 26"/>
          <p:cNvSpPr/>
          <p:nvPr/>
        </p:nvSpPr>
        <p:spPr>
          <a:xfrm>
            <a:off x="812800" y="4465464"/>
            <a:ext cx="1320800" cy="2992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E0A"/>
                </a:solidFill>
                <a:latin typeface="Anuphan" pitchFamily="34" charset="0"/>
                <a:ea typeface="Anuphan" pitchFamily="34" charset="-122"/>
                <a:cs typeface="Anuphan" pitchFamily="34" charset="-120"/>
              </a:rPr>
              <a:t>17–23 ชม.</a:t>
            </a:r>
            <a:endParaRPr lang="en-US" sz="1300" dirty="0"/>
          </a:p>
        </p:txBody>
      </p:sp>
      <p:sp>
        <p:nvSpPr>
          <p:cNvPr id="29" name="Text 27"/>
          <p:cNvSpPr/>
          <p:nvPr/>
        </p:nvSpPr>
        <p:spPr>
          <a:xfrm>
            <a:off x="2120900" y="428766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96.8</a:t>
            </a:r>
            <a:endParaRPr lang="en-US" sz="1400" dirty="0"/>
          </a:p>
        </p:txBody>
      </p:sp>
      <p:sp>
        <p:nvSpPr>
          <p:cNvPr id="30" name="Text 28"/>
          <p:cNvSpPr/>
          <p:nvPr/>
        </p:nvSpPr>
        <p:spPr>
          <a:xfrm>
            <a:off x="3111500" y="428766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95.5</a:t>
            </a:r>
            <a:endParaRPr lang="en-US" sz="1400" dirty="0"/>
          </a:p>
        </p:txBody>
      </p:sp>
      <p:sp>
        <p:nvSpPr>
          <p:cNvPr id="31" name="Text 29"/>
          <p:cNvSpPr/>
          <p:nvPr/>
        </p:nvSpPr>
        <p:spPr>
          <a:xfrm>
            <a:off x="4102100" y="428766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96.9</a:t>
            </a:r>
            <a:endParaRPr lang="en-US" sz="1400" dirty="0"/>
          </a:p>
        </p:txBody>
      </p:sp>
      <p:sp>
        <p:nvSpPr>
          <p:cNvPr id="32" name="Text 30"/>
          <p:cNvSpPr/>
          <p:nvPr/>
        </p:nvSpPr>
        <p:spPr>
          <a:xfrm>
            <a:off x="5092700" y="428766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95.2</a:t>
            </a:r>
            <a:endParaRPr lang="en-US" sz="1400" dirty="0"/>
          </a:p>
        </p:txBody>
      </p:sp>
      <p:sp>
        <p:nvSpPr>
          <p:cNvPr id="33" name="Text 31"/>
          <p:cNvSpPr/>
          <p:nvPr/>
        </p:nvSpPr>
        <p:spPr>
          <a:xfrm>
            <a:off x="6083300" y="4287664"/>
            <a:ext cx="952500" cy="629408"/>
          </a:xfrm>
          <a:custGeom>
            <a:avLst/>
            <a:gdLst/>
            <a:ahLst/>
            <a:cxnLst/>
            <a:rect l="l" t="t" r="r" b="b"/>
            <a:pathLst>
              <a:path w="952500" h="629408">
                <a:moveTo>
                  <a:pt x="38100" y="0"/>
                </a:moveTo>
                <a:lnTo>
                  <a:pt x="914400" y="0"/>
                </a:lnTo>
                <a:arcTo hR="38100" wR="38100" stAng="16200000" swAng="5400000"/>
                <a:lnTo>
                  <a:pt x="952500" y="591308"/>
                </a:lnTo>
                <a:arcTo hR="38100" wR="38100" stAng="0" swAng="5400000"/>
                <a:lnTo>
                  <a:pt x="38100" y="629408"/>
                </a:lnTo>
                <a:arcTo hR="38100" wR="38100" stAng="5400000" swAng="5400000"/>
                <a:lnTo>
                  <a:pt x="0" y="38100"/>
                </a:lnTo>
                <a:arcTo hR="38100" wR="38100" stAng="10800000" swAng="5400000"/>
                <a:close/>
              </a:path>
            </a:pathLst>
          </a:custGeom>
          <a:solidFill>
            <a:srgbClr val="E07A1F"/>
          </a:solidFill>
          <a:ln/>
        </p:spPr>
        <p:txBody>
          <a:bodyPr wrap="square" lIns="0" tIns="177800" rIns="0" bIns="152400" rtlCol="0" anchor="t">
            <a:normAutofit/>
          </a:bodyPr>
          <a:lstStyle/>
          <a:p>
            <a:pPr algn="ctr" indent="0" marL="0">
              <a:lnSpc>
                <a:spcPts val="1960"/>
              </a:lnSpc>
              <a:buNone/>
            </a:pPr>
            <a:r>
              <a:rPr lang="en-US" sz="1400" b="1" dirty="0">
                <a:solidFill>
                  <a:srgbClr val="1B2430"/>
                </a:solidFill>
                <a:latin typeface="Anuphan" pitchFamily="34" charset="0"/>
                <a:ea typeface="Anuphan" pitchFamily="34" charset="-122"/>
                <a:cs typeface="Anuphan" pitchFamily="34" charset="-120"/>
              </a:rPr>
              <a:t>97.0</a:t>
            </a:r>
            <a:endParaRPr lang="en-US" sz="1400" dirty="0"/>
          </a:p>
        </p:txBody>
      </p:sp>
      <p:sp>
        <p:nvSpPr>
          <p:cNvPr id="34" name="Text 32"/>
          <p:cNvSpPr/>
          <p:nvPr/>
        </p:nvSpPr>
        <p:spPr>
          <a:xfrm>
            <a:off x="7391400" y="1714215"/>
            <a:ext cx="4107434" cy="570273"/>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โซนสีฟ้ามีมุมเดียว:</a:t>
            </a:r>
            <a:r>
              <a:rPr lang="en-US" sz="1300" dirty="0">
                <a:solidFill>
                  <a:srgbClr val="1B2430"/>
                </a:solidFill>
                <a:latin typeface="Anuphan" pitchFamily="34" charset="0"/>
                <a:ea typeface="Anuphan" pitchFamily="34" charset="-122"/>
                <a:cs typeface="Anuphan" pitchFamily="34" charset="-120"/>
              </a:rPr>
              <a:t> ซ่อม ≤ 10 ชม. </a:t>
            </a:r>
            <a:r>
              <a:rPr lang="en-US" sz="1300" b="1" dirty="0">
                <a:solidFill>
                  <a:srgbClr val="1B2430"/>
                </a:solidFill>
                <a:latin typeface="Anuphan" pitchFamily="34" charset="0"/>
                <a:ea typeface="Anuphan" pitchFamily="34" charset="-122"/>
                <a:cs typeface="Anuphan" pitchFamily="34" charset="-120"/>
              </a:rPr>
              <a:t>และ</a:t>
            </a:r>
            <a:r>
              <a:rPr lang="en-US" sz="1300" dirty="0">
                <a:solidFill>
                  <a:srgbClr val="1B2430"/>
                </a:solidFill>
                <a:latin typeface="Anuphan" pitchFamily="34" charset="0"/>
                <a:ea typeface="Anuphan" pitchFamily="34" charset="-122"/>
                <a:cs typeface="Anuphan" pitchFamily="34" charset="-120"/>
              </a:rPr>
              <a:t> batch ≤ 800 หน่วย → High defectราว 59–65%</a:t>
            </a:r>
            <a:endParaRPr lang="en-US" sz="1300" dirty="0"/>
          </a:p>
        </p:txBody>
      </p:sp>
      <p:sp>
        <p:nvSpPr>
          <p:cNvPr id="35" name="Text 33"/>
          <p:cNvSpPr/>
          <p:nvPr/>
        </p:nvSpPr>
        <p:spPr>
          <a:xfrm>
            <a:off x="7391400" y="2411487"/>
            <a:ext cx="4107434" cy="297837"/>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โซนสีส้ม:</a:t>
            </a:r>
            <a:r>
              <a:rPr lang="en-US" sz="1300" dirty="0">
                <a:solidFill>
                  <a:srgbClr val="1B2430"/>
                </a:solidFill>
                <a:latin typeface="Anuphan" pitchFamily="34" charset="0"/>
                <a:ea typeface="Anuphan" pitchFamily="34" charset="-122"/>
                <a:cs typeface="Anuphan" pitchFamily="34" charset="-120"/>
              </a:rPr>
              <a:t> เกินข้อใดข้อหนึ่ง → 93–97% ทันที</a:t>
            </a:r>
            <a:endParaRPr lang="en-US" sz="1300" dirty="0"/>
          </a:p>
        </p:txBody>
      </p:sp>
      <p:sp>
        <p:nvSpPr>
          <p:cNvPr id="36" name="Text 34"/>
          <p:cNvSpPr/>
          <p:nvPr/>
        </p:nvSpPr>
        <p:spPr>
          <a:xfrm>
            <a:off x="7391400" y="2836329"/>
            <a:ext cx="3987800" cy="773473"/>
          </a:xfrm>
          <a:prstGeom prst="roundRect">
            <a:avLst>
              <a:gd name="adj" fmla="val 8210"/>
            </a:avLst>
          </a:prstGeom>
          <a:solidFill>
            <a:srgbClr val="E3ECF6"/>
          </a:solidFill>
          <a:ln/>
        </p:spPr>
        <p:txBody>
          <a:bodyPr wrap="square" lIns="121101" tIns="95701" rIns="9849" bIns="70301"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มี risk flag 1 ข้อ ก็เสี่ยงพอ ๆ กับมี 2 ข้อ (95.7% เทียบ 96.4%) → </a:t>
            </a:r>
            <a:r>
              <a:rPr lang="en-US" sz="1300" b="1" dirty="0">
                <a:solidFill>
                  <a:srgbClr val="1B2430"/>
                </a:solidFill>
                <a:latin typeface="Anuphan" pitchFamily="34" charset="0"/>
                <a:ea typeface="Anuphan" pitchFamily="34" charset="-122"/>
                <a:cs typeface="Anuphan" pitchFamily="34" charset="-120"/>
              </a:rPr>
              <a:t>ต้องคุมทั้งสองตัวพร้อมกัน</a:t>
            </a:r>
            <a:endParaRPr lang="en-US" sz="1300" dirty="0"/>
          </a:p>
        </p:txBody>
      </p:sp>
      <p:sp>
        <p:nvSpPr>
          <p:cNvPr id="37" name="Text 35"/>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8" name="Text 36"/>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22 / 27</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Q8 (2/2) · มี Operating window ที่ปลอดภัย ทั้งก่อนและหลังผลิตหรือไม่</a:t>
            </a:r>
            <a:endParaRPr lang="en-US" sz="1200" dirty="0"/>
          </a:p>
        </p:txBody>
      </p:sp>
      <p:sp>
        <p:nvSpPr>
          <p:cNvPr id="3" name="Text 1"/>
          <p:cNvSpPr/>
          <p:nvPr>
            <p:ph type="title"/>
          </p:nvPr>
        </p:nvSpPr>
        <p:spPr>
          <a:xfrm>
            <a:off x="812800" y="996665"/>
            <a:ext cx="10883392" cy="100330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Operating window: ไม่มี risk flag + ผ่าน QC = High defectแค่ 3.12%</a:t>
            </a:r>
            <a:endParaRPr lang="en-US" sz="2800" dirty="0"/>
          </a:p>
        </p:txBody>
      </p:sp>
      <p:sp>
        <p:nvSpPr>
          <p:cNvPr id="4" name="Text 2"/>
          <p:cNvSpPr/>
          <p:nvPr/>
        </p:nvSpPr>
        <p:spPr>
          <a:xfrm>
            <a:off x="812800" y="2203165"/>
            <a:ext cx="2158365"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6"/>
                </a:solidFill>
                <a:latin typeface="Anuphan" pitchFamily="34" charset="0"/>
                <a:ea typeface="Anuphan" pitchFamily="34" charset="-122"/>
                <a:cs typeface="Anuphan" pitchFamily="34" charset="-120"/>
              </a:rPr>
              <a:t>ก่อนผลิต ( risk flag)</a:t>
            </a:r>
            <a:endParaRPr lang="en-US" sz="1200" dirty="0"/>
          </a:p>
        </p:txBody>
      </p:sp>
      <p:sp>
        <p:nvSpPr>
          <p:cNvPr id="5" name="Text 3"/>
          <p:cNvSpPr/>
          <p:nvPr/>
        </p:nvSpPr>
        <p:spPr>
          <a:xfrm>
            <a:off x="2930525" y="2203165"/>
            <a:ext cx="1962150"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หลังผลิต: QC เตือน</a:t>
            </a:r>
            <a:endParaRPr lang="en-US" sz="1200" dirty="0"/>
          </a:p>
        </p:txBody>
      </p:sp>
      <p:sp>
        <p:nvSpPr>
          <p:cNvPr id="6" name="Text 4"/>
          <p:cNvSpPr/>
          <p:nvPr/>
        </p:nvSpPr>
        <p:spPr>
          <a:xfrm>
            <a:off x="4886325" y="2203165"/>
            <a:ext cx="1962150" cy="26006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Anuphan" pitchFamily="34" charset="0"/>
                <a:ea typeface="Anuphan" pitchFamily="34" charset="-122"/>
                <a:cs typeface="Anuphan" pitchFamily="34" charset="-120"/>
              </a:rPr>
              <a:t>หลังผลิต: QC ผ่าน</a:t>
            </a:r>
            <a:endParaRPr lang="en-US" sz="1200" dirty="0"/>
          </a:p>
        </p:txBody>
      </p:sp>
      <p:sp>
        <p:nvSpPr>
          <p:cNvPr id="7" name="Text 5"/>
          <p:cNvSpPr/>
          <p:nvPr/>
        </p:nvSpPr>
        <p:spPr>
          <a:xfrm>
            <a:off x="812800" y="2615629"/>
            <a:ext cx="2158365"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Anuphan" pitchFamily="34" charset="0"/>
                <a:ea typeface="Anuphan" pitchFamily="34" charset="-122"/>
                <a:cs typeface="Anuphan" pitchFamily="34" charset="-120"/>
              </a:rPr>
              <a:t>Low · 0 flag</a:t>
            </a:r>
            <a:endParaRPr lang="en-US" sz="1400" dirty="0"/>
          </a:p>
        </p:txBody>
      </p:sp>
      <p:sp>
        <p:nvSpPr>
          <p:cNvPr id="8" name="Text 6"/>
          <p:cNvSpPr/>
          <p:nvPr/>
        </p:nvSpPr>
        <p:spPr>
          <a:xfrm>
            <a:off x="812800" y="2902136"/>
            <a:ext cx="2158365"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1,130 batch (34.9%)</a:t>
            </a:r>
            <a:endParaRPr lang="en-US" sz="1200" dirty="0"/>
          </a:p>
        </p:txBody>
      </p:sp>
      <p:sp>
        <p:nvSpPr>
          <p:cNvPr id="9" name="Shape 7"/>
          <p:cNvSpPr/>
          <p:nvPr/>
        </p:nvSpPr>
        <p:spPr>
          <a:xfrm>
            <a:off x="2959100" y="2488629"/>
            <a:ext cx="1905000" cy="892500"/>
          </a:xfrm>
          <a:prstGeom prst="roundRect">
            <a:avLst>
              <a:gd name="adj" fmla="val 5692"/>
            </a:avLst>
          </a:prstGeom>
          <a:solidFill>
            <a:srgbClr val="E07A1F"/>
          </a:solidFill>
          <a:ln/>
        </p:spPr>
      </p:sp>
      <p:sp>
        <p:nvSpPr>
          <p:cNvPr id="10" name="Text 8"/>
          <p:cNvSpPr/>
          <p:nvPr/>
        </p:nvSpPr>
        <p:spPr>
          <a:xfrm>
            <a:off x="3316118" y="2615629"/>
            <a:ext cx="1190928" cy="416538"/>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B2430"/>
                </a:solidFill>
                <a:latin typeface="Prompt" pitchFamily="34" charset="0"/>
                <a:ea typeface="Prompt" pitchFamily="34" charset="-122"/>
                <a:cs typeface="Prompt" pitchFamily="34" charset="-120"/>
              </a:rPr>
              <a:t>96.49%</a:t>
            </a:r>
            <a:endParaRPr lang="en-US" sz="2000" dirty="0"/>
          </a:p>
        </p:txBody>
      </p:sp>
      <p:sp>
        <p:nvSpPr>
          <p:cNvPr id="11" name="Text 9"/>
          <p:cNvSpPr/>
          <p:nvPr/>
        </p:nvSpPr>
        <p:spPr>
          <a:xfrm>
            <a:off x="3452153" y="3019462"/>
            <a:ext cx="91885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713 batch</a:t>
            </a:r>
            <a:endParaRPr lang="en-US" sz="1200" dirty="0"/>
          </a:p>
        </p:txBody>
      </p:sp>
      <p:sp>
        <p:nvSpPr>
          <p:cNvPr id="12" name="Shape 10"/>
          <p:cNvSpPr/>
          <p:nvPr/>
        </p:nvSpPr>
        <p:spPr>
          <a:xfrm>
            <a:off x="4914900" y="2488629"/>
            <a:ext cx="1905000" cy="892500"/>
          </a:xfrm>
          <a:prstGeom prst="roundRect">
            <a:avLst>
              <a:gd name="adj" fmla="val 5692"/>
            </a:avLst>
          </a:prstGeom>
          <a:solidFill>
            <a:srgbClr val="2563A8"/>
          </a:solidFill>
          <a:ln/>
        </p:spPr>
      </p:sp>
      <p:sp>
        <p:nvSpPr>
          <p:cNvPr id="13" name="Text 11"/>
          <p:cNvSpPr/>
          <p:nvPr/>
        </p:nvSpPr>
        <p:spPr>
          <a:xfrm>
            <a:off x="5429510" y="2615629"/>
            <a:ext cx="875780" cy="416538"/>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F6F4EF"/>
                </a:solidFill>
                <a:latin typeface="Prompt" pitchFamily="34" charset="0"/>
                <a:ea typeface="Prompt" pitchFamily="34" charset="-122"/>
                <a:cs typeface="Prompt" pitchFamily="34" charset="-120"/>
              </a:rPr>
              <a:t>3.12%</a:t>
            </a:r>
            <a:endParaRPr lang="en-US" sz="2000" dirty="0"/>
          </a:p>
        </p:txBody>
      </p:sp>
      <p:sp>
        <p:nvSpPr>
          <p:cNvPr id="14" name="Text 12"/>
          <p:cNvSpPr/>
          <p:nvPr/>
        </p:nvSpPr>
        <p:spPr>
          <a:xfrm>
            <a:off x="4971574" y="3019462"/>
            <a:ext cx="1791652"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4EF"/>
                </a:solidFill>
                <a:latin typeface="Anuphan" pitchFamily="34" charset="0"/>
                <a:ea typeface="Anuphan" pitchFamily="34" charset="-122"/>
                <a:cs typeface="Anuphan" pitchFamily="34" charset="-120"/>
              </a:rPr>
              <a:t>417 batch · ปลอดภัย</a:t>
            </a:r>
            <a:endParaRPr lang="en-US" sz="1200" dirty="0"/>
          </a:p>
        </p:txBody>
      </p:sp>
      <p:sp>
        <p:nvSpPr>
          <p:cNvPr id="15" name="Text 13"/>
          <p:cNvSpPr/>
          <p:nvPr/>
        </p:nvSpPr>
        <p:spPr>
          <a:xfrm>
            <a:off x="812800" y="3558927"/>
            <a:ext cx="2158365"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Anuphan" pitchFamily="34" charset="0"/>
                <a:ea typeface="Anuphan" pitchFamily="34" charset="-122"/>
                <a:cs typeface="Anuphan" pitchFamily="34" charset="-120"/>
              </a:rPr>
              <a:t>Medium · 1 flag</a:t>
            </a:r>
            <a:endParaRPr lang="en-US" sz="1400" dirty="0"/>
          </a:p>
        </p:txBody>
      </p:sp>
      <p:sp>
        <p:nvSpPr>
          <p:cNvPr id="16" name="Text 14"/>
          <p:cNvSpPr/>
          <p:nvPr/>
        </p:nvSpPr>
        <p:spPr>
          <a:xfrm>
            <a:off x="812800" y="3845433"/>
            <a:ext cx="2158365"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1,719 batch (53.1%)</a:t>
            </a:r>
            <a:endParaRPr lang="en-US" sz="1200" dirty="0"/>
          </a:p>
        </p:txBody>
      </p:sp>
      <p:sp>
        <p:nvSpPr>
          <p:cNvPr id="17" name="Shape 15"/>
          <p:cNvSpPr/>
          <p:nvPr/>
        </p:nvSpPr>
        <p:spPr>
          <a:xfrm>
            <a:off x="2959100" y="3431927"/>
            <a:ext cx="1905000" cy="892500"/>
          </a:xfrm>
          <a:prstGeom prst="roundRect">
            <a:avLst>
              <a:gd name="adj" fmla="val 5692"/>
            </a:avLst>
          </a:prstGeom>
          <a:solidFill>
            <a:srgbClr val="E07A1F"/>
          </a:solidFill>
          <a:ln/>
        </p:spPr>
      </p:sp>
      <p:sp>
        <p:nvSpPr>
          <p:cNvPr id="18" name="Text 16"/>
          <p:cNvSpPr/>
          <p:nvPr/>
        </p:nvSpPr>
        <p:spPr>
          <a:xfrm>
            <a:off x="3336074" y="3558927"/>
            <a:ext cx="1151053" cy="416538"/>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B2430"/>
                </a:solidFill>
                <a:latin typeface="Prompt" pitchFamily="34" charset="0"/>
                <a:ea typeface="Prompt" pitchFamily="34" charset="-122"/>
                <a:cs typeface="Prompt" pitchFamily="34" charset="-120"/>
              </a:rPr>
              <a:t>95.67%</a:t>
            </a:r>
            <a:endParaRPr lang="en-US" sz="2000" dirty="0"/>
          </a:p>
        </p:txBody>
      </p:sp>
      <p:sp>
        <p:nvSpPr>
          <p:cNvPr id="19" name="Text 17"/>
          <p:cNvSpPr/>
          <p:nvPr/>
        </p:nvSpPr>
        <p:spPr>
          <a:xfrm>
            <a:off x="3364436" y="3962760"/>
            <a:ext cx="1094293"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1,108 batch</a:t>
            </a:r>
            <a:endParaRPr lang="en-US" sz="1200" dirty="0"/>
          </a:p>
        </p:txBody>
      </p:sp>
      <p:sp>
        <p:nvSpPr>
          <p:cNvPr id="20" name="Shape 18"/>
          <p:cNvSpPr/>
          <p:nvPr/>
        </p:nvSpPr>
        <p:spPr>
          <a:xfrm>
            <a:off x="4914900" y="3431927"/>
            <a:ext cx="1905000" cy="892500"/>
          </a:xfrm>
          <a:prstGeom prst="roundRect">
            <a:avLst>
              <a:gd name="adj" fmla="val 5692"/>
            </a:avLst>
          </a:prstGeom>
          <a:solidFill>
            <a:srgbClr val="E07A1F"/>
          </a:solidFill>
          <a:ln/>
        </p:spPr>
      </p:sp>
      <p:sp>
        <p:nvSpPr>
          <p:cNvPr id="21" name="Text 19"/>
          <p:cNvSpPr/>
          <p:nvPr/>
        </p:nvSpPr>
        <p:spPr>
          <a:xfrm>
            <a:off x="5293735" y="3558927"/>
            <a:ext cx="1147330" cy="416538"/>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B2430"/>
                </a:solidFill>
                <a:latin typeface="Prompt" pitchFamily="34" charset="0"/>
                <a:ea typeface="Prompt" pitchFamily="34" charset="-122"/>
                <a:cs typeface="Prompt" pitchFamily="34" charset="-120"/>
              </a:rPr>
              <a:t>95.74%</a:t>
            </a:r>
            <a:endParaRPr lang="en-US" sz="2000" dirty="0"/>
          </a:p>
        </p:txBody>
      </p:sp>
      <p:sp>
        <p:nvSpPr>
          <p:cNvPr id="22" name="Text 20"/>
          <p:cNvSpPr/>
          <p:nvPr/>
        </p:nvSpPr>
        <p:spPr>
          <a:xfrm>
            <a:off x="5407953" y="3962760"/>
            <a:ext cx="91885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611 batch</a:t>
            </a:r>
            <a:endParaRPr lang="en-US" sz="1200" dirty="0"/>
          </a:p>
        </p:txBody>
      </p:sp>
      <p:sp>
        <p:nvSpPr>
          <p:cNvPr id="23" name="Text 21"/>
          <p:cNvSpPr/>
          <p:nvPr/>
        </p:nvSpPr>
        <p:spPr>
          <a:xfrm>
            <a:off x="812800" y="4502224"/>
            <a:ext cx="2158365" cy="2992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Anuphan" pitchFamily="34" charset="0"/>
                <a:ea typeface="Anuphan" pitchFamily="34" charset="-122"/>
                <a:cs typeface="Anuphan" pitchFamily="34" charset="-120"/>
              </a:rPr>
              <a:t>High · 2 flag</a:t>
            </a:r>
            <a:endParaRPr lang="en-US" sz="1400" dirty="0"/>
          </a:p>
        </p:txBody>
      </p:sp>
      <p:sp>
        <p:nvSpPr>
          <p:cNvPr id="24" name="Text 22"/>
          <p:cNvSpPr/>
          <p:nvPr/>
        </p:nvSpPr>
        <p:spPr>
          <a:xfrm>
            <a:off x="812800" y="4788731"/>
            <a:ext cx="2158365"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391 batch (12.1%)</a:t>
            </a:r>
            <a:endParaRPr lang="en-US" sz="1200" dirty="0"/>
          </a:p>
        </p:txBody>
      </p:sp>
      <p:sp>
        <p:nvSpPr>
          <p:cNvPr id="25" name="Shape 23"/>
          <p:cNvSpPr/>
          <p:nvPr/>
        </p:nvSpPr>
        <p:spPr>
          <a:xfrm>
            <a:off x="2959100" y="4375224"/>
            <a:ext cx="1905000" cy="892500"/>
          </a:xfrm>
          <a:prstGeom prst="roundRect">
            <a:avLst>
              <a:gd name="adj" fmla="val 5692"/>
            </a:avLst>
          </a:prstGeom>
          <a:solidFill>
            <a:srgbClr val="E07A1F"/>
          </a:solidFill>
          <a:ln/>
        </p:spPr>
      </p:sp>
      <p:sp>
        <p:nvSpPr>
          <p:cNvPr id="26" name="Text 24"/>
          <p:cNvSpPr/>
          <p:nvPr/>
        </p:nvSpPr>
        <p:spPr>
          <a:xfrm>
            <a:off x="3376641" y="4502224"/>
            <a:ext cx="1069917" cy="416538"/>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B2430"/>
                </a:solidFill>
                <a:latin typeface="Prompt" pitchFamily="34" charset="0"/>
                <a:ea typeface="Prompt" pitchFamily="34" charset="-122"/>
                <a:cs typeface="Prompt" pitchFamily="34" charset="-120"/>
              </a:rPr>
              <a:t>97.15%</a:t>
            </a:r>
            <a:endParaRPr lang="en-US" sz="2000" dirty="0"/>
          </a:p>
        </p:txBody>
      </p:sp>
      <p:sp>
        <p:nvSpPr>
          <p:cNvPr id="27" name="Text 25"/>
          <p:cNvSpPr/>
          <p:nvPr/>
        </p:nvSpPr>
        <p:spPr>
          <a:xfrm>
            <a:off x="3452153" y="4906070"/>
            <a:ext cx="91885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246 batch</a:t>
            </a:r>
            <a:endParaRPr lang="en-US" sz="1200" dirty="0"/>
          </a:p>
        </p:txBody>
      </p:sp>
      <p:sp>
        <p:nvSpPr>
          <p:cNvPr id="28" name="Shape 26"/>
          <p:cNvSpPr/>
          <p:nvPr/>
        </p:nvSpPr>
        <p:spPr>
          <a:xfrm>
            <a:off x="4914900" y="4375224"/>
            <a:ext cx="1905000" cy="892500"/>
          </a:xfrm>
          <a:prstGeom prst="roundRect">
            <a:avLst>
              <a:gd name="adj" fmla="val 5692"/>
            </a:avLst>
          </a:prstGeom>
          <a:solidFill>
            <a:srgbClr val="E07A1F"/>
          </a:solidFill>
          <a:ln/>
        </p:spPr>
      </p:sp>
      <p:sp>
        <p:nvSpPr>
          <p:cNvPr id="29" name="Text 27"/>
          <p:cNvSpPr/>
          <p:nvPr/>
        </p:nvSpPr>
        <p:spPr>
          <a:xfrm>
            <a:off x="5332441" y="4502224"/>
            <a:ext cx="1069917" cy="416538"/>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B2430"/>
                </a:solidFill>
                <a:latin typeface="Prompt" pitchFamily="34" charset="0"/>
                <a:ea typeface="Prompt" pitchFamily="34" charset="-122"/>
                <a:cs typeface="Prompt" pitchFamily="34" charset="-120"/>
              </a:rPr>
              <a:t>95.17%</a:t>
            </a:r>
            <a:endParaRPr lang="en-US" sz="2000" dirty="0"/>
          </a:p>
        </p:txBody>
      </p:sp>
      <p:sp>
        <p:nvSpPr>
          <p:cNvPr id="30" name="Text 28"/>
          <p:cNvSpPr/>
          <p:nvPr/>
        </p:nvSpPr>
        <p:spPr>
          <a:xfrm>
            <a:off x="5407953" y="4906070"/>
            <a:ext cx="918859" cy="2600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Anuphan" pitchFamily="34" charset="0"/>
                <a:ea typeface="Anuphan" pitchFamily="34" charset="-122"/>
                <a:cs typeface="Anuphan" pitchFamily="34" charset="-120"/>
              </a:rPr>
              <a:t>145 batch</a:t>
            </a:r>
            <a:endParaRPr lang="en-US" sz="1200" dirty="0"/>
          </a:p>
        </p:txBody>
      </p:sp>
      <p:sp>
        <p:nvSpPr>
          <p:cNvPr id="31" name="Text 29"/>
          <p:cNvSpPr/>
          <p:nvPr/>
        </p:nvSpPr>
        <p:spPr>
          <a:xfrm>
            <a:off x="7175500" y="2203165"/>
            <a:ext cx="5016500" cy="297837"/>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ด่าน 1 ก่อนผลิต:</a:t>
            </a:r>
            <a:r>
              <a:rPr lang="en-US" sz="1300" dirty="0">
                <a:solidFill>
                  <a:srgbClr val="1B2430"/>
                </a:solidFill>
                <a:latin typeface="Anuphan" pitchFamily="34" charset="0"/>
                <a:ea typeface="Anuphan" pitchFamily="34" charset="-122"/>
                <a:cs typeface="Anuphan" pitchFamily="34" charset="-120"/>
              </a:rPr>
              <a:t> flag = ซ่อม &gt; 10 ชม. หรือ batch &gt; 800</a:t>
            </a:r>
            <a:endParaRPr lang="en-US" sz="1300" dirty="0"/>
          </a:p>
        </p:txBody>
      </p:sp>
      <p:sp>
        <p:nvSpPr>
          <p:cNvPr id="32" name="Text 30"/>
          <p:cNvSpPr/>
          <p:nvPr/>
        </p:nvSpPr>
        <p:spPr>
          <a:xfrm>
            <a:off x="7175500" y="2602607"/>
            <a:ext cx="4329811" cy="570273"/>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ด่าน 2 หลังผลิต:</a:t>
            </a:r>
            <a:r>
              <a:rPr lang="en-US" sz="1300" dirty="0">
                <a:solidFill>
                  <a:srgbClr val="1B2430"/>
                </a:solidFill>
                <a:latin typeface="Anuphan" pitchFamily="34" charset="0"/>
                <a:ea typeface="Anuphan" pitchFamily="34" charset="-122"/>
                <a:cs typeface="Anuphan" pitchFamily="34" charset="-120"/>
              </a:rPr>
              <a:t> QC เตือน = ของเสีย &gt; 3 หรือ คะแนน &lt; 75</a:t>
            </a:r>
            <a:endParaRPr lang="en-US" sz="1300" dirty="0"/>
          </a:p>
        </p:txBody>
      </p:sp>
      <p:sp>
        <p:nvSpPr>
          <p:cNvPr id="33" name="Text 31"/>
          <p:cNvSpPr/>
          <p:nvPr/>
        </p:nvSpPr>
        <p:spPr>
          <a:xfrm>
            <a:off x="7175500" y="3274479"/>
            <a:ext cx="4203700" cy="475637"/>
          </a:xfrm>
          <a:prstGeom prst="roundRect">
            <a:avLst>
              <a:gd name="adj" fmla="val 13351"/>
            </a:avLst>
          </a:prstGeom>
          <a:solidFill>
            <a:srgbClr val="E3ECF6"/>
          </a:solidFill>
          <a:ln/>
        </p:spPr>
        <p:txBody>
          <a:bodyPr wrap="square" lIns="108401" tIns="83001" rIns="0" bIns="57601"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ผ่านทั้งสองด่าน → เสี่ยงเพียง </a:t>
            </a:r>
            <a:r>
              <a:rPr lang="en-US" sz="1300" b="1" dirty="0">
                <a:solidFill>
                  <a:srgbClr val="1B2430"/>
                </a:solidFill>
                <a:latin typeface="Anuphan" pitchFamily="34" charset="0"/>
                <a:ea typeface="Anuphan" pitchFamily="34" charset="-122"/>
                <a:cs typeface="Anuphan" pitchFamily="34" charset="-120"/>
              </a:rPr>
              <a:t>3.12%</a:t>
            </a:r>
            <a:endParaRPr lang="en-US" sz="1300" dirty="0"/>
          </a:p>
        </p:txBody>
      </p:sp>
      <p:sp>
        <p:nvSpPr>
          <p:cNvPr id="34" name="Text 32"/>
          <p:cNvSpPr/>
          <p:nvPr/>
        </p:nvSpPr>
        <p:spPr>
          <a:xfrm>
            <a:off x="7175500" y="3877109"/>
            <a:ext cx="4329811" cy="5282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F5966"/>
                </a:solidFill>
                <a:latin typeface="Anuphan" pitchFamily="34" charset="0"/>
                <a:ea typeface="Anuphan" pitchFamily="34" charset="-122"/>
                <a:cs typeface="Anuphan" pitchFamily="34" charset="-120"/>
              </a:rPr>
              <a:t>ไม่มี flagแต่ QC เตือน ยังเสี่ยง 96.49% → สาเหตุส่วนนี้อยู่นอกตัวแปรที่มีในข้อมูล ต้องหาข้อมูลเพิ่ม</a:t>
            </a:r>
            <a:endParaRPr lang="en-US" sz="1200" dirty="0"/>
          </a:p>
        </p:txBody>
      </p:sp>
      <p:sp>
        <p:nvSpPr>
          <p:cNvPr id="35" name="Text 33"/>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36" name="Text 34"/>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23 / 27</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430"/>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2A65A"/>
                </a:solidFill>
                <a:latin typeface="Anuphan" pitchFamily="34" charset="0"/>
                <a:ea typeface="Anuphan" pitchFamily="34" charset="-122"/>
                <a:cs typeface="Anuphan" pitchFamily="34" charset="-120"/>
              </a:rPr>
              <a:t>Q9 · Unknown Question: label is_high_defect นิยามจากอะไร</a:t>
            </a:r>
            <a:endParaRPr lang="en-US" sz="1200" dirty="0"/>
          </a:p>
        </p:txBody>
      </p:sp>
      <p:sp>
        <p:nvSpPr>
          <p:cNvPr id="3" name="Text 1"/>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F6F4EF"/>
                </a:solidFill>
                <a:latin typeface="Prompt" pitchFamily="34" charset="0"/>
                <a:ea typeface="Prompt" pitchFamily="34" charset="-122"/>
                <a:cs typeface="Prompt" pitchFamily="34" charset="-120"/>
              </a:rPr>
              <a:t>คำถามที่ไม่มีใครถาม: label High defect มาจากไหน?</a:t>
            </a:r>
            <a:endParaRPr lang="en-US" sz="2800" dirty="0"/>
          </a:p>
        </p:txBody>
      </p:sp>
      <p:sp>
        <p:nvSpPr>
          <p:cNvPr id="4" name="Text 2"/>
          <p:cNvSpPr/>
          <p:nvPr/>
        </p:nvSpPr>
        <p:spPr>
          <a:xfrm>
            <a:off x="812800" y="1739615"/>
            <a:ext cx="6409690" cy="612126"/>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F2A65A"/>
                </a:solidFill>
                <a:latin typeface="Anuphan" pitchFamily="34" charset="0"/>
                <a:ea typeface="Anuphan" pitchFamily="34" charset="-122"/>
                <a:cs typeface="Anuphan" pitchFamily="34" charset="-120"/>
              </a:rPr>
              <a:t>เบาะแส:</a:t>
            </a:r>
            <a:r>
              <a:rPr lang="en-US" sz="1400" dirty="0">
                <a:solidFill>
                  <a:srgbClr val="C9D2DC"/>
                </a:solidFill>
                <a:latin typeface="Anuphan" pitchFamily="34" charset="0"/>
                <a:ea typeface="Anuphan" pitchFamily="34" charset="-122"/>
                <a:cs typeface="Anuphan" pitchFamily="34" charset="-120"/>
              </a:rPr>
              <a:t> batch ที่อัตราของเสียต่ำสุด (0.5–1) ยังถูกติด label High defect ถึง 74.6% — labelจึงไม่ได้มาจากอัตราของเสียอย่างเดียว</a:t>
            </a:r>
            <a:endParaRPr lang="en-US" sz="1400" dirty="0"/>
          </a:p>
        </p:txBody>
      </p:sp>
      <p:sp>
        <p:nvSpPr>
          <p:cNvPr id="5" name="Text 3"/>
          <p:cNvSpPr/>
          <p:nvPr/>
        </p:nvSpPr>
        <p:spPr>
          <a:xfrm>
            <a:off x="812800" y="2478745"/>
            <a:ext cx="6409690" cy="318763"/>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F2A65A"/>
                </a:solidFill>
                <a:latin typeface="Anuphan" pitchFamily="34" charset="0"/>
                <a:ea typeface="Anuphan" pitchFamily="34" charset="-122"/>
                <a:cs typeface="Anuphan" pitchFamily="34" charset="-120"/>
              </a:rPr>
              <a:t>สมมติฐาน:</a:t>
            </a:r>
            <a:r>
              <a:rPr lang="en-US" sz="1400" dirty="0">
                <a:solidFill>
                  <a:srgbClr val="C9D2DC"/>
                </a:solidFill>
                <a:latin typeface="Anuphan" pitchFamily="34" charset="0"/>
                <a:ea typeface="Anuphan" pitchFamily="34" charset="-122"/>
                <a:cs typeface="Anuphan" pitchFamily="34" charset="-120"/>
              </a:rPr>
              <a:t> label = 1 เมื่อเกินเกณฑ์ข้อใดข้อหนึ่ง</a:t>
            </a:r>
            <a:endParaRPr lang="en-US" sz="1400" dirty="0"/>
          </a:p>
        </p:txBody>
      </p:sp>
      <p:sp>
        <p:nvSpPr>
          <p:cNvPr id="6" name="Text 4"/>
          <p:cNvSpPr/>
          <p:nvPr/>
        </p:nvSpPr>
        <p:spPr>
          <a:xfrm>
            <a:off x="812800" y="2924510"/>
            <a:ext cx="3073400" cy="432053"/>
          </a:xfrm>
          <a:prstGeom prst="roundRect">
            <a:avLst>
              <a:gd name="adj" fmla="val 11758"/>
            </a:avLst>
          </a:prstGeom>
          <a:solidFill>
            <a:srgbClr val="26323F"/>
          </a:solidFill>
          <a:ln/>
        </p:spPr>
        <p:txBody>
          <a:bodyPr wrap="square" lIns="112121" tIns="74021" rIns="27539" bIns="48621" rtlCol="0" anchor="t">
            <a:normAutofit/>
          </a:bodyPr>
          <a:lstStyle/>
          <a:p>
            <a:pPr algn="l" indent="0" marL="0">
              <a:lnSpc>
                <a:spcPts val="1820"/>
              </a:lnSpc>
              <a:buNone/>
            </a:pPr>
            <a:r>
              <a:rPr lang="en-US" sz="1300" dirty="0">
                <a:solidFill>
                  <a:srgbClr val="F6F4EF"/>
                </a:solidFill>
                <a:latin typeface="Anuphan" pitchFamily="34" charset="0"/>
                <a:ea typeface="Anuphan" pitchFamily="34" charset="-122"/>
                <a:cs typeface="Anuphan" pitchFamily="34" charset="-120"/>
              </a:rPr>
              <a:t>ซ่อม &gt; 10 ชม.</a:t>
            </a:r>
            <a:endParaRPr lang="en-US" sz="1300" dirty="0"/>
          </a:p>
        </p:txBody>
      </p:sp>
      <p:sp>
        <p:nvSpPr>
          <p:cNvPr id="7" name="Text 5"/>
          <p:cNvSpPr/>
          <p:nvPr/>
        </p:nvSpPr>
        <p:spPr>
          <a:xfrm>
            <a:off x="3962400" y="2924510"/>
            <a:ext cx="3073400" cy="432053"/>
          </a:xfrm>
          <a:prstGeom prst="roundRect">
            <a:avLst>
              <a:gd name="adj" fmla="val 11758"/>
            </a:avLst>
          </a:prstGeom>
          <a:solidFill>
            <a:srgbClr val="26323F"/>
          </a:solidFill>
          <a:ln/>
        </p:spPr>
        <p:txBody>
          <a:bodyPr wrap="square" lIns="112121" tIns="74021" rIns="27539" bIns="48621" rtlCol="0" anchor="t">
            <a:normAutofit/>
          </a:bodyPr>
          <a:lstStyle/>
          <a:p>
            <a:pPr algn="l" indent="0" marL="0">
              <a:lnSpc>
                <a:spcPts val="1820"/>
              </a:lnSpc>
              <a:buNone/>
            </a:pPr>
            <a:r>
              <a:rPr lang="en-US" sz="1300" dirty="0">
                <a:solidFill>
                  <a:srgbClr val="F6F4EF"/>
                </a:solidFill>
                <a:latin typeface="Anuphan" pitchFamily="34" charset="0"/>
                <a:ea typeface="Anuphan" pitchFamily="34" charset="-122"/>
                <a:cs typeface="Anuphan" pitchFamily="34" charset="-120"/>
              </a:rPr>
              <a:t>batch &gt; 800 หน่วย</a:t>
            </a:r>
            <a:endParaRPr lang="en-US" sz="1300" dirty="0"/>
          </a:p>
        </p:txBody>
      </p:sp>
      <p:sp>
        <p:nvSpPr>
          <p:cNvPr id="8" name="Text 6"/>
          <p:cNvSpPr/>
          <p:nvPr/>
        </p:nvSpPr>
        <p:spPr>
          <a:xfrm>
            <a:off x="812800" y="3432758"/>
            <a:ext cx="3073400" cy="432053"/>
          </a:xfrm>
          <a:prstGeom prst="roundRect">
            <a:avLst>
              <a:gd name="adj" fmla="val 11758"/>
            </a:avLst>
          </a:prstGeom>
          <a:solidFill>
            <a:srgbClr val="26323F"/>
          </a:solidFill>
          <a:ln/>
        </p:spPr>
        <p:txBody>
          <a:bodyPr wrap="square" lIns="112121" tIns="74021" rIns="27539" bIns="48621" rtlCol="0" anchor="t">
            <a:normAutofit/>
          </a:bodyPr>
          <a:lstStyle/>
          <a:p>
            <a:pPr algn="l" indent="0" marL="0">
              <a:lnSpc>
                <a:spcPts val="1820"/>
              </a:lnSpc>
              <a:buNone/>
            </a:pPr>
            <a:r>
              <a:rPr lang="en-US" sz="1300" dirty="0">
                <a:solidFill>
                  <a:srgbClr val="F6F4EF"/>
                </a:solidFill>
                <a:latin typeface="Anuphan" pitchFamily="34" charset="0"/>
                <a:ea typeface="Anuphan" pitchFamily="34" charset="-122"/>
                <a:cs typeface="Anuphan" pitchFamily="34" charset="-120"/>
              </a:rPr>
              <a:t>อัตราของเสีย &gt; 3</a:t>
            </a:r>
            <a:endParaRPr lang="en-US" sz="1300" dirty="0"/>
          </a:p>
        </p:txBody>
      </p:sp>
      <p:sp>
        <p:nvSpPr>
          <p:cNvPr id="9" name="Text 7"/>
          <p:cNvSpPr/>
          <p:nvPr/>
        </p:nvSpPr>
        <p:spPr>
          <a:xfrm>
            <a:off x="3962400" y="3432758"/>
            <a:ext cx="3073400" cy="432053"/>
          </a:xfrm>
          <a:prstGeom prst="roundRect">
            <a:avLst>
              <a:gd name="adj" fmla="val 11758"/>
            </a:avLst>
          </a:prstGeom>
          <a:solidFill>
            <a:srgbClr val="26323F"/>
          </a:solidFill>
          <a:ln/>
        </p:spPr>
        <p:txBody>
          <a:bodyPr wrap="square" lIns="112121" tIns="74021" rIns="27539" bIns="48621" rtlCol="0" anchor="t">
            <a:normAutofit/>
          </a:bodyPr>
          <a:lstStyle/>
          <a:p>
            <a:pPr algn="l" indent="0" marL="0">
              <a:lnSpc>
                <a:spcPts val="1820"/>
              </a:lnSpc>
              <a:buNone/>
            </a:pPr>
            <a:r>
              <a:rPr lang="en-US" sz="1300" dirty="0">
                <a:solidFill>
                  <a:srgbClr val="F6F4EF"/>
                </a:solidFill>
                <a:latin typeface="Anuphan" pitchFamily="34" charset="0"/>
                <a:ea typeface="Anuphan" pitchFamily="34" charset="-122"/>
                <a:cs typeface="Anuphan" pitchFamily="34" charset="-120"/>
              </a:rPr>
              <a:t>คะแนนคุณภาพ &lt; 75</a:t>
            </a:r>
            <a:endParaRPr lang="en-US" sz="1300" dirty="0"/>
          </a:p>
        </p:txBody>
      </p:sp>
      <p:sp>
        <p:nvSpPr>
          <p:cNvPr id="10" name="Text 8"/>
          <p:cNvSpPr/>
          <p:nvPr/>
        </p:nvSpPr>
        <p:spPr>
          <a:xfrm>
            <a:off x="7442200" y="1739615"/>
            <a:ext cx="4055110" cy="905488"/>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2A65A"/>
                </a:solidFill>
                <a:latin typeface="Prompt" pitchFamily="34" charset="0"/>
                <a:ea typeface="Prompt" pitchFamily="34" charset="-122"/>
                <a:cs typeface="Prompt" pitchFamily="34" charset="-120"/>
              </a:rPr>
              <a:t>96.11%</a:t>
            </a:r>
            <a:endParaRPr lang="en-US" sz="6000" dirty="0"/>
          </a:p>
        </p:txBody>
      </p:sp>
      <p:sp>
        <p:nvSpPr>
          <p:cNvPr id="11" name="Text 9"/>
          <p:cNvSpPr/>
          <p:nvPr/>
        </p:nvSpPr>
        <p:spPr>
          <a:xfrm>
            <a:off x="7442200" y="2746710"/>
            <a:ext cx="4055110" cy="2992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F"/>
                </a:solidFill>
                <a:latin typeface="Anuphan" pitchFamily="34" charset="0"/>
                <a:ea typeface="Anuphan" pitchFamily="34" charset="-122"/>
                <a:cs typeface="Anuphan" pitchFamily="34" charset="-120"/>
              </a:rPr>
              <a:t>กฎ 4 ข้อนี้ตรงกับ labelจริง (3,114 batch)</a:t>
            </a:r>
            <a:endParaRPr lang="en-US" sz="1400" dirty="0"/>
          </a:p>
        </p:txBody>
      </p:sp>
      <p:sp>
        <p:nvSpPr>
          <p:cNvPr id="12" name="Text 10"/>
          <p:cNvSpPr/>
          <p:nvPr/>
        </p:nvSpPr>
        <p:spPr>
          <a:xfrm>
            <a:off x="7442200" y="3147516"/>
            <a:ext cx="4055110" cy="26843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D2DC"/>
                </a:solidFill>
                <a:latin typeface="Anuphan" pitchFamily="34" charset="0"/>
                <a:ea typeface="Anuphan" pitchFamily="34" charset="-122"/>
                <a:cs typeface="Anuphan" pitchFamily="34" charset="-120"/>
              </a:rPr>
              <a:t>เกินเกณฑ์ แต่ label = 0 · 113 batch (3.49%)</a:t>
            </a:r>
            <a:endParaRPr lang="en-US" sz="1200" dirty="0"/>
          </a:p>
        </p:txBody>
      </p:sp>
      <p:sp>
        <p:nvSpPr>
          <p:cNvPr id="13" name="Text 11"/>
          <p:cNvSpPr/>
          <p:nvPr/>
        </p:nvSpPr>
        <p:spPr>
          <a:xfrm>
            <a:off x="7442200" y="3441340"/>
            <a:ext cx="4055110" cy="26843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D2DC"/>
                </a:solidFill>
                <a:latin typeface="Anuphan" pitchFamily="34" charset="0"/>
                <a:ea typeface="Anuphan" pitchFamily="34" charset="-122"/>
                <a:cs typeface="Anuphan" pitchFamily="34" charset="-120"/>
              </a:rPr>
              <a:t>label = 1 แต่ไม่เกินเกณฑ์ใดเลย · 13 batch (0.40%)</a:t>
            </a:r>
            <a:endParaRPr lang="en-US" sz="1200" dirty="0"/>
          </a:p>
        </p:txBody>
      </p:sp>
      <p:sp>
        <p:nvSpPr>
          <p:cNvPr id="14" name="Text 12"/>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4"/>
                </a:solidFill>
                <a:latin typeface="Anuphan" pitchFamily="34" charset="0"/>
                <a:ea typeface="Anuphan" pitchFamily="34" charset="-122"/>
                <a:cs typeface="Anuphan" pitchFamily="34" charset="-120"/>
              </a:rPr>
              <a:t>Manufacturing Defect Pipeline · KMITL</a:t>
            </a:r>
            <a:endParaRPr lang="en-US" sz="1200" dirty="0"/>
          </a:p>
        </p:txBody>
      </p:sp>
      <p:sp>
        <p:nvSpPr>
          <p:cNvPr id="15" name="Text 13"/>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6B4"/>
                </a:solidFill>
                <a:latin typeface="Anuphan" pitchFamily="34" charset="0"/>
                <a:ea typeface="Anuphan" pitchFamily="34" charset="-122"/>
                <a:cs typeface="Anuphan" pitchFamily="34" charset="-120"/>
              </a:rPr>
              <a:t>24 / 27</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Q9 (ตรวจซ้ำ) · ใช้ Machine Learning ยืนยันคำตอบ</a:t>
            </a:r>
            <a:endParaRPr lang="en-US" sz="1200" dirty="0"/>
          </a:p>
        </p:txBody>
      </p:sp>
      <p:sp>
        <p:nvSpPr>
          <p:cNvPr id="3" name="Text 1"/>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โมเดลที่ซับซ้อนกว่า ยังไม่ชนะกฎง่าย ๆ 4 ข้อ</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687660"/>
          <a:ext cx="10554855" cy="2415129"/>
        </p:xfrm>
        <a:graphic>
          <a:graphicData uri="http://schemas.openxmlformats.org/drawingml/2006/table">
            <a:tbl>
              <a:tblPr/>
              <a:tblGrid>
                <a:gridCol w="2955359"/>
                <a:gridCol w="1899874"/>
                <a:gridCol w="1794325"/>
                <a:gridCol w="1899874"/>
                <a:gridCol w="2005422"/>
              </a:tblGrid>
              <a:tr h="889830">
                <a:tc>
                  <a:txBody>
                    <a:bodyPr/>
                    <a:lstStyle/>
                    <a:p>
                      <a:pPr indent="0" marL="0">
                        <a:lnSpc>
                          <a:spcPts val="1820"/>
                        </a:lnSpc>
                        <a:buNone/>
                      </a:pPr>
                      <a:r>
                        <a:rPr lang="en-US" sz="1300" b="1" dirty="0">
                          <a:solidFill>
                            <a:srgbClr val="F6F4EF"/>
                          </a:solidFill>
                          <a:latin typeface="Anuphan" pitchFamily="34" charset="0"/>
                          <a:ea typeface="Anuphan" pitchFamily="34" charset="-122"/>
                          <a:cs typeface="Anuphan" pitchFamily="34" charset="-120"/>
                        </a:rPr>
                        <a:t>วิธี (ทดสอบกับ 648 batch ที่ไม่เคยเห็น)</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1820"/>
                        </a:lnSpc>
                        <a:buNone/>
                      </a:pPr>
                      <a:r>
                        <a:rPr lang="en-US" sz="1300" b="1" dirty="0">
                          <a:solidFill>
                            <a:srgbClr val="F6F4EF"/>
                          </a:solidFill>
                          <a:latin typeface="Anuphan" pitchFamily="34" charset="0"/>
                          <a:ea typeface="Anuphan" pitchFamily="34" charset="-122"/>
                          <a:cs typeface="Anuphan" pitchFamily="34" charset="-120"/>
                        </a:rPr>
                        <a:t>ROC-AUC (แยกเสี่ยง / ไม่เสี่ยงได้ดีแค่ไหน)</a:t>
                      </a:r>
                      <a:endParaRPr lang="en-US" sz="1300" dirty="0">
                        <a:latin typeface="Anuphan" charset="0"/>
                        <a:ea typeface="Anuphan" charset="0"/>
                        <a:cs typeface="Anuphan"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1820"/>
                        </a:lnSpc>
                        <a:buNone/>
                      </a:pPr>
                      <a:r>
                        <a:rPr lang="en-US" sz="1300" b="1" dirty="0">
                          <a:solidFill>
                            <a:srgbClr val="F6F4EF"/>
                          </a:solidFill>
                          <a:latin typeface="Anuphan" pitchFamily="34" charset="0"/>
                          <a:ea typeface="Anuphan" pitchFamily="34" charset="-122"/>
                          <a:cs typeface="Anuphan" pitchFamily="34" charset="-120"/>
                        </a:rPr>
                        <a:t>F1 (ทาย High defect ได้ทั้งแม่นและครบ)</a:t>
                      </a:r>
                      <a:endParaRPr lang="en-US" sz="1300" dirty="0">
                        <a:latin typeface="Anuphan" charset="0"/>
                        <a:ea typeface="Anuphan" charset="0"/>
                        <a:cs typeface="Anuphan"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1820"/>
                        </a:lnSpc>
                        <a:buNone/>
                      </a:pPr>
                      <a:r>
                        <a:rPr lang="en-US" sz="1300" b="1" dirty="0">
                          <a:solidFill>
                            <a:srgbClr val="F6F4EF"/>
                          </a:solidFill>
                          <a:latin typeface="Anuphan" pitchFamily="34" charset="0"/>
                          <a:ea typeface="Anuphan" pitchFamily="34" charset="-122"/>
                          <a:cs typeface="Anuphan" pitchFamily="34" charset="-120"/>
                        </a:rPr>
                        <a:t>Bal. Acc (แม่นทั้ง 2 กลุ่ม · 0.5 = เดาสุ่ม)</a:t>
                      </a:r>
                      <a:endParaRPr lang="en-US" sz="1300" dirty="0">
                        <a:latin typeface="Anuphan" charset="0"/>
                        <a:ea typeface="Anuphan" charset="0"/>
                        <a:cs typeface="Anuphan"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1820"/>
                        </a:lnSpc>
                        <a:buNone/>
                      </a:pPr>
                      <a:r>
                        <a:rPr lang="en-US" sz="1300" b="1" dirty="0">
                          <a:solidFill>
                            <a:srgbClr val="F6F4EF"/>
                          </a:solidFill>
                          <a:latin typeface="Anuphan" pitchFamily="34" charset="0"/>
                          <a:ea typeface="Anuphan" pitchFamily="34" charset="-122"/>
                          <a:cs typeface="Anuphan" pitchFamily="34" charset="-120"/>
                        </a:rPr>
                        <a:t>ทาย batch ปกติถูก (Low defect จาก 103)</a:t>
                      </a:r>
                      <a:endParaRPr lang="en-US" sz="1300" dirty="0">
                        <a:latin typeface="Anuphan" charset="0"/>
                        <a:ea typeface="Anuphan" charset="0"/>
                        <a:cs typeface="Anuphan"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กฎ 4 ข้อ (baseline)</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0.921</a:t>
                      </a:r>
                      <a:endParaRPr lang="en-US" sz="1300" dirty="0">
                        <a:latin typeface="Anuphan" charset="0"/>
                        <a:ea typeface="Anuphan" charset="0"/>
                        <a:cs typeface="Anuphan" charset="0"/>
                      </a:endParaRPr>
                    </a:p>
                  </a:txBody>
                  <a:tcPr marL="57785" marR="57785" marT="57785" marB="5778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0.983</a:t>
                      </a:r>
                      <a:endParaRPr lang="en-US" sz="1300" dirty="0">
                        <a:latin typeface="Anuphan" charset="0"/>
                        <a:ea typeface="Anuphan" charset="0"/>
                        <a:cs typeface="Anuphan" charset="0"/>
                      </a:endParaRPr>
                    </a:p>
                  </a:txBody>
                  <a:tcPr marL="57785" marR="57785" marT="57785" marB="5778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0.920</a:t>
                      </a:r>
                      <a:endParaRPr lang="en-US" sz="1300" dirty="0">
                        <a:latin typeface="Anuphan" charset="0"/>
                        <a:ea typeface="Anuphan" charset="0"/>
                        <a:cs typeface="Anuphan" charset="0"/>
                      </a:endParaRPr>
                    </a:p>
                  </a:txBody>
                  <a:tcPr marL="57785" marR="57785" marT="57785" marB="5778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87 / 103</a:t>
                      </a:r>
                      <a:endParaRPr lang="en-US" sz="1300" dirty="0">
                        <a:latin typeface="Anuphan" charset="0"/>
                        <a:ea typeface="Anuphan" charset="0"/>
                        <a:cs typeface="Anuphan" charset="0"/>
                      </a:endParaRPr>
                    </a:p>
                  </a:txBody>
                  <a:tcPr marL="57785" marR="57785" marT="57785" marB="5778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Gradient Boosting</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0.916</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0.981</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0.918</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87 / 103</a:t>
                      </a:r>
                      <a:endParaRPr lang="en-US" sz="1300" dirty="0">
                        <a:latin typeface="Anuphan" charset="0"/>
                        <a:ea typeface="Anuphan" charset="0"/>
                        <a:cs typeface="Anuphan" charset="0"/>
                      </a:endParaRPr>
                    </a:p>
                  </a:txBody>
                  <a:tcPr marL="57785" marR="57785" marT="57785" marB="57785"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Logistic Regression</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0.855</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0.820</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0.759</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82 / 103</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1325">
                <a:tc>
                  <a:txBody>
                    <a:bodyPr/>
                    <a:lstStyle/>
                    <a:p>
                      <a:pPr indent="0" marL="0">
                        <a:lnSpc>
                          <a:spcPts val="1820"/>
                        </a:lnSpc>
                        <a:buNone/>
                      </a:pPr>
                      <a:r>
                        <a:rPr lang="en-US" sz="1300" dirty="0">
                          <a:solidFill>
                            <a:srgbClr val="1B2430"/>
                          </a:solidFill>
                          <a:latin typeface="Anuphan" pitchFamily="34" charset="0"/>
                          <a:ea typeface="Anuphan" pitchFamily="34" charset="-122"/>
                          <a:cs typeface="Anuphan" pitchFamily="34" charset="-120"/>
                        </a:rPr>
                        <a:t>GB · ใช้แค่ข้อมูลก่อนผลิต (14 ตัว)</a:t>
                      </a:r>
                      <a:endParaRPr lang="en-US" sz="1300" dirty="0">
                        <a:latin typeface="Anuphan" charset="0"/>
                        <a:ea typeface="Anuphan" charset="0"/>
                        <a:cs typeface="Anuphan"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BA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AE"/>
                      </a:solidFill>
                      <a:prstDash val="solid"/>
                      <a:round/>
                      <a:headEnd type="none" w="med" len="med"/>
                      <a:tailEnd type="none" w="med" len="med"/>
                    </a:lnB>
                    <a:solidFill>
                      <a:srgbClr val="FBE9DA"/>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0.805</a:t>
                      </a:r>
                      <a:endParaRPr lang="en-US" sz="1300" dirty="0">
                        <a:latin typeface="Anuphan" charset="0"/>
                        <a:ea typeface="Anuphan" charset="0"/>
                        <a:cs typeface="Anuphan" charset="0"/>
                      </a:endParaRPr>
                    </a:p>
                  </a:txBody>
                  <a:tcPr marL="57785" marR="57785" marT="57785" marB="57785" anchor="t">
                    <a:lnL w="12700" cap="flat" cmpd="sng" algn="ctr">
                      <a:solidFill>
                        <a:srgbClr val="C8BAAE"/>
                      </a:solidFill>
                      <a:prstDash val="solid"/>
                      <a:round/>
                      <a:headEnd type="none" w="med" len="med"/>
                      <a:tailEnd type="none" w="med" len="med"/>
                    </a:lnL>
                    <a:lnR w="12700" cap="flat" cmpd="sng" algn="ctr">
                      <a:solidFill>
                        <a:srgbClr val="C8BA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AE"/>
                      </a:solidFill>
                      <a:prstDash val="solid"/>
                      <a:round/>
                      <a:headEnd type="none" w="med" len="med"/>
                      <a:tailEnd type="none" w="med" len="med"/>
                    </a:lnB>
                    <a:solidFill>
                      <a:srgbClr val="FBE9DA"/>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0.910</a:t>
                      </a:r>
                      <a:endParaRPr lang="en-US" sz="1300" dirty="0">
                        <a:latin typeface="Anuphan" charset="0"/>
                        <a:ea typeface="Anuphan" charset="0"/>
                        <a:cs typeface="Anuphan" charset="0"/>
                      </a:endParaRPr>
                    </a:p>
                  </a:txBody>
                  <a:tcPr marL="57785" marR="57785" marT="57785" marB="57785" anchor="t">
                    <a:lnL w="12700" cap="flat" cmpd="sng" algn="ctr">
                      <a:solidFill>
                        <a:srgbClr val="C8BAAE"/>
                      </a:solidFill>
                      <a:prstDash val="solid"/>
                      <a:round/>
                      <a:headEnd type="none" w="med" len="med"/>
                      <a:tailEnd type="none" w="med" len="med"/>
                    </a:lnL>
                    <a:lnR w="12700" cap="flat" cmpd="sng" algn="ctr">
                      <a:solidFill>
                        <a:srgbClr val="C8BA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AE"/>
                      </a:solidFill>
                      <a:prstDash val="solid"/>
                      <a:round/>
                      <a:headEnd type="none" w="med" len="med"/>
                      <a:tailEnd type="none" w="med" len="med"/>
                    </a:lnB>
                    <a:solidFill>
                      <a:srgbClr val="FBE9DA"/>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0.529</a:t>
                      </a:r>
                      <a:endParaRPr lang="en-US" sz="1300" dirty="0">
                        <a:latin typeface="Anuphan" charset="0"/>
                        <a:ea typeface="Anuphan" charset="0"/>
                        <a:cs typeface="Anuphan" charset="0"/>
                      </a:endParaRPr>
                    </a:p>
                  </a:txBody>
                  <a:tcPr marL="57785" marR="57785" marT="57785" marB="57785" anchor="t">
                    <a:lnL w="12700" cap="flat" cmpd="sng" algn="ctr">
                      <a:solidFill>
                        <a:srgbClr val="C8BAAE"/>
                      </a:solidFill>
                      <a:prstDash val="solid"/>
                      <a:round/>
                      <a:headEnd type="none" w="med" len="med"/>
                      <a:tailEnd type="none" w="med" len="med"/>
                    </a:lnL>
                    <a:lnR w="12700" cap="flat" cmpd="sng" algn="ctr">
                      <a:solidFill>
                        <a:srgbClr val="C8BA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AE"/>
                      </a:solidFill>
                      <a:prstDash val="solid"/>
                      <a:round/>
                      <a:headEnd type="none" w="med" len="med"/>
                      <a:tailEnd type="none" w="med" len="med"/>
                    </a:lnB>
                    <a:solidFill>
                      <a:srgbClr val="FBE9DA"/>
                    </a:solidFill>
                  </a:tcPr>
                </a:tc>
                <a:tc>
                  <a:txBody>
                    <a:bodyPr/>
                    <a:lstStyle/>
                    <a:p>
                      <a:pPr algn="r" indent="0" marL="0">
                        <a:lnSpc>
                          <a:spcPts val="1820"/>
                        </a:lnSpc>
                        <a:buNone/>
                      </a:pPr>
                      <a:r>
                        <a:rPr lang="en-US" sz="1300" dirty="0">
                          <a:solidFill>
                            <a:srgbClr val="1B2430"/>
                          </a:solidFill>
                          <a:latin typeface="Anuphan" pitchFamily="34" charset="0"/>
                          <a:ea typeface="Anuphan" pitchFamily="34" charset="-122"/>
                          <a:cs typeface="Anuphan" pitchFamily="34" charset="-120"/>
                        </a:rPr>
                        <a:t>8 / 103</a:t>
                      </a:r>
                      <a:endParaRPr lang="en-US" sz="1300" dirty="0">
                        <a:latin typeface="Anuphan" charset="0"/>
                        <a:ea typeface="Anuphan" charset="0"/>
                        <a:cs typeface="Anuphan" charset="0"/>
                      </a:endParaRPr>
                    </a:p>
                  </a:txBody>
                  <a:tcPr marL="57785" marR="57785" marT="57785" marB="57785" anchor="t">
                    <a:lnL w="12700" cap="flat" cmpd="sng" algn="ctr">
                      <a:solidFill>
                        <a:srgbClr val="C8BAAE"/>
                      </a:solidFill>
                      <a:prstDash val="solid"/>
                      <a:round/>
                      <a:headEnd type="none" w="med" len="med"/>
                      <a:tailEnd type="none" w="med" len="med"/>
                    </a:lnL>
                    <a:lnR w="12700" cap="flat" cmpd="sng" algn="ctr">
                      <a:solidFill>
                        <a:srgbClr val="C8BA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AE"/>
                      </a:solidFill>
                      <a:prstDash val="solid"/>
                      <a:round/>
                      <a:headEnd type="none" w="med" len="med"/>
                      <a:tailEnd type="none" w="med" len="med"/>
                    </a:lnB>
                    <a:solidFill>
                      <a:srgbClr val="FBE9DA"/>
                    </a:solidFill>
                  </a:tcPr>
                </a:tc>
              </a:tr>
            </a:tbl>
          </a:graphicData>
        </a:graphic>
      </p:graphicFrame>
      <p:sp>
        <p:nvSpPr>
          <p:cNvPr id="5" name="Text 2"/>
          <p:cNvSpPr/>
          <p:nvPr/>
        </p:nvSpPr>
        <p:spPr>
          <a:xfrm>
            <a:off x="812800" y="4293295"/>
            <a:ext cx="10883392" cy="26843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966"/>
                </a:solidFill>
                <a:latin typeface="Anuphan" pitchFamily="34" charset="0"/>
                <a:ea typeface="Anuphan" pitchFamily="34" charset="-122"/>
                <a:cs typeface="Anuphan" pitchFamily="34" charset="-120"/>
              </a:rPr>
              <a:t>ทุกคะแนนเต็ม 1 ยิ่งใกล้ 1 ยิ่งดี · F1 ดูสูงทุกแถวเพราะ 84% ของ batch เป็น High defect อยู่แล้ว จึงดูคอลัมน์ขวาสุดประกอบ</a:t>
            </a:r>
            <a:endParaRPr lang="en-US" sz="1200" dirty="0"/>
          </a:p>
        </p:txBody>
      </p:sp>
      <p:sp>
        <p:nvSpPr>
          <p:cNvPr id="6" name="Text 3"/>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7" name="Text 4"/>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25 / 27</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6006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E0A"/>
                </a:solidFill>
                <a:latin typeface="Anuphan" pitchFamily="34" charset="0"/>
                <a:ea typeface="Anuphan" pitchFamily="34" charset="-122"/>
                <a:cs typeface="Anuphan" pitchFamily="34" charset="-120"/>
              </a:rPr>
              <a:t>04 · แผนปฏิบัติ</a:t>
            </a:r>
            <a:endParaRPr lang="en-US" sz="1200" dirty="0"/>
          </a:p>
        </p:txBody>
      </p:sp>
      <p:sp>
        <p:nvSpPr>
          <p:cNvPr id="3" name="Text 1"/>
          <p:cNvSpPr/>
          <p:nvPr>
            <p:ph type="title"/>
          </p:nvPr>
        </p:nvSpPr>
        <p:spPr>
          <a:xfrm>
            <a:off x="812800" y="996665"/>
            <a:ext cx="10883392" cy="51435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1B2430"/>
                </a:solidFill>
                <a:latin typeface="Prompt" pitchFamily="34" charset="0"/>
                <a:ea typeface="Prompt" pitchFamily="34" charset="-122"/>
                <a:cs typeface="Prompt" pitchFamily="34" charset="-120"/>
              </a:rPr>
              <a:t>ข้อเสนอ: 2 ด่านคุมคุณภาพ + 3 การตัดสินใจเชิงบริหาร</a:t>
            </a:r>
            <a:endParaRPr lang="en-US" sz="2800" dirty="0"/>
          </a:p>
        </p:txBody>
      </p:sp>
      <p:sp>
        <p:nvSpPr>
          <p:cNvPr id="4" name="Shape 2"/>
          <p:cNvSpPr/>
          <p:nvPr/>
        </p:nvSpPr>
        <p:spPr>
          <a:xfrm>
            <a:off x="815975" y="1717390"/>
            <a:ext cx="3414171" cy="2848516"/>
          </a:xfrm>
          <a:prstGeom prst="roundRect">
            <a:avLst>
              <a:gd name="adj" fmla="val 2564"/>
            </a:avLst>
          </a:prstGeom>
          <a:solidFill>
            <a:srgbClr val="FDFCFA"/>
          </a:solidFill>
          <a:ln w="6350">
            <a:solidFill>
              <a:srgbClr val="DDD8CE"/>
            </a:solidFill>
            <a:prstDash val="solid"/>
          </a:ln>
        </p:spPr>
      </p:sp>
      <p:sp>
        <p:nvSpPr>
          <p:cNvPr id="5" name="Text 3"/>
          <p:cNvSpPr/>
          <p:nvPr/>
        </p:nvSpPr>
        <p:spPr>
          <a:xfrm>
            <a:off x="1007918" y="1909341"/>
            <a:ext cx="3121194" cy="31594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563A8"/>
                </a:solidFill>
                <a:latin typeface="Prompt" pitchFamily="34" charset="0"/>
                <a:ea typeface="Prompt" pitchFamily="34" charset="-122"/>
                <a:cs typeface="Prompt" pitchFamily="34" charset="-120"/>
              </a:rPr>
              <a:t>ด่าน 1 · ก่อนผลิต</a:t>
            </a:r>
            <a:endParaRPr lang="en-US" sz="1600" dirty="0"/>
          </a:p>
        </p:txBody>
      </p:sp>
      <p:sp>
        <p:nvSpPr>
          <p:cNvPr id="6" name="Text 4"/>
          <p:cNvSpPr/>
          <p:nvPr/>
        </p:nvSpPr>
        <p:spPr>
          <a:xfrm>
            <a:off x="1007918" y="2301478"/>
            <a:ext cx="3121194"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Risk score จาก 2 Controllable factor</a:t>
            </a:r>
            <a:endParaRPr lang="en-US" sz="1200" dirty="0"/>
          </a:p>
        </p:txBody>
      </p:sp>
      <p:sp>
        <p:nvSpPr>
          <p:cNvPr id="7" name="Text 5"/>
          <p:cNvSpPr/>
          <p:nvPr/>
        </p:nvSpPr>
        <p:spPr>
          <a:xfrm>
            <a:off x="1007918" y="2637743"/>
            <a:ext cx="3121194" cy="84271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เครื่องซ่อม &gt; 10 ชม./สัปดาห์</a:t>
            </a:r>
            <a:r>
              <a:rPr lang="en-US" sz="1300" dirty="0">
                <a:solidFill>
                  <a:srgbClr val="1B2430"/>
                </a:solidFill>
                <a:latin typeface="Anuphan" pitchFamily="34" charset="0"/>
                <a:ea typeface="Anuphan" pitchFamily="34" charset="-122"/>
                <a:cs typeface="Anuphan" pitchFamily="34" charset="-120"/>
              </a:rPr>
              <a:t> → predictive maintenance / overhaul ก่อน</a:t>
            </a:r>
            <a:endParaRPr lang="en-US" sz="1300" dirty="0"/>
          </a:p>
        </p:txBody>
      </p:sp>
      <p:sp>
        <p:nvSpPr>
          <p:cNvPr id="8" name="Text 6"/>
          <p:cNvSpPr/>
          <p:nvPr/>
        </p:nvSpPr>
        <p:spPr>
          <a:xfrm>
            <a:off x="1007918" y="3556657"/>
            <a:ext cx="3121194" cy="84271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batch &gt; 800 หน่วย</a:t>
            </a:r>
            <a:r>
              <a:rPr lang="en-US" sz="1300" dirty="0">
                <a:solidFill>
                  <a:srgbClr val="1B2430"/>
                </a:solidFill>
                <a:latin typeface="Anuphan" pitchFamily="34" charset="0"/>
                <a:ea typeface="Anuphan" pitchFamily="34" charset="-122"/>
                <a:cs typeface="Anuphan" pitchFamily="34" charset="-120"/>
              </a:rPr>
              <a:t> → เพิ่ม QC sampling ไม่ต้องลดขนาด (ต้นทุน/หน่วยถูกสุด $13.82)</a:t>
            </a:r>
            <a:endParaRPr lang="en-US" sz="1300" dirty="0"/>
          </a:p>
        </p:txBody>
      </p:sp>
      <p:sp>
        <p:nvSpPr>
          <p:cNvPr id="9" name="Shape 7"/>
          <p:cNvSpPr/>
          <p:nvPr/>
        </p:nvSpPr>
        <p:spPr>
          <a:xfrm>
            <a:off x="4388896" y="1717390"/>
            <a:ext cx="3414171" cy="2848516"/>
          </a:xfrm>
          <a:prstGeom prst="roundRect">
            <a:avLst>
              <a:gd name="adj" fmla="val 2564"/>
            </a:avLst>
          </a:prstGeom>
          <a:solidFill>
            <a:srgbClr val="FDFCFA"/>
          </a:solidFill>
          <a:ln w="6350">
            <a:solidFill>
              <a:srgbClr val="DDD8CE"/>
            </a:solidFill>
            <a:prstDash val="solid"/>
          </a:ln>
        </p:spPr>
      </p:sp>
      <p:sp>
        <p:nvSpPr>
          <p:cNvPr id="10" name="Text 8"/>
          <p:cNvSpPr/>
          <p:nvPr/>
        </p:nvSpPr>
        <p:spPr>
          <a:xfrm>
            <a:off x="4580840" y="1909341"/>
            <a:ext cx="3121194" cy="31594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B04E0A"/>
                </a:solidFill>
                <a:latin typeface="Prompt" pitchFamily="34" charset="0"/>
                <a:ea typeface="Prompt" pitchFamily="34" charset="-122"/>
                <a:cs typeface="Prompt" pitchFamily="34" charset="-120"/>
              </a:rPr>
              <a:t>ด่าน 2 · หลังผลิต</a:t>
            </a:r>
            <a:endParaRPr lang="en-US" sz="1600" dirty="0"/>
          </a:p>
        </p:txBody>
      </p:sp>
      <p:sp>
        <p:nvSpPr>
          <p:cNvPr id="11" name="Text 9"/>
          <p:cNvSpPr/>
          <p:nvPr/>
        </p:nvSpPr>
        <p:spPr>
          <a:xfrm>
            <a:off x="4580840" y="2301478"/>
            <a:ext cx="3121194"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QC alert จากตัววัดผล</a:t>
            </a:r>
            <a:endParaRPr lang="en-US" sz="1200" dirty="0"/>
          </a:p>
        </p:txBody>
      </p:sp>
      <p:sp>
        <p:nvSpPr>
          <p:cNvPr id="12" name="Text 10"/>
          <p:cNvSpPr/>
          <p:nvPr/>
        </p:nvSpPr>
        <p:spPr>
          <a:xfrm>
            <a:off x="4580840" y="2637743"/>
            <a:ext cx="3121194" cy="297837"/>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SPC alert</a:t>
            </a:r>
            <a:r>
              <a:rPr lang="en-US" sz="1300" dirty="0">
                <a:solidFill>
                  <a:srgbClr val="1B2430"/>
                </a:solidFill>
                <a:latin typeface="Anuphan" pitchFamily="34" charset="0"/>
                <a:ea typeface="Anuphan" pitchFamily="34" charset="-122"/>
                <a:cs typeface="Anuphan" pitchFamily="34" charset="-120"/>
              </a:rPr>
              <a:t> เมื่ออัตราของเสีย &gt; 3.0</a:t>
            </a:r>
            <a:endParaRPr lang="en-US" sz="1300" dirty="0"/>
          </a:p>
        </p:txBody>
      </p:sp>
      <p:sp>
        <p:nvSpPr>
          <p:cNvPr id="13" name="Text 11"/>
          <p:cNvSpPr/>
          <p:nvPr/>
        </p:nvSpPr>
        <p:spPr>
          <a:xfrm>
            <a:off x="4580840" y="3011785"/>
            <a:ext cx="3121194" cy="297837"/>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0"/>
                </a:solidFill>
                <a:latin typeface="Anuphan" pitchFamily="34" charset="0"/>
                <a:ea typeface="Anuphan" pitchFamily="34" charset="-122"/>
                <a:cs typeface="Anuphan" pitchFamily="34" charset="-120"/>
              </a:rPr>
              <a:t>QC gate</a:t>
            </a:r>
            <a:r>
              <a:rPr lang="en-US" sz="1300" dirty="0">
                <a:solidFill>
                  <a:srgbClr val="1B2430"/>
                </a:solidFill>
                <a:latin typeface="Anuphan" pitchFamily="34" charset="0"/>
                <a:ea typeface="Anuphan" pitchFamily="34" charset="-122"/>
                <a:cs typeface="Anuphan" pitchFamily="34" charset="-120"/>
              </a:rPr>
              <a:t> ที่คะแนนคุณภาพ &lt; 75</a:t>
            </a:r>
            <a:endParaRPr lang="en-US" sz="1300" dirty="0"/>
          </a:p>
        </p:txBody>
      </p:sp>
      <p:sp>
        <p:nvSpPr>
          <p:cNvPr id="14" name="Text 12"/>
          <p:cNvSpPr/>
          <p:nvPr/>
        </p:nvSpPr>
        <p:spPr>
          <a:xfrm>
            <a:off x="4580840" y="3385815"/>
            <a:ext cx="3121194" cy="57027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430"/>
                </a:solidFill>
                <a:latin typeface="Anuphan" pitchFamily="34" charset="0"/>
                <a:ea typeface="Anuphan" pitchFamily="34" charset="-122"/>
                <a:cs typeface="Anuphan" pitchFamily="34" charset="-120"/>
              </a:rPr>
              <a:t>ผ่านทั้ง 2 ด่าน = Operating window (3.12%)</a:t>
            </a:r>
            <a:endParaRPr lang="en-US" sz="1300" dirty="0"/>
          </a:p>
        </p:txBody>
      </p:sp>
      <p:sp>
        <p:nvSpPr>
          <p:cNvPr id="15" name="Shape 13"/>
          <p:cNvSpPr/>
          <p:nvPr/>
        </p:nvSpPr>
        <p:spPr>
          <a:xfrm>
            <a:off x="7958643" y="1714215"/>
            <a:ext cx="3420557" cy="2854866"/>
          </a:xfrm>
          <a:prstGeom prst="roundRect">
            <a:avLst>
              <a:gd name="adj" fmla="val 2669"/>
            </a:avLst>
          </a:prstGeom>
          <a:solidFill>
            <a:srgbClr val="1B2430"/>
          </a:solidFill>
          <a:ln/>
        </p:spPr>
      </p:sp>
      <p:sp>
        <p:nvSpPr>
          <p:cNvPr id="16" name="Text 14"/>
          <p:cNvSpPr/>
          <p:nvPr/>
        </p:nvSpPr>
        <p:spPr>
          <a:xfrm>
            <a:off x="8149143" y="1904715"/>
            <a:ext cx="3130744" cy="31594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2A65A"/>
                </a:solidFill>
                <a:latin typeface="Prompt" pitchFamily="34" charset="0"/>
                <a:ea typeface="Prompt" pitchFamily="34" charset="-122"/>
                <a:cs typeface="Prompt" pitchFamily="34" charset="-120"/>
              </a:rPr>
              <a:t>ระดับบริหาร</a:t>
            </a:r>
            <a:endParaRPr lang="en-US" sz="1600" dirty="0"/>
          </a:p>
        </p:txBody>
      </p:sp>
      <p:sp>
        <p:nvSpPr>
          <p:cNvPr id="17" name="Text 15"/>
          <p:cNvSpPr/>
          <p:nvPr/>
        </p:nvSpPr>
        <p:spPr>
          <a:xfrm>
            <a:off x="8149143" y="2296864"/>
            <a:ext cx="3130744"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4"/>
                </a:solidFill>
                <a:latin typeface="Anuphan" pitchFamily="34" charset="0"/>
                <a:ea typeface="Anuphan" pitchFamily="34" charset="-122"/>
                <a:cs typeface="Anuphan" pitchFamily="34" charset="-120"/>
              </a:rPr>
              <a:t>การตัดสินใจเชิงนโยบาย</a:t>
            </a:r>
            <a:endParaRPr lang="en-US" sz="1200" dirty="0"/>
          </a:p>
        </p:txBody>
      </p:sp>
      <p:sp>
        <p:nvSpPr>
          <p:cNvPr id="18" name="Text 16"/>
          <p:cNvSpPr/>
          <p:nvPr/>
        </p:nvSpPr>
        <p:spPr>
          <a:xfrm>
            <a:off x="8149143" y="2633129"/>
            <a:ext cx="3130744" cy="57027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6F4EF"/>
                </a:solidFill>
                <a:latin typeface="Anuphan" pitchFamily="34" charset="0"/>
                <a:ea typeface="Anuphan" pitchFamily="34" charset="-122"/>
                <a:cs typeface="Anuphan" pitchFamily="34" charset="-120"/>
              </a:rPr>
              <a:t>ตั้ง </a:t>
            </a:r>
            <a:r>
              <a:rPr lang="en-US" sz="1300" b="1" dirty="0">
                <a:solidFill>
                  <a:srgbClr val="F6F4EF"/>
                </a:solidFill>
                <a:latin typeface="Anuphan" pitchFamily="34" charset="0"/>
                <a:ea typeface="Anuphan" pitchFamily="34" charset="-122"/>
                <a:cs typeface="Anuphan" pitchFamily="34" charset="-120"/>
              </a:rPr>
              <a:t>high-defect %</a:t>
            </a:r>
            <a:r>
              <a:rPr lang="en-US" sz="1300" dirty="0">
                <a:solidFill>
                  <a:srgbClr val="F6F4EF"/>
                </a:solidFill>
                <a:latin typeface="Anuphan" pitchFamily="34" charset="0"/>
                <a:ea typeface="Anuphan" pitchFamily="34" charset="-122"/>
                <a:cs typeface="Anuphan" pitchFamily="34" charset="-120"/>
              </a:rPr>
              <a:t> เป็น KPI หลัก (ปัจจุบัน 84%)</a:t>
            </a:r>
            <a:endParaRPr lang="en-US" sz="1300" dirty="0"/>
          </a:p>
        </p:txBody>
      </p:sp>
      <p:sp>
        <p:nvSpPr>
          <p:cNvPr id="19" name="Text 17"/>
          <p:cNvSpPr/>
          <p:nvPr/>
        </p:nvSpPr>
        <p:spPr>
          <a:xfrm>
            <a:off x="8149143" y="3279601"/>
            <a:ext cx="3130744" cy="2978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6F4EF"/>
                </a:solidFill>
                <a:latin typeface="Anuphan" pitchFamily="34" charset="0"/>
                <a:ea typeface="Anuphan" pitchFamily="34" charset="-122"/>
                <a:cs typeface="Anuphan" pitchFamily="34" charset="-120"/>
              </a:rPr>
              <a:t>ทบทวนงบ 6 ปัจจัยที่ผลน้อย</a:t>
            </a:r>
            <a:endParaRPr lang="en-US" sz="1300" dirty="0"/>
          </a:p>
        </p:txBody>
      </p:sp>
      <p:sp>
        <p:nvSpPr>
          <p:cNvPr id="20" name="Text 18"/>
          <p:cNvSpPr/>
          <p:nvPr/>
        </p:nvSpPr>
        <p:spPr>
          <a:xfrm>
            <a:off x="812800" y="4797685"/>
            <a:ext cx="10883392" cy="2978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F5966"/>
                </a:solidFill>
                <a:latin typeface="Anuphan" pitchFamily="34" charset="0"/>
                <a:ea typeface="Anuphan" pitchFamily="34" charset="-122"/>
                <a:cs typeface="Anuphan" pitchFamily="34" charset="-120"/>
              </a:rPr>
              <a:t>ทุกด่านทำงานบนระบบเดิมได้ทันที: SQL Alert และ Dashboard ที่สร้างไว้ คำนวณใหม่อัตโนมัติทุกครั้งที่มี batch ใหม่</a:t>
            </a:r>
            <a:endParaRPr lang="en-US" sz="1300" dirty="0"/>
          </a:p>
        </p:txBody>
      </p:sp>
      <p:sp>
        <p:nvSpPr>
          <p:cNvPr id="21" name="Text 19"/>
          <p:cNvSpPr/>
          <p:nvPr/>
        </p:nvSpPr>
        <p:spPr>
          <a:xfrm>
            <a:off x="812800" y="6216948"/>
            <a:ext cx="6540500" cy="2600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nuphan" pitchFamily="34" charset="0"/>
                <a:ea typeface="Anuphan" pitchFamily="34" charset="-122"/>
                <a:cs typeface="Anuphan" pitchFamily="34" charset="-120"/>
              </a:rPr>
              <a:t>Manufacturing Defect Pipeline · KMITL</a:t>
            </a:r>
            <a:endParaRPr lang="en-US" sz="1200" dirty="0"/>
          </a:p>
        </p:txBody>
      </p:sp>
      <p:sp>
        <p:nvSpPr>
          <p:cNvPr id="22" name="Text 20"/>
          <p:cNvSpPr/>
          <p:nvPr/>
        </p:nvSpPr>
        <p:spPr>
          <a:xfrm>
            <a:off x="10058400" y="6216948"/>
            <a:ext cx="1320800" cy="2600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nuphan" pitchFamily="34" charset="0"/>
                <a:ea typeface="Anuphan" pitchFamily="34" charset="-122"/>
                <a:cs typeface="Anuphan" pitchFamily="34" charset="-120"/>
              </a:rPr>
              <a:t>26 / 27</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A1F"/>
          </a:solidFill>
          <a:ln/>
        </p:spPr>
      </p:sp>
      <p:sp>
        <p:nvSpPr>
          <p:cNvPr id="3" name="Text 1"/>
          <p:cNvSpPr/>
          <p:nvPr/>
        </p:nvSpPr>
        <p:spPr>
          <a:xfrm>
            <a:off x="812800" y="812800"/>
            <a:ext cx="10883392" cy="299208"/>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F2A65A"/>
                </a:solidFill>
                <a:latin typeface="Anuphan" pitchFamily="34" charset="0"/>
                <a:ea typeface="Anuphan" pitchFamily="34" charset="-122"/>
                <a:cs typeface="Anuphan" pitchFamily="34" charset="-120"/>
              </a:rPr>
              <a:t>สรุปในประโยคเดียว</a:t>
            </a:r>
            <a:endParaRPr lang="en-US" sz="1400" dirty="0"/>
          </a:p>
        </p:txBody>
      </p:sp>
      <p:sp>
        <p:nvSpPr>
          <p:cNvPr id="4" name="Text 2"/>
          <p:cNvSpPr/>
          <p:nvPr/>
        </p:nvSpPr>
        <p:spPr>
          <a:xfrm>
            <a:off x="812800" y="2308622"/>
            <a:ext cx="10883392" cy="1722690"/>
          </a:xfrm>
          <a:prstGeom prst="rect">
            <a:avLst/>
          </a:prstGeom>
          <a:noFill/>
          <a:ln/>
        </p:spPr>
        <p:txBody>
          <a:bodyPr wrap="square" lIns="0" tIns="0" rIns="0" bIns="0" rtlCol="0" anchor="t">
            <a:normAutofit/>
          </a:bodyPr>
          <a:lstStyle/>
          <a:p>
            <a:pPr algn="l" indent="0" marL="0">
              <a:lnSpc>
                <a:spcPts val="4050"/>
              </a:lnSpc>
              <a:buNone/>
            </a:pPr>
            <a:r>
              <a:rPr lang="en-US" sz="3000" dirty="0">
                <a:solidFill>
                  <a:srgbClr val="F6F4EF"/>
                </a:solidFill>
                <a:latin typeface="Prompt" pitchFamily="34" charset="0"/>
                <a:ea typeface="Prompt" pitchFamily="34" charset="-122"/>
                <a:cs typeface="Prompt" pitchFamily="34" charset="-120"/>
              </a:rPr>
              <a:t>ข้อมูลที่เคยกองรวมกัน ตอนนี้ไหลเข้าระบบที่</a:t>
            </a:r>
            <a:r>
              <a:rPr lang="en-US" sz="3000" dirty="0">
                <a:solidFill>
                  <a:srgbClr val="F2A65A"/>
                </a:solidFill>
                <a:latin typeface="Prompt" pitchFamily="34" charset="0"/>
                <a:ea typeface="Prompt" pitchFamily="34" charset="-122"/>
                <a:cs typeface="Prompt" pitchFamily="34" charset="-120"/>
              </a:rPr>
              <a:t>สะอาด ตรวจสอบได้ และอัปเดตเอง</a:t>
            </a:r>
            <a:r>
              <a:rPr lang="en-US" sz="3000" dirty="0">
                <a:solidFill>
                  <a:srgbClr val="F6F4EF"/>
                </a:solidFill>
                <a:latin typeface="Prompt" pitchFamily="34" charset="0"/>
                <a:ea typeface="Prompt" pitchFamily="34" charset="-122"/>
                <a:cs typeface="Prompt" pitchFamily="34" charset="-120"/>
              </a:rPr>
              <a:t> — และชี้ว่า Controllable factorที่คุ้มที่สุดคือ </a:t>
            </a:r>
            <a:r>
              <a:rPr lang="en-US" sz="3000" dirty="0">
                <a:solidFill>
                  <a:srgbClr val="F2A65A"/>
                </a:solidFill>
                <a:latin typeface="Prompt" pitchFamily="34" charset="0"/>
                <a:ea typeface="Prompt" pitchFamily="34" charset="-122"/>
                <a:cs typeface="Prompt" pitchFamily="34" charset="-120"/>
              </a:rPr>
              <a:t>เครื่องที่ซ่อมบ่อย</a:t>
            </a:r>
            <a:r>
              <a:rPr lang="en-US" sz="3000" dirty="0">
                <a:solidFill>
                  <a:srgbClr val="F6F4EF"/>
                </a:solidFill>
                <a:latin typeface="Prompt" pitchFamily="34" charset="0"/>
                <a:ea typeface="Prompt" pitchFamily="34" charset="-122"/>
                <a:cs typeface="Prompt" pitchFamily="34" charset="-120"/>
              </a:rPr>
              <a:t> กับ </a:t>
            </a:r>
            <a:r>
              <a:rPr lang="en-US" sz="3000" dirty="0">
                <a:solidFill>
                  <a:srgbClr val="F2A65A"/>
                </a:solidFill>
                <a:latin typeface="Prompt" pitchFamily="34" charset="0"/>
                <a:ea typeface="Prompt" pitchFamily="34" charset="-122"/>
                <a:cs typeface="Prompt" pitchFamily="34" charset="-120"/>
              </a:rPr>
              <a:t>batch ขนาดใหญ่</a:t>
            </a:r>
            <a:endParaRPr lang="en-US" sz="3000" dirty="0"/>
          </a:p>
        </p:txBody>
      </p:sp>
      <p:sp>
        <p:nvSpPr>
          <p:cNvPr id="5" name="Text 3"/>
          <p:cNvSpPr/>
          <p:nvPr>
            <p:ph type="title"/>
          </p:nvPr>
        </p:nvSpPr>
        <p:spPr>
          <a:xfrm>
            <a:off x="812800" y="5369074"/>
            <a:ext cx="6343520" cy="701531"/>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6F4EF"/>
                </a:solidFill>
                <a:latin typeface="Prompt" pitchFamily="34" charset="0"/>
                <a:ea typeface="Prompt" pitchFamily="34" charset="-122"/>
                <a:cs typeface="Prompt" pitchFamily="34" charset="-120"/>
              </a:rPr>
              <a:t>ขอบคุณครับ · Q&amp;A</a:t>
            </a:r>
            <a:endParaRPr lang="en-US" sz="4400" dirty="0"/>
          </a:p>
        </p:txBody>
      </p:sp>
      <p:sp>
        <p:nvSpPr>
          <p:cNvPr id="6" name="Text 4"/>
          <p:cNvSpPr/>
          <p:nvPr/>
        </p:nvSpPr>
        <p:spPr>
          <a:xfrm>
            <a:off x="9469151" y="5227898"/>
            <a:ext cx="1910049" cy="84271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C9D2DC"/>
                </a:solidFill>
                <a:latin typeface="Anuphan" pitchFamily="34" charset="0"/>
                <a:ea typeface="Anuphan" pitchFamily="34" charset="-122"/>
                <a:cs typeface="Anuphan" pitchFamily="34" charset="-120"/>
              </a:rPr>
              <a:t>ชมพูนุช สุนทรพจน์</a:t>
            </a:r>
            <a:endParaRPr lang="en-US" sz="1300" dirty="0"/>
          </a:p>
          <a:p>
            <a:pPr algn="r" indent="0" marL="0">
              <a:lnSpc>
                <a:spcPts val="1950"/>
              </a:lnSpc>
              <a:buNone/>
            </a:pPr>
            <a:r>
              <a:rPr lang="en-US" sz="1300" dirty="0">
                <a:solidFill>
                  <a:srgbClr val="C9D2DC"/>
                </a:solidFill>
                <a:latin typeface="Anuphan" pitchFamily="34" charset="0"/>
                <a:ea typeface="Anuphan" pitchFamily="34" charset="-122"/>
                <a:cs typeface="Anuphan" pitchFamily="34" charset="-120"/>
              </a:rPr>
              <a:t>ชัยชนะ เพียรประเสริฐ</a:t>
            </a:r>
            <a:endParaRPr lang="en-US" sz="1300" dirty="0"/>
          </a:p>
          <a:p>
            <a:pPr algn="r" indent="0" marL="0">
              <a:lnSpc>
                <a:spcPts val="1950"/>
              </a:lnSpc>
              <a:buNone/>
            </a:pPr>
            <a:r>
              <a:rPr lang="en-US" sz="1300" dirty="0">
                <a:solidFill>
                  <a:srgbClr val="C9D2DC"/>
                </a:solidFill>
                <a:latin typeface="Anuphan" pitchFamily="34" charset="0"/>
                <a:ea typeface="Anuphan" pitchFamily="34" charset="-122"/>
                <a:cs typeface="Anuphan" pitchFamily="34" charset="-120"/>
              </a:rPr>
              <a:t>วิรัลพัชระ วรรธนะคุณาสิน</a:t>
            </a:r>
            <a:endParaRPr lang="en-US" sz="1300" dirty="0"/>
          </a:p>
        </p:txBody>
      </p:sp>
    </p:spTree>
  </p:cSld>
  <p:clrMapOvr>
    <a:masterClrMapping/>
  </p:clrMapOvr>
</p:sld>
</file>

<file path=ppt/theme/theme1.xml><?xml version="1.0" encoding="utf-8"?>
<a:theme xmlns:a="http://schemas.openxmlformats.org/drawingml/2006/main" name="Manufacturing Defect Pipeline — สรุปโครงงาน">
  <a:themeElements>
    <a:clrScheme name="Manufacturing Defect Pipeline — สรุปโครงงาน">
      <a:dk1>
        <a:srgbClr val="1B2430"/>
      </a:dk1>
      <a:lt1>
        <a:srgbClr val="F6F4EF"/>
      </a:lt1>
      <a:dk2>
        <a:srgbClr val="525860"/>
      </a:dk2>
      <a:lt2>
        <a:srgbClr val="E0DFDC"/>
      </a:lt2>
      <a:accent1>
        <a:srgbClr val="2563A8"/>
      </a:accent1>
      <a:accent2>
        <a:srgbClr val="E07A1F"/>
      </a:accent2>
      <a:accent3>
        <a:srgbClr val="B04E0A"/>
      </a:accent3>
      <a:accent4>
        <a:srgbClr val="8FB3DA"/>
      </a:accent4>
      <a:accent5>
        <a:srgbClr val="F2A65A"/>
      </a:accent5>
      <a:accent6>
        <a:srgbClr val="F3E7C2"/>
      </a:accent6>
      <a:hlink>
        <a:srgbClr val="0563C1"/>
      </a:hlink>
      <a:folHlink>
        <a:srgbClr val="954F72"/>
      </a:folHlink>
    </a:clrScheme>
    <a:fontScheme name="Manufacturing Defect Pipeline — สรุปโครงงาน">
      <a:majorFont>
        <a:latin typeface="Promp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nuph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Defect Pipeline — สรุปโครงงาน</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Anuphan
Copyright 2019 The Anuphan Project Authors (https://github.com/cadsondemak/Anuphan)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Prompt
Copyright (c) 2015, Cadson Demak (info@cadsondemak.com)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2026-10-29T13:48:57Z</dcterms:created>
  <dcterms:modified xsi:type="dcterms:W3CDTF">2026-10-29T13:48:57Z</dcterms:modified>
</cp:coreProperties>
</file>